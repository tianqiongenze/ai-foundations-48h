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80" r:id="rId31"/>
    <p:sldId id="281" r:id="rId32"/>
    <p:sldId id="279" r:id="rId30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0.xml"/><Relationship Id="rId31" Type="http://schemas.openxmlformats.org/officeDocument/2006/relationships/slide" Target="slides/slide18.xml"/><Relationship Id="rId32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1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W18 · 第19次课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RAG知识库问答（上）：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038517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3851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M4-2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15757" y="3931920"/>
            <a:ext cx="2611417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5757" y="3931920"/>
            <a:ext cx="261141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RAG知识库问答（上）：基础实现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值班助手1.0总爱'一本正经地胡说'。林工：'让它有据可查——RAG。'知识库、检索、引用标注三件套——工单M4-2：让每条建议都挂着出处。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专业核心课扩展版：数据→ML→DL→视觉→大模型→智能体全谱系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AI应用工程师 / 工业视觉开发 / 工业互联网数据分析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1+X AI应用实践（初级=M1-M3 / 中级=M4 / 高级=M5）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前：零基础并行开设 → 本课第12周、第10-20周12周×4课时 → 后：项目实战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逻辑回归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W18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W20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连续剧情 · 你（小郑）的第19次出场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57636"/>
            <a:ext cx="4261104" cy="322268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1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85068"/>
            <a:ext cx="4206240" cy="316782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231D3D"/>
                </a:solidFill>
                <a:latin typeface="Microsoft YaHei"/>
                <a:ea typeface="Microsoft YaHei"/>
              </a:rPr>
              <a:t>值班助手1.0总爱'一本正经地胡说'。林工：'让它有据可查——RAG。'知识库、检索、引用标注三件套——工单M4-2：让每条建议都挂着出处。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M4-2 · RAG知识库问答（上）：基础实现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能搭建最小RAG问答链路——应用：见工单starter与教师参考实现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能调top-k与相关度阈值——应用：见工单starter与教师参考实现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F5A7D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老周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9864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9864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林工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850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50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搭建最小RAG链路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让回答带出处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51170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51170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1.回顾预习卡与微课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78094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78094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2.知识精讲（先例后理）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3.演示代码骨架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554784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554784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4.基础实现（D/C层…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533245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533245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5.小结+布置第2次课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本章聚焦：向量检索直观版 · top-k与相关度 · 引用标注规范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RAG三步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("RAG三步=切分(知识库切块)→检索(问题找相关块)→生成(相…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切分粒度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('切分粒度=块太大检索稀释（一块塞三主题）、太小上下文碎（答案缺…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检索双解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("检索双解=关键词(BM25精确匹配'3号泵')与向量(语义相近…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B01 RAG三步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知识切分→向量检索→引用生成——开卷考试三步抄法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原理：RAG三步=切分(知识库切块)→检索(问题找相关块)→生成(相关块+问题喂LLM)——让模型'开卷考试'，答案有出处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让LLM答企业内部资料——不靠死记硬背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怎么判断：知识库问答（值班助手）必用RAG：纯LLM靠记忆必幻觉，RAG给它资料再答——有据可查的生成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检索top3条目→拼进prompt→生成带引用答案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逐行看：chunks=split(docs,500字); emb=embed(chunks) 向量化入库；hits=search(embed(q),top_k=3) 检索最相关3块；answer=l…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误区：全资料塞prompt——token贵且答非所问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进阶：重排序rerank提升检索精度；查询改写（口语转检索语言）；进阶GraphRAG知识图谱关联——检索质量决定RAG上限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RAG三步：一张图看懂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4112" y="1362456"/>
            <a:ext cx="668651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5d6fba7594640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44" y="1389888"/>
            <a:ext cx="663164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温度用 float：留小数才精确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'78.5' 加引号就是文本不能加减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追问：误区：全资料塞prompt——token贵且答非所问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一句话：知识切分→向量检索→引用生成——开卷考试三步抄法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何时用：让LLM答企业内部资料——不靠死记硬背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B02 切分粒度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太碎丢上下文、太整检索糊——先按条目切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原理：切分粒度=块太大检索稀释（一块塞三主题）、太小上下文碎（答案缺前因）——500字+10%重叠是文档类常用起点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维修手册按故障条目切——每条自成一体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怎么判断：运维手册/故障案例按'语义单元'切：小节标题处切，别在表格中间拦腰斩——粒度随文档结构调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chunk_size=500, overlap=50 起步再调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逐行看：chunk_size=500, overlap=50 相邻块重叠防'关键句恰在边界'被切碎——切完抽样人审5块看完整度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粒度没有万能值——用检索准确率反推调整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进阶：递归切分（先按标题再按段落）；表格整块不切；chunk元数据（设备型号/章节）带进检索过滤——精检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切分粒度：一张图看懂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4112" y="1362456"/>
            <a:ext cx="668651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62b5afbcb939a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44" y="1389888"/>
            <a:ext cx="663164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温度用 float：留小数才精确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'78.5' 加引号就是文本不能加减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追问：粒度没有万能值——用检索准确率反推调整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一句话：太碎丢上下文、太整检索糊——先按条目切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何时用：维修手册按故障条目切——每条自成一体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10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B03 检索双解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重合度打分直观→Chroma向量库工程实现——两解递进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原理：检索双解=关键词(BM25精确匹配'3号泵')与向量(语义相近'异响≈异常声音')——生产上混合检索(hybrid)两路并取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教学先用关键词打分理解检索原理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怎么判断：型号/编码类查询关键词准、描述类查询向量准——先判断查询类型再选路，或两路都跑融合排序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collection.query(embeddings, n_results=3)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逐行看：bm25_hits=search_bm25(q); vec_hits=search_vec(q,top_k=5); fused=rrf(bm25,vec) 倒数排名融合——两路优势互补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误区：检索=模糊匹配——语义检索靠向量相似度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进阶：RRF融合公式简单稳健；进阶cross-encoder重排；检索评测（recall@k）用标注问题集量化——别拍脑袋换方案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11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检索双解：一张图看懂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7479b4d12d9f2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追问：误区：检索=模糊匹配——语义检索靠向量相似度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一句话：重合度打分直观→Chroma向量库工程实现——两解递进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何时用：教学先用关键词打分理解检索原理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本章聚焦：向量检索直观版 · top-k与相关度 · 引用标注规范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教学版检索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def retrieve(q, k=3):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引用生成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ctx = "\n".join(f"[{i}] {d}" 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能搭建最小RAG问答链路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能搭建最小RAG问答链路——应用：见工单starter与教师参考实现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能调top-k与相关度…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能调top-k与相关度阈值——应用：见工单starter与教师参考…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能输出带引用的回答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能输出带引用的回答——应用：见工单starter与教师参考实现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教学版检索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def retrieve(q, k=3):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sims = [(cosine(q_vec, d_vec), doc) for doc, d_vec in ZIP]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return sorted(sims, reverse=True)[:k]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引用生成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ctx = "\n".join(f"[{i}] {d}" for i, (s, d) in enumerate(hits))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prompt = f"依据以下条目回答，标注[编号]:\n{ctx}\n问题: {q}"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15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检索全不中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query与库用词不搭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同义词扩展中文bigram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引用编号错乱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拼接时重排了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编号一次性生成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回答仍幻觉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检索空还硬答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空结果走查无依据分支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本章聚焦：向量检索直观版 · top-k与相关度 · 引用标注规范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17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M4-2 · RAG知识库问答（上）：基础实现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能搭建最小RAG问答链路——应用：见工单starter与教师参考实现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能调top-k与相关度阈值——应用：见工单starter与教师参考实现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能输出带引用的回答——应用：见工单starter与教师参考实现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能做有无RAG对比评测——应用：见工单starter与教师参考实现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检索≥80%+引用完整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检索≥90%+生成质量优 / 多知识源融合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M4-2 RAG 知识库问答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知识库: data/knowledge_base.json  共 20 条（设备运维规范×7/故障排查指南×7/工艺参数标准×…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Q: 泵振动超标要看哪个标准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A: 依据知识库: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- [设备运维规范] 泵类设备振动速度有效值超过4.5mm/s应列入重点关注，超过7.1mm/s必须停机检查。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- [设备运维规范] 风机轴承振动加速度包络值突增30%以上时，应安排停机检查滚道点蚀与保持架磨损。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→ 建议：按上述条款执行并回填工单。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Q: 电机电流高但转速正常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升级解: ChromaDB 向量检索（教师参考/rag_chroma_demo.py）——语义相近但字面不重合的查询也能命中。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工程化项目/m42_rag/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src/rag48/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M4-2 RAG 知识库问答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知识库: data/knowledge_base.json  共 20 条（设备运维规范×7/故障排查指南×7/工艺参数标准×…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Q: 泵振动超标要看哪个标准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A: 依据知识库: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- [设备运维规范] 泵类设备振动速度有效值超过4.5mm/s应列入重点关注，超过7.1mm/s必须停机检查。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- [设备运维规范] 风机轴承振动加速度包络值突增30%以上时，应安排停机检查滚道点蚀与保持架磨损。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→ 建议：按上述条款执行并回填工单。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Q: 电机电流高但转速正常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升级解: ChromaDB 向量检索（教师参考/rag_chroma_demo.py）——语义相近但字面不重合的查询也能命中。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多源融合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88648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88648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达标：检索≥90%加融合说明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手册工单两库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结果融合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冲突消解策略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参数调优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630710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630710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达标：检索≥85%可溯源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k对比3档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阈值过滤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评测表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链路跑通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630710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630710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达标：检索≥80%有引用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知识切分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检索top3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拼Prompt生成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无RAG基线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482359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48235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达标：幻觉案例≥2条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直接问LLM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记录幻觉例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留证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RAG知识库问答：备选方案决策矩阵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W18课前测①：本课工单M4-2的及格线是什么？（答：检索≥80%+引用完整）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W18课前测②：'知识切分'用一句话说说你的理解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检索≥80%+引用完整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检索≥90%+生成质量优 / 多知识源融合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3d5865d3f2ad58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RAG三步：知识切分→向量检索→引用生成——开卷考试三步抄法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切分粒度：太碎丢上下文、太整检索糊——先按条目切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检索双解：重合度打分直观→Chroma向量库工程实现——…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①工单M4-2收尾跑绿并上传 ②错题本记1条 ③预习微课+导学单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25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工单M4-2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学号_姓名_W18.py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RAG知识库问答（下）：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三台泵站三个智能体，谁先检修、谁让路？gym-industrial仿真环境上线——工单M5-1：多智能体协调，奖励函数就是老周的管理哲学。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工单M4-2跑绿并上传学习平台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RAG知识库问答（下）：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W18-19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RAG知识库问答（上）：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