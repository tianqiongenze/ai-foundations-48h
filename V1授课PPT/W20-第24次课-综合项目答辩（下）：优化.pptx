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9" r:id="rId30"/>
    <p:sldId id="280" r:id="rId31"/>
    <p:sldId id="278" r:id="rId29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19.xml"/><Relationship Id="rId30" Type="http://schemas.openxmlformats.org/officeDocument/2006/relationships/slide" Target="slides/slide17.xml"/><Relationship Id="rId31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W15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535192"/>
            <a:ext cx="5029200" cy="3787616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" y="777240"/>
            <a:ext cx="3322076" cy="289559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777240"/>
            <a:ext cx="3322076" cy="289559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AI应用基础（48课时版） · 12周·48课时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81328"/>
            <a:ext cx="594360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A6A6"/>
                </a:solidFill>
                <a:latin typeface="Microsoft YaHei"/>
                <a:ea typeface="Microsoft YaHei"/>
              </a:rPr>
              <a:t>W20 · 第24次课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029968"/>
            <a:ext cx="5852160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综合项目答辩（下）：优化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31920"/>
            <a:ext cx="762949" cy="27749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931920"/>
            <a:ext cx="762949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工单 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540189" y="3931920"/>
            <a:ext cx="2633091" cy="27749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40189" y="3931920"/>
            <a:ext cx="2633091" cy="27749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综合项目答辩（下）：优化与评价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443984"/>
            <a:ext cx="3318845" cy="253365"/>
          </a:xfrm>
          <a:prstGeom prst="roundRect">
            <a:avLst>
              <a:gd name="adj" fmla="val 50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443984"/>
            <a:ext cx="3318845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本节（下）：优化与评价 · 复盘冲刺 + 三层质检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956048"/>
            <a:ext cx="5669280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C9D4E4"/>
                </a:solidFill>
                <a:latin typeface="Microsoft YaHei"/>
                <a:ea typeface="Microsoft YaHei"/>
              </a:rPr>
              <a:t>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8C99B5"/>
                </a:solidFill>
                <a:latin typeface="Microsoft YaHei"/>
                <a:ea typeface="Microsoft YaHei"/>
              </a:rPr>
              <a:t>重庆两江智造集团 · 双创中心302实训室 · V1重制版（easyslides规范）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课前回顾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61697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61697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RECAP · 课前五分钟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上次课你带走了什么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先测后讲：两道口头快答，答不上就翻回上节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4475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157276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157276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86537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W20课中查①：'演示现场翻车'这个报错怎么排查？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" y="241401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907792"/>
            <a:ext cx="603504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76656" y="3035808"/>
            <a:ext cx="777240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3035808"/>
            <a:ext cx="77724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快答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" y="3328416"/>
            <a:ext cx="56235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W20课中查②：优秀线创新亮点+表达优秀你打算怎么冲？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3877056"/>
            <a:ext cx="562356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提示：回看上节'四要素详解'页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39128" y="1444752"/>
            <a:ext cx="4977079" cy="141732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58584" y="155448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D2E8C"/>
                </a:solidFill>
                <a:latin typeface="Microsoft YaHei"/>
                <a:ea typeface="Microsoft YaHei"/>
              </a:rPr>
              <a:t>本周重点回顾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1920240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链路完整性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58584" y="2359152"/>
            <a:ext cx="4538167" cy="3840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231D3D"/>
                </a:solidFill>
                <a:latin typeface="Microsoft YaHei"/>
                <a:ea typeface="Microsoft YaHei"/>
              </a:rPr>
              <a:t>· 创新点提炼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739128" y="2999232"/>
            <a:ext cx="4977079" cy="1207008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58584" y="3108960"/>
            <a:ext cx="4538167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8A6D1D"/>
                </a:solidFill>
                <a:latin typeface="Microsoft YaHei"/>
                <a:ea typeface="Microsoft YaHei"/>
              </a:rPr>
              <a:t>上节最容易踩的坑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58584" y="3456432"/>
            <a:ext cx="4538167" cy="67665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100" b="1">
                <a:solidFill>
                  <a:srgbClr val="8A6D1D"/>
                </a:solidFill>
                <a:latin typeface="Microsoft YaHei"/>
                <a:ea typeface="Microsoft YaHei"/>
              </a:rPr>
              <a:t>env注册不到：未装课程工具包
</a:t>
            </a:r>
            <a:r>
              <a:rPr sz="1100" b="0">
                <a:solidFill>
                  <a:srgbClr val="17855A"/>
                </a:solidFill>
                <a:latin typeface="Microsoft YaHei"/>
                <a:ea typeface="Microsoft YaHei"/>
              </a:rPr>
              <a:t>修法：pip install工具包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" y="4443984"/>
            <a:ext cx="11240719" cy="10972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9808" y="4562856"/>
            <a:ext cx="10881360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本节（下）：优化与评价——错误复盘 + B/A层冲刺 + 三层质检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9808" y="4983480"/>
            <a:ext cx="10881360" cy="47548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5F5A7D"/>
                </a:solidFill>
                <a:latin typeface="Microsoft YaHei"/>
                <a:ea typeface="Microsoft YaHei"/>
              </a:rPr>
              <a:t>本节主线：答辩四段论：问题方案指标价值，5分钟讲完——应用：见工单s… / 链路完整性：数据特征模型部署智能体一图贯通——应用：见工单… / 创新点提炼：与照抄教程的三处不同即创新——应用：见工单st…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GOALS &amp; FLOW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这节课结束时，你能做到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目标可测量：及格线/优秀线写在工单上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3612794" cy="82296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完成端到端系统集成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检验：口头复述+快答2题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89450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89450" y="1389888"/>
            <a:ext cx="3612794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8906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目标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08906" y="1956816"/>
            <a:ext cx="3173882" cy="11887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面向评委讲清价值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454042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63770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检验：工单运行通过+截图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03412" y="1389888"/>
            <a:ext cx="3612794" cy="22128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103412" y="1389888"/>
            <a:ext cx="3612794" cy="82296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22868" y="1554480"/>
            <a:ext cx="3173882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能力目标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1956816"/>
            <a:ext cx="3173882" cy="11887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完成本课工单并当堂通过检查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68004" y="3163824"/>
            <a:ext cx="3283610" cy="365760"/>
          </a:xfrm>
          <a:prstGeom prst="roundRect">
            <a:avLst>
              <a:gd name="adj" fmla="val 22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77732" y="3163824"/>
            <a:ext cx="3064154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检验：同桌互查代码规范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3950208"/>
            <a:ext cx="11240719" cy="159105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4078224"/>
            <a:ext cx="54864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D2E8C"/>
                </a:solidFill>
                <a:latin typeface="Microsoft YaHei"/>
                <a:ea typeface="Microsoft YaHei"/>
              </a:rPr>
              <a:t>课堂节奏（80分钟）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8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1.错误速查复盘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888223" y="4535424"/>
            <a:ext cx="1616710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88223" y="4535424"/>
            <a:ext cx="1616710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2.优化冲刺（B/A层）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6639" y="4535424"/>
            <a:ext cx="1242466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6639" y="4535424"/>
            <a:ext cx="124246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3.三层质检互查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165055" y="4535424"/>
            <a:ext cx="1377086" cy="241300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65055" y="4535424"/>
            <a:ext cx="137708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4.当堂评分与反馈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303471" y="4535424"/>
            <a:ext cx="1449781" cy="241300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303471" y="4535424"/>
            <a:ext cx="1449781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5.下次课预告+微课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49808" y="5084064"/>
            <a:ext cx="10692079" cy="3840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节奏纪律：讲10分钟必须动手一次；实操环节教师只答疑不代写——卡住先查《报错翻译对照表》，再举手。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知识精讲 · 讲透每个概念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评委三问预演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最难的坑？最大的取舍？下一步？——赛前必练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档案袋定稿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代码-报告-曲线-工单十二周全归档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署名与致谢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团队贡献表如实填报——分工可核查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5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B04 评委三问预演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最难的坑？最大的取舍？下一步？——赛前必练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评委三问预演：最难的坑？最大的取舍？下一步？——应用：见工单starter与教师参考实现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三问年年必问——提前备答案不现场抓瞎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每问准备30秒答案+一个具体例子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答'没有坑'是减分——没坑说明没真做过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演示现场翻车：依赖未装路径错 → 提前录屏备份加环境冻结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评委三问预演：一张图看懂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899701"/>
            <a:ext cx="7278624" cy="268369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9a74fa2e77710cf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927133"/>
            <a:ext cx="7223760" cy="262883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先想清楚数据从哪来到哪去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每一步只做一件事，错了好定位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追问：答'没有坑'是减分——没坑说明没真做过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一句话：最难的坑？最大的取舍？下一步？——赛前必练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何时用：三问年年必问——提前备答案不现场抓瞎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B05 档案袋定稿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代码-报告-曲线-工单十二周全归档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档案袋定稿：代码报告曲线工单十二周全归档——应用：见工单starter与教师参考实现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期末档案袋答辩的物料清单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按周编号目录：W07…W20各含工单+产物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档案袋平时攒——最后三天补不齐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超时被打断：细节讲太多 → 四段论加排练计时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四要素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04952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04952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KNOWLEDGE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B06 署名与致谢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定义 → 场景 → 实例 → 误区：一次讲透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定义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团队贡献表如实填报——分工可核查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教材版：  署名与致谢：团队贡献表如实填报——应用：见工单starter与教师参考实现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使用场景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组内贡献差异的正式记录——防搭便车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现场还原：答辩日。老周、林工、方总监坐镇：'把12周的模型串成一条线，讲给新员工听。'——综合项目答辩：从脏数据到智能体的完整故事，也是你的入职转正答辩。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应用实例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550" b="0">
                <a:solidFill>
                  <a:srgbClr val="231D3D"/>
                </a:solidFill>
                <a:latin typeface="Consolas"/>
                <a:ea typeface="Microsoft YaHei"/>
              </a:rPr>
              <a:t>贡献表：数据/建模/部署/文档逐项写人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扩展与误区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4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贡献表三方签字——事后争议有据可查</a:t>
            </a:r>
          </a:p>
          <a:p>
            <a:pPr algn="l">
              <a:lnSpc>
                <a:spcPct val="124000"/>
              </a:lnSpc>
            </a:pP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高频报错：  被问倒：没准备取舍类问题 → 预演三问各写100字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知识精讲 · 图解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26077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26077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VISUAL · B06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署名与致谢：一张图看懂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图优先：先看图再回头读代码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48056" y="1383324"/>
            <a:ext cx="7278624" cy="3716448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2a34a35dc07a8f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410756"/>
            <a:ext cx="7223760" cy="366158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927848" y="1463040"/>
            <a:ext cx="378835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四个观察点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927848" y="1920240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7415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7415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11680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外键 FK 把四张表串成一张网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27848" y="2736342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74152" y="284607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74152" y="284607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58200" y="2827782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1:N 关系：一台设备多个测点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27848" y="3552444"/>
            <a:ext cx="3788359" cy="733806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74152" y="36621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74152" y="36621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58200" y="3643884"/>
            <a:ext cx="3056839" cy="58750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追问：贡献表三方签字——事后争议有据可查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75488" y="5230368"/>
            <a:ext cx="7223760" cy="896112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6656" y="5330952"/>
            <a:ext cx="685800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200" b="1">
                <a:solidFill>
                  <a:srgbClr val="231D3D"/>
                </a:solidFill>
                <a:latin typeface="Microsoft YaHei"/>
                <a:ea typeface="Microsoft YaHei"/>
              </a:rPr>
              <a:t>一句话：团队贡献表如实填报——分工可核查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何时用：组内贡献差异的正式记录——防搭便车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技能实操 · 代码跑起来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384048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3840480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3840480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一键演示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840480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# run_all.py 12周链路一键跑通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33425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33425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33425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答辩检查单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33425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checklist = ["链路图一页", "核心指标3个…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482803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482803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482803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能组织12周资产成完整…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82803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能组织12周资产成完整故事——应用：见工单starter与教师参考…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32180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32180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46120" y="532180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能5分钟答辩加3分钟答问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532180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能5分钟答辩加3分钟答问——应用：见工单starter与教师参考实现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651760" y="5815584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88920" y="5815584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46120" y="5815584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技能 · 能回应技术质询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815584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能回应技术质询——应用：见工单starter与教师参考实现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本章产出：四要素详解页×5 · 图解页×3 · 可跟打代码页×2 · 工单与分层工单各1份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一键演示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7FB685"/>
                </a:solidFill>
                <a:latin typeface="Consolas"/>
                <a:ea typeface="Microsoft YaHei"/>
              </a:rPr>
              <a:t># run_all.py 12周链路一键跑通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"w1_clean.py"])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"w3_model.py"])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subprocess.run(["python", "w10_rag.py"])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print("端到端演示完成")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技能实操 · 可执行代码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6676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6676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CODE LAB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答辩检查单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代码节选 · 依赖工单/starter 上下文（课堂跟打 starter 看完整运行）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11021263" cy="4754880"/>
          </a:xfrm>
          <a:prstGeom prst="roundRect">
            <a:avLst>
              <a:gd name="adj" fmla="val 4500"/>
            </a:avLst>
          </a:prstGeom>
          <a:solidFill>
            <a:srgbClr val="1410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" y="1453896"/>
            <a:ext cx="2103120" cy="237744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453896"/>
            <a:ext cx="2103120" cy="23774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</a:rPr>
              <a:t> 代码节选 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1764792"/>
            <a:ext cx="10728655" cy="427024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checklist = ["链路图一页", "核心指标3个", "创新点3处",</a:t>
            </a:r>
          </a:p>
          <a:p>
            <a:pPr algn="l">
              <a:lnSpc>
                <a:spcPct val="106000"/>
              </a:lnSpc>
            </a:pPr>
            <a:r>
              <a:rPr sz="1200" b="0">
                <a:solidFill>
                  <a:srgbClr val="DDD9F0"/>
                </a:solidFill>
                <a:latin typeface="Consolas"/>
                <a:ea typeface="Microsoft YaHei"/>
              </a:rPr>
              <a:t>           "坑与取舍各1", "演示已录屏备份"]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5349240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FDF6E9"/>
          </a:solidFill>
          <a:ln w="9525">
            <a:solidFill>
              <a:srgbClr val="E5C97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477256"/>
            <a:ext cx="1078351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8A6D1D"/>
                </a:solidFill>
                <a:latin typeface="Microsoft YaHei"/>
                <a:ea typeface="Microsoft YaHei"/>
              </a:rPr>
              <a:t>本段引用工单上下文变量（starter 已备好）——跟打 starter 后取消注释对应行即可复现。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避坑指南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DEBUG · 常见报错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报错翻译：程序'说'了什么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报错是程序在说话——先读最后一行，再往上找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11240719" cy="457200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" y="1463040"/>
            <a:ext cx="278892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报错/现象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1463040"/>
            <a:ext cx="37490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为什么会这样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4928" y="1463040"/>
            <a:ext cx="3977639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怎么修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" y="1847088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2648" y="1938528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演示现场翻车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38728" y="1938528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依赖未装路径错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24928" y="1938528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提前录屏备份加环境冻结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" y="2880360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" y="2971800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超时被打断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38728" y="2971800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细节讲太多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24928" y="2971800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四段论加排练计时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9136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" y="4005072"/>
            <a:ext cx="2697480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C0392B"/>
                </a:solidFill>
                <a:latin typeface="Microsoft YaHei"/>
                <a:ea typeface="Microsoft YaHei"/>
              </a:rPr>
              <a:t>被问倒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38728" y="4005072"/>
            <a:ext cx="36575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没准备取舍类问题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8" y="4005072"/>
            <a:ext cx="3886199" cy="81381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预演三问各写100字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" y="4992624"/>
            <a:ext cx="11240719" cy="71323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40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① 读最后一行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报错类型+行号都在这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616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② 定位变量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NameError=没定义/拼错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19288" y="5102352"/>
            <a:ext cx="3566160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③ 最小复现  </a:t>
            </a: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注释一半再跑，二分找错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知识窗 · 考点拓展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337104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337104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WINDOW · W-SP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语音识别与合成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1+X考点对照知识窗：原理入门 + 自学路径（主线之外的一扇窗）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71600"/>
            <a:ext cx="64008" cy="2395728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94944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是什么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语音识别与合成：语音转文本(STT)接入LLM、回答转语音(TTS)播报——值班工程师的'嘴巴和耳朵'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05575" y="137160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05575" y="1371600"/>
            <a:ext cx="64008" cy="2395728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25031" y="151790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25031" y="151790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何时用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3319" y="193852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机房无音频设备，以知识窗原理+API体验课下自学；核心文本链路（工单分类）在本课M4-1实操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5488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75488" y="3931920"/>
            <a:ext cx="64008" cy="2395728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94944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94944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最小示例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whisper.transcribe(audio)→text 语音转文字；tts.synthesize(answer)→wav 文字转语音——两行接成语音助手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05575" y="3931920"/>
            <a:ext cx="5510631" cy="239572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205575" y="3931920"/>
            <a:ext cx="64008" cy="2395728"/>
          </a:xfrm>
          <a:prstGeom prst="rect">
            <a:avLst/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425031" y="4078224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B9770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25031" y="4078224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进阶方向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3319" y="4498848"/>
            <a:ext cx="5035143" cy="16642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6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工业噪声下的语音前端（降噪/唤醒词）是真难点；多模态大模型（语音直进直出）是演进方向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11887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822960"/>
            <a:ext cx="2377440" cy="14630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51760" y="2560320"/>
            <a:ext cx="8778240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</a:rPr>
              <a:t>工单实战 · 按单交付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51760" y="1572768"/>
            <a:ext cx="896112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C9D4E4"/>
                </a:solidFill>
                <a:latin typeface="Microsoft YaHei"/>
                <a:ea typeface="Microsoft YaHei"/>
              </a:rPr>
              <a:t>本章聚焦：链路完整性 · 创新点提炼 · 答辩问答策略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51760" y="4059936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88920" y="4059936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059936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059936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按工单步骤逐项打勾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51760" y="4553712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2635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88920" y="4553712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4553712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及格/优秀线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553712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D/C保底 · B/A冲刺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51760" y="5047488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5047488"/>
            <a:ext cx="45720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5047488"/>
            <a:ext cx="310896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</a:rPr>
              <a:t>A/B/C/D分层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5047488"/>
            <a:ext cx="48463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AAB6D0"/>
                </a:solidFill>
                <a:latin typeface="Microsoft YaHei"/>
                <a:ea typeface="Microsoft YaHei"/>
              </a:rPr>
              <a:t>按当前水平选起点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51760" y="5989320"/>
            <a:ext cx="8778240" cy="402336"/>
          </a:xfrm>
          <a:prstGeom prst="roundRect">
            <a:avLst>
              <a:gd name="adj" fmla="val 160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788920" y="5989320"/>
            <a:ext cx="8503920" cy="40233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00A6A6"/>
                </a:solidFill>
                <a:latin typeface="Microsoft YaHei"/>
                <a:ea typeface="Microsoft YaHei"/>
              </a:rPr>
              <a:t>本章产出：四要素详解页×3 · 图解页×3 · 可跟打代码页×2 · 工单与分层工单各1份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" y="6473952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工单实战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16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14203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14203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WORK ORDER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工单 Z · 综合项目答辩（下）：优化与评价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按单交付：及格线保底，优秀线冲刺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71600"/>
            <a:ext cx="6583680" cy="47091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499616"/>
            <a:ext cx="603504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交付清单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9808" y="192024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192024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25296" y="1901952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能组织12周资产成完整故事——应用：见工单starter与教师参考实现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8" y="2505456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2505456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25296" y="2487168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能5分钟答辩加3分钟答问——应用：见工单starter与教师参考实现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30906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" y="30906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25296" y="3072384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能回应技术质询——应用：见工单starter与教师参考实现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" y="367588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367588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25296" y="3657600"/>
            <a:ext cx="5669280" cy="53035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能定稿个人项目档案袋——应用：见工单starter与教师参考实现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9808" y="4526280"/>
            <a:ext cx="6035040" cy="138988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50976" y="4617720"/>
            <a:ext cx="5669280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3D2E8C"/>
                </a:solidFill>
                <a:latin typeface="Microsoft YaHei"/>
                <a:ea typeface="Microsoft YaHei"/>
              </a:rPr>
              <a:t>验收清单（教师按此打分）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0976" y="4992624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88720" y="4928616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程序运行无报错，输出与示例一致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50976" y="5303520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88720" y="5239512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截图含完整运行结果与文件名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50976" y="5614416"/>
            <a:ext cx="146304" cy="146304"/>
          </a:xfrm>
          <a:prstGeom prst="rect">
            <a:avLst/>
          </a:prstGeom>
          <a:noFill/>
          <a:ln w="15240">
            <a:solidFill>
              <a:srgbClr val="3D2E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88720" y="5550408"/>
            <a:ext cx="5486400" cy="29260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变量命名规范率达标（snake_case）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87768" y="1371600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525512" y="1499616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A4A63"/>
                </a:solidFill>
                <a:latin typeface="Microsoft YaHei"/>
                <a:ea typeface="Microsoft YaHei"/>
              </a:rPr>
              <a:t>及格线 · D/C层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1865376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链路完整+能答基本问题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25512" y="2779776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检查方式：运行+截图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287768" y="3246119"/>
            <a:ext cx="4428439" cy="16916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25512" y="3374135"/>
            <a:ext cx="39712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00A6A6"/>
                </a:solidFill>
                <a:latin typeface="Microsoft YaHei"/>
                <a:ea typeface="Microsoft YaHei"/>
              </a:rPr>
              <a:t>优秀线 · B/A层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25512" y="3739895"/>
            <a:ext cx="3925519" cy="9601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2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创新亮点+表达优秀 / 可部署演示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4654295"/>
            <a:ext cx="397123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检查方式：运行+规范+答辩追问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287768" y="5138928"/>
            <a:ext cx="4428439" cy="941832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525512" y="5257800"/>
            <a:ext cx="3971239" cy="7315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提交物</a:t>
            </a: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
代码文件+运行截图+工单决策记录（上传学习平台）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先看终点（本课目标预览）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17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本工单的工程化项目 · 第三种代码形态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18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本工单的工程化项目 · 第三种代码形态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项目位置与一键运行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工程化项目/z_defense/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run.py          # 输出 output/report.txt + result.json</a:t>
            </a:r>
          </a:p>
          <a:p>
            <a:pPr algn="l"/>
            <a:r>
              <a:rPr sz="1400" b="1">
                <a:solidFill>
                  <a:srgbClr val="3D2E8C"/>
                </a:solidFill>
              </a:rPr>
              <a:t>python -m pytest -q    # 全量测试应全绿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目录结构（23 个文件）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config/rules.yaml      规则外置：改配置不改代码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src/defense_pack/  config · core · io_utils · report · pipeline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tests/      正常 / 边界 / 异常三档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国标与 TOGAF 落地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GB/T 9385 需求规格 / 15532 测试 / 8567 文档 / 8566 过程组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TOGAF 四域：业务 · 数据 · 应用 · 技术架构</a:t>
            </a:r>
          </a:p>
          <a:p>
            <a:pPr algn="l"/>
            <a:r>
              <a:rPr sz="1300" b="1">
                <a:solidFill>
                  <a:srgbClr val="3D2E8C"/>
                </a:solidFill>
              </a:rPr>
              <a:t>docs/07 ADR-001 架构决策记录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工单完成效果图 · 课末对照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19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63040" cy="256032"/>
          </a:xfrm>
          <a:prstGeom prst="roundRect">
            <a:avLst>
              <a:gd name="adj" fmla="val 6000"/>
            </a:avLst>
          </a:prstGeom>
          <a:solidFill>
            <a:srgbClr val="00A6A6"/>
          </a:solidFill>
          <a:ln w="9525">
            <a:solidFill>
              <a:srgbClr val="00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6304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</a:rPr>
              <a:t>DONE 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37976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231D3D"/>
                </a:solidFill>
              </a:rPr>
              <a:t>工单完成效果图 · 完成后长这样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3797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5F5A7D"/>
                </a:solidFill>
              </a:rPr>
              <a:t>真实运行 · 参考实现——先看清'交付标准答案'，再动手写自己的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" y="1371600"/>
            <a:ext cx="11237976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75488" y="3794760"/>
            <a:ext cx="11237976" cy="118872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475488" y="5074920"/>
            <a:ext cx="11237976" cy="1234440"/>
          </a:xfrm>
          <a:prstGeom prst="roundRect">
            <a:avLst>
              <a:gd name="adj" fmla="val 6000"/>
            </a:avLst>
          </a:prstGeom>
          <a:solidFill>
            <a:srgbClr val="EAE7F8"/>
          </a:solidFill>
          <a:ln w="9525">
            <a:solidFill>
              <a:srgbClr val="CFC8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49808" y="1517904"/>
            <a:ext cx="10698480" cy="2057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D2E8C"/>
                </a:solidFill>
              </a:rPr>
              <a:t>① 参考实现真实运行输出（本工单完成态）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工单 Z 综合项目答辩 · 完成态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=== 答辩提纲（一图贯通 · 自动生成） ===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1. 数据层 [OK] —— 脏数据→可信数据集：清洗规则与质量分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2. 特征层 [OK] —— 特征字典：时域/频域双解与重要性证据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3. 模型层 [OK] —— 双模型对比与混淆矩阵里的漏报账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4. 服务层 [OK] —— 三版Prompt对比：LLM回答质量+50%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  5. 智能体层 [OK] —— 调度策略：随机→安全优先，协调正确率+77%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证据链 5/5 层就绪</a:t>
            </a:r>
          </a:p>
          <a:p>
            <a:pPr algn="l">
              <a:spcBef>
                <a:spcPts val="100"/>
              </a:spcBef>
            </a:pPr>
            <a:r>
              <a:rPr sz="1000" b="0">
                <a:solidFill>
                  <a:srgbClr val="231D3D"/>
                </a:solidFill>
              </a:rPr>
              <a:t>结论: 档案袋五层齐备即可上台——'作品集即简历'。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9808" y="3931920"/>
            <a:ext cx="1069848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② 关键自检点（对照工单逐项核对）</a:t>
            </a:r>
          </a:p>
          <a:p>
            <a:pPr algn="l">
              <a:spcBef>
                <a:spcPts val="200"/>
              </a:spcBef>
            </a:pPr>
            <a:r>
              <a:rPr sz="1150" b="0">
                <a:solidFill>
                  <a:srgbClr val="231D3D"/>
                </a:solidFill>
              </a:rPr>
              <a:t>□ 代码从头跑到尾不报错（python xx.py 再跑一遍）</a:t>
            </a:r>
          </a:p>
          <a:p>
            <a:pPr algn="l">
              <a:spcBef>
                <a:spcPts val="100"/>
              </a:spcBef>
            </a:pPr>
            <a:r>
              <a:rPr sz="1150" b="0">
                <a:solidFill>
                  <a:srgbClr val="231D3D"/>
                </a:solidFill>
              </a:rPr>
              <a:t>□ 指标达标：与工单及格线逐项对齐（准确率/F1/耗时）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5212080"/>
            <a:ext cx="106984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3D2E8C"/>
                </a:solidFill>
              </a:rPr>
              <a:t>③ 提交与达标（过程性证据）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231D3D"/>
                </a:solidFill>
              </a:rPr>
              <a:t>达标线：D≥60 / C≥70 / B≥80 / A≥90　｜　提交：学号_姓名_工单号 + 运行截图 + 决策记录 + Git≥1次commit</a:t>
            </a:r>
          </a:p>
          <a:p>
            <a:pPr algn="l">
              <a:spcBef>
                <a:spcPts val="100"/>
              </a:spcBef>
            </a:pPr>
            <a:r>
              <a:rPr sz="1100" b="0">
                <a:solidFill>
                  <a:srgbClr val="5F5A7D"/>
                </a:solidFill>
              </a:rPr>
              <a:t>复核：自检 → 互检 → 师查（三层质检）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分层任务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20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58666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58666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A/B/C/D LAYERS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同一工单，四条爬梯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按当前水平选起点，D层保底人人可交付，A层给足挑战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" y="1389888"/>
            <a:ext cx="2686735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A 层 · 挑战层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可部署演示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3236976"/>
            <a:ext cx="1845564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3236976"/>
            <a:ext cx="1845564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达标：创新亮点加部署演示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端到端一键run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异常恢复演示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署名开源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C0392B"/>
                </a:solidFill>
                <a:latin typeface="Microsoft YaHei"/>
                <a:ea typeface="Microsoft YaHei"/>
              </a:rPr>
              <a:t>卡壳&gt;10分钟→降B层，先拿过程分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326815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326815" y="1389888"/>
            <a:ext cx="2686735" cy="77724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09695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B 层 · 进阶层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09695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表达制胜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09695" y="3236976"/>
            <a:ext cx="1433761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09695" y="3236976"/>
            <a:ext cx="1433761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达标：评委评分≥85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09695" y="3730752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开场30秒钩子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09695" y="4297680"/>
            <a:ext cx="2320975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指标对标工单线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9695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时间盒控制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09695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00A6A6"/>
                </a:solidFill>
                <a:latin typeface="Microsoft YaHei"/>
                <a:ea typeface="Microsoft YaHei"/>
              </a:rPr>
              <a:t>完成C层后冲刺：先跑通再优化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8143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78143" y="1389888"/>
            <a:ext cx="2686735" cy="77724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61023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C 层 · 基础层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61023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正式答辩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61023" y="3236976"/>
            <a:ext cx="1973453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61023" y="3236976"/>
            <a:ext cx="1973453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达标：链路完整基本问题全答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61023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5分钟陈述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61023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答三问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61023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提交档案袋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361023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D2E8C"/>
                </a:solidFill>
                <a:latin typeface="Microsoft YaHei"/>
                <a:ea typeface="Microsoft YaHei"/>
              </a:rPr>
              <a:t>照示例改参数，跑通即得分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29471" y="1389888"/>
            <a:ext cx="2686735" cy="466344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029471" y="1389888"/>
            <a:ext cx="2686735" cy="777240"/>
          </a:xfrm>
          <a:prstGeom prst="rect">
            <a:avLst/>
          </a:prstGeom>
          <a:solidFill>
            <a:srgbClr val="3A4A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12351" y="1481328"/>
            <a:ext cx="2320975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</a:rPr>
              <a:t>D 层 · 保底层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12351" y="2304288"/>
            <a:ext cx="2320975" cy="841248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231D3D"/>
                </a:solidFill>
                <a:latin typeface="Microsoft YaHei"/>
                <a:ea typeface="Microsoft YaHei"/>
              </a:rPr>
              <a:t>预答辩过关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212351" y="3236976"/>
            <a:ext cx="1589786" cy="229235"/>
          </a:xfrm>
          <a:prstGeom prst="roundRect">
            <a:avLst>
              <a:gd name="adj" fmla="val 500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212351" y="3236976"/>
            <a:ext cx="1589786" cy="22923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231D3D"/>
                </a:solidFill>
                <a:latin typeface="Microsoft YaHei"/>
                <a:ea typeface="Microsoft YaHei"/>
              </a:rPr>
              <a:t>达标：预答辩评委放行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212351" y="3730752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链路图绘制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12351" y="4297680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念稿排练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12351" y="4864608"/>
            <a:ext cx="2320975" cy="50292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5A7D"/>
                </a:solidFill>
                <a:latin typeface="Microsoft YaHei"/>
                <a:ea typeface="Microsoft YaHei"/>
              </a:rPr>
              <a:t>· A层陪练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12351" y="5577840"/>
            <a:ext cx="2320975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2000"/>
              </a:lnSpc>
            </a:pPr>
            <a:r>
              <a:rPr sz="950" b="0">
                <a:solidFill>
                  <a:srgbClr val="3A4A63"/>
                </a:solidFill>
                <a:latin typeface="Microsoft YaHei"/>
                <a:ea typeface="Microsoft YaHei"/>
              </a:rPr>
              <a:t>逐行跟打示例，跑通就是胜利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方案决策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21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8022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8022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DECISION MATRIX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综合项目答辩：备选方案决策矩阵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工程不是选最好的，是选当前约束下最划算的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11240719" cy="475488"/>
          </a:xfrm>
          <a:prstGeom prst="roundRect">
            <a:avLst>
              <a:gd name="adj" fmla="val 5500"/>
            </a:avLst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5216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备选方案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3359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可行性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81503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达标概率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9647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工时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77791" y="1508760"/>
            <a:ext cx="2065263" cy="32918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结论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" y="1892808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方案A：按工单主线（starter起步）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51647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99791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47935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适中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96079" y="1947672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推荐主干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75488" y="3008376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5F4FB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方案B：自选技术路线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51647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99791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中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7935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96079" y="3063240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A层可选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" y="4123944"/>
            <a:ext cx="11240719" cy="10515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E3E8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3504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231D3D"/>
                </a:solidFill>
                <a:latin typeface="Microsoft YaHei"/>
                <a:ea typeface="Microsoft YaHei"/>
              </a:rPr>
              <a:t>方案C：直接改现成项目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51647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低（无过程分）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9791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低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47935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231D3D"/>
                </a:solidFill>
                <a:latin typeface="Microsoft YaHei"/>
                <a:ea typeface="Microsoft YaHei"/>
              </a:rPr>
              <a:t>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96079" y="4178808"/>
            <a:ext cx="2028687" cy="94183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00A6A6"/>
                </a:solidFill>
                <a:latin typeface="Microsoft YaHei"/>
                <a:ea typeface="Microsoft YaHei"/>
              </a:rPr>
              <a:t>不建议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285232"/>
            <a:ext cx="11240719" cy="68580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04088" y="5385816"/>
            <a:ext cx="107835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D2E8C"/>
                </a:solidFill>
                <a:latin typeface="Microsoft YaHei"/>
                <a:ea typeface="Microsoft YaHei"/>
              </a:rPr>
              <a:t>决策纪律：组内打分3分钟，结论与理由写入工单决策记录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课堂检查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22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475628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475628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CHECK · 当堂验收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做完不算完，验过才算数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教师抽查 + 同桌互查 + 运行截图三选二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417320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94944" y="1545336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" y="1545336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1856232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W20课中查①：'演示现场翻车'这个报错怎么排查？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" y="2423160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75488" y="2862072"/>
            <a:ext cx="6309360" cy="12984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94944" y="2990088"/>
            <a:ext cx="1051560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2990088"/>
            <a:ext cx="1051560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检查点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" y="3300984"/>
            <a:ext cx="5852160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231D3D"/>
                </a:solidFill>
                <a:latin typeface="Microsoft YaHei"/>
                <a:ea typeface="Microsoft YaHei"/>
              </a:rPr>
              <a:t>W20课中查②：优秀线创新亮点+表达优秀你打算怎么冲？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" y="3867912"/>
            <a:ext cx="58521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提示：答案都在本节'四要素详解'页——翻回去指给同桌看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59168" y="1417320"/>
            <a:ext cx="4657039" cy="2615184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96912" y="1536192"/>
            <a:ext cx="419983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3D2E8C"/>
                </a:solidFill>
                <a:latin typeface="Microsoft YaHei"/>
                <a:ea typeface="Microsoft YaHei"/>
              </a:rPr>
              <a:t>当堂评分构成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96912" y="19933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96912" y="1993392"/>
            <a:ext cx="768096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5168" y="19476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运行通过 40%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296912" y="24505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296912" y="24505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8" y="2404872"/>
            <a:ext cx="209671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规范与注释 20%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96912" y="29077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29077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45168" y="28620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决策记录 20%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96912" y="3364992"/>
            <a:ext cx="1920240" cy="274320"/>
          </a:xfrm>
          <a:prstGeom prst="rect">
            <a:avLst/>
          </a:prstGeom>
          <a:solidFill>
            <a:srgbClr val="D8E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96912" y="3364992"/>
            <a:ext cx="384048" cy="27432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45168" y="3319272"/>
            <a:ext cx="20967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231D3D"/>
                </a:solidFill>
                <a:latin typeface="Microsoft YaHei"/>
                <a:ea typeface="Microsoft YaHei"/>
              </a:rPr>
              <a:t>互查反馈 20%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96912" y="3840480"/>
            <a:ext cx="4199839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F5A7D"/>
                </a:solidFill>
                <a:latin typeface="Microsoft YaHei"/>
                <a:ea typeface="Microsoft YaHei"/>
              </a:rPr>
              <a:t>未过怎么办：当堂改→教师复核→记录到错题本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75488" y="4370832"/>
            <a:ext cx="11240719" cy="96012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498848"/>
            <a:ext cx="10881360" cy="713232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及格线：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</a:rPr>
              <a:t>链路完整+能答基本问题</a:t>
            </a:r>
            <a:r>
              <a:rPr sz="1250" b="1">
                <a:solidFill>
                  <a:srgbClr val="D8E1EC"/>
                </a:solidFill>
                <a:latin typeface="Microsoft YaHei"/>
                <a:ea typeface="Microsoft YaHei"/>
              </a:rPr>
              <a:t>
优秀线：</a:t>
            </a:r>
            <a:r>
              <a:rPr sz="1250" b="0">
                <a:solidFill>
                  <a:srgbClr val="F5C08A"/>
                </a:solidFill>
                <a:latin typeface="Microsoft YaHei"/>
                <a:ea typeface="Microsoft YaHei"/>
              </a:rPr>
              <a:t>创新亮点+表达优秀 / 可部署演示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23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924359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924359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一张图带走本课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讲给自己听一遍，才算真的学会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4939" y="1389888"/>
            <a:ext cx="7450618" cy="3986784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5DB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7f2df657e1ee060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371" y="1417320"/>
            <a:ext cx="7395754" cy="393192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93608" y="1481328"/>
            <a:ext cx="3422599" cy="4114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三句话总结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93608" y="1920240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439912" y="2029968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39912" y="2029968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3960" y="2011680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评委三问预演：最难的坑？最大的取舍？下一步？——赛前必练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93608" y="2907792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439912" y="3017520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2" y="3017520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23960" y="2999232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档案袋定稿：代码-报告-曲线-工单十二周全归档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3895344"/>
            <a:ext cx="3422599" cy="896112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439912" y="4005072"/>
            <a:ext cx="310896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39912" y="4005072"/>
            <a:ext cx="310896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23960" y="3986784"/>
            <a:ext cx="2709367" cy="64008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6000"/>
              </a:lnSpc>
            </a:pPr>
            <a:r>
              <a:rPr sz="1200" b="0">
                <a:solidFill>
                  <a:srgbClr val="231D3D"/>
                </a:solidFill>
                <a:latin typeface="Microsoft YaHei"/>
                <a:ea typeface="Microsoft YaHei"/>
              </a:rPr>
              <a:t>署名与致谢：团队贡献表如实填报——分工可核查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93608" y="4882896"/>
            <a:ext cx="3422599" cy="1005840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76488" y="4974336"/>
            <a:ext cx="305683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下一步行动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76488" y="5285232"/>
            <a:ext cx="3056839" cy="5486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050" b="0">
                <a:solidFill>
                  <a:srgbClr val="D8E1EC"/>
                </a:solidFill>
                <a:latin typeface="Microsoft YaHei"/>
                <a:ea typeface="Microsoft YaHei"/>
              </a:rPr>
              <a:t>①工单Z收尾跑绿并上传 ②错题本记1条 ③预习微课+导学单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3D2E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75488" y="118872"/>
            <a:ext cx="6766560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课后与预告</a:t>
            </a:r>
          </a:p>
        </p:txBody>
      </p:sp>
      <p:sp>
        <p:nvSpPr>
          <p:cNvPr id="4" name="Rectangle 3"/>
          <p:cNvSpPr/>
          <p:nvPr/>
        </p:nvSpPr>
        <p:spPr>
          <a:xfrm>
            <a:off x="475488" y="6473952"/>
            <a:ext cx="11240719" cy="9525"/>
          </a:xfrm>
          <a:prstGeom prst="rect">
            <a:avLst/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6455664"/>
            <a:ext cx="8229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344607" y="6455664"/>
            <a:ext cx="1371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r">
              <a:lnSpc>
                <a:spcPct val="100000"/>
              </a:lnSpc>
            </a:pPr>
            <a:r>
              <a:rPr sz="950" b="0">
                <a:solidFill>
                  <a:srgbClr val="5F5A7D"/>
                </a:solidFill>
                <a:latin typeface="Microsoft YaHei"/>
                <a:ea typeface="Microsoft YaHei"/>
              </a:rPr>
              <a:t>24 / 25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" y="274320"/>
            <a:ext cx="1523687" cy="253365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" y="274320"/>
            <a:ext cx="1523687" cy="253365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</a:rPr>
              <a:t>NEXT &amp; HOMEWORK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585216"/>
            <a:ext cx="11240719" cy="5029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231D3D"/>
                </a:solidFill>
                <a:latin typeface="Microsoft YaHei"/>
                <a:ea typeface="Microsoft YaHei"/>
              </a:rPr>
              <a:t>下课之后，上课之前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" y="1060704"/>
            <a:ext cx="11240719" cy="27432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5A7D"/>
                </a:solidFill>
                <a:latin typeface="Microsoft YaHei"/>
                <a:ea typeface="Microsoft YaHei"/>
              </a:rPr>
              <a:t>作业当堂布置当堂记：写进工单本，别靠脑子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" y="1097280"/>
            <a:ext cx="1234440" cy="30480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75488" y="1389888"/>
            <a:ext cx="5852160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CE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517904"/>
            <a:ext cx="5303520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3D2E8C"/>
                </a:solidFill>
                <a:latin typeface="Microsoft YaHei"/>
                <a:ea typeface="Microsoft YaHei"/>
              </a:rPr>
              <a:t>今日作业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56816"/>
            <a:ext cx="292608" cy="241300"/>
          </a:xfrm>
          <a:prstGeom prst="roundRect">
            <a:avLst>
              <a:gd name="adj" fmla="val 50000"/>
            </a:avLst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1956816"/>
            <a:ext cx="292608" cy="24130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61288" y="1938528"/>
            <a:ext cx="4937760" cy="530352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18000"/>
              </a:lnSpc>
            </a:pPr>
            <a:r>
              <a:rPr sz="1300" b="0">
                <a:solidFill>
                  <a:srgbClr val="231D3D"/>
                </a:solidFill>
                <a:latin typeface="Microsoft YaHei"/>
                <a:ea typeface="Microsoft YaHei"/>
              </a:rPr>
              <a:t>个人项目档案袋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526280"/>
            <a:ext cx="5349240" cy="749808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617720"/>
            <a:ext cx="502920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1">
                <a:solidFill>
                  <a:srgbClr val="3D2E8C"/>
                </a:solidFill>
                <a:latin typeface="Microsoft YaHei"/>
                <a:ea typeface="Microsoft YaHei"/>
              </a:rPr>
              <a:t>提交物：</a:t>
            </a:r>
            <a:r>
              <a:rPr sz="1050" b="0">
                <a:solidFill>
                  <a:srgbClr val="231D3D"/>
                </a:solidFill>
                <a:latin typeface="Microsoft YaHei"/>
                <a:ea typeface="Microsoft YaHei"/>
              </a:rPr>
              <a:t>学号_姓名_W20.py + 运行截图（含文件名）+ 工单决策记录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556248" y="1389888"/>
            <a:ext cx="5159959" cy="3977639"/>
          </a:xfrm>
          <a:prstGeom prst="roundRect">
            <a:avLst>
              <a:gd name="adj" fmla="val 5500"/>
            </a:avLst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30568" y="1536192"/>
            <a:ext cx="4611319" cy="365760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下次课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30568" y="1956816"/>
            <a:ext cx="4611319" cy="9144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综合项目答辩 · 把12周装进一个故事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30568" y="3017520"/>
            <a:ext cx="4611319" cy="310896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为什么接下来学它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30568" y="3364992"/>
            <a:ext cx="4611319" cy="12344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D8E1EC"/>
                </a:solidFill>
                <a:latin typeface="Microsoft YaHei"/>
                <a:ea typeface="Microsoft YaHei"/>
              </a:rPr>
              <a:t>课程收官：把所学串成完整交付物，答辩见真章。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30568" y="4663440"/>
            <a:ext cx="4611319" cy="603504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0">
                <a:solidFill>
                  <a:srgbClr val="C9D4E4"/>
                </a:solidFill>
                <a:latin typeface="Microsoft YaHei"/>
                <a:ea typeface="Microsoft YaHei"/>
              </a:rPr>
              <a:t>预习动作：微课视频 + 导学单先行；带着一个问题上考场。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75488" y="5596128"/>
            <a:ext cx="11240719" cy="777240"/>
          </a:xfrm>
          <a:prstGeom prst="roundRect">
            <a:avLst>
              <a:gd name="adj" fmla="val 5500"/>
            </a:avLst>
          </a:prstGeom>
          <a:solidFill>
            <a:srgbClr val="EAE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5705856"/>
            <a:ext cx="10881360" cy="566928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>
                <a:solidFill>
                  <a:srgbClr val="3D2E8C"/>
                </a:solidFill>
                <a:latin typeface="Microsoft YaHei"/>
                <a:ea typeface="Microsoft YaHei"/>
              </a:rPr>
              <a:t>工具链：PyCharm CE（主编辑器） · Jupyter（实训） · Git/GitHub（每周提交） · conda环境</a:t>
            </a:r>
            <a:r>
              <a:rPr sz="1100" b="0">
                <a:solidFill>
                  <a:srgbClr val="5F5A7D"/>
                </a:solidFill>
                <a:latin typeface="Microsoft YaHei"/>
                <a:ea typeface="Microsoft YaHei"/>
              </a:rPr>
              <a:t>
报错了？先查《报错翻译对照表》，再看微课'排错三步法'。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1A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041648" y="1920240"/>
            <a:ext cx="4114800" cy="82296"/>
          </a:xfrm>
          <a:prstGeom prst="rect">
            <a:avLst/>
          </a:prstGeom>
          <a:solidFill>
            <a:srgbClr val="00A6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240280"/>
            <a:ext cx="9235440" cy="100584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</a:rPr>
              <a:t>感谢垂听 · 动手出真知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0" y="3310128"/>
            <a:ext cx="9235440" cy="45720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C9D4E4"/>
                </a:solidFill>
                <a:latin typeface="Microsoft YaHei"/>
                <a:ea typeface="Microsoft YaHei"/>
              </a:rPr>
              <a:t>把今天的工单跑绿，就是给下周的自己铺路。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51760" y="4160520"/>
            <a:ext cx="6858000" cy="1417320"/>
          </a:xfrm>
          <a:prstGeom prst="roundRect">
            <a:avLst>
              <a:gd name="adj" fmla="val 5500"/>
            </a:avLst>
          </a:prstGeom>
          <a:solidFill>
            <a:srgbClr val="3141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80360" y="4279392"/>
            <a:ext cx="6400800" cy="329184"/>
          </a:xfrm>
          <a:prstGeom prst="rect">
            <a:avLst/>
          </a:prstGeom>
          <a:noFill/>
        </p:spPr>
        <p:txBody>
          <a:bodyPr wrap="square" anchor="ctr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A6A6"/>
                </a:solidFill>
                <a:latin typeface="Microsoft YaHei"/>
                <a:ea typeface="Microsoft YaHei"/>
              </a:rPr>
              <a:t>课后三件事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4626864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1. 工单Z跑绿并上传学习平台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4956048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2. 错题本记1条今天踩的坑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5285232"/>
            <a:ext cx="64008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>
                <a:solidFill>
                  <a:srgbClr val="D8E1EC"/>
                </a:solidFill>
                <a:latin typeface="Microsoft YaHei"/>
                <a:ea typeface="Microsoft YaHei"/>
              </a:rPr>
              <a:t>3. 预习微课+导学单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5779008"/>
            <a:ext cx="6858000" cy="365760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0A6A6"/>
                </a:solidFill>
                <a:latin typeface="Microsoft YaHei"/>
                <a:ea typeface="Microsoft YaHei"/>
              </a:rPr>
              <a:t>下次课 → 综合项目答辩 · 把12周装进一个故事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" y="6419088"/>
            <a:ext cx="10515600" cy="310896"/>
          </a:xfrm>
          <a:prstGeom prst="rect">
            <a:avLst/>
          </a:prstGeom>
          <a:noFill/>
        </p:spPr>
        <p:txBody>
          <a:bodyPr wrap="square" anchor="t" lIns="18288" rIns="18288" tIns="9144" bIns="9144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>
                <a:solidFill>
                  <a:srgbClr val="8C99B5"/>
                </a:solidFill>
                <a:latin typeface="Microsoft YaHei"/>
                <a:ea typeface="Microsoft YaHei"/>
              </a:rPr>
              <a:t>AI应用基础（48课时版） · V1 · W20-24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综合项目答辩（下）：优化</dc:title>
  <dc:subject/>
  <dc:creator>两江智造教学组</dc:creator>
  <cp:keywords/>
  <dc:description>V1.1 · easyslides 规范重制（页面充实版）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