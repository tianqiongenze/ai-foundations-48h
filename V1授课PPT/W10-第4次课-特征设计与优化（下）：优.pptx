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9" r:id="rId30"/>
    <p:sldId id="280" r:id="rId31"/>
    <p:sldId id="278" r:id="rId29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19.xml"/><Relationship Id="rId30" Type="http://schemas.openxmlformats.org/officeDocument/2006/relationships/slide" Target="slides/slide17.xml"/><Relationship Id="rId31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5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535192"/>
            <a:ext cx="5029200" cy="378761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777240"/>
            <a:ext cx="3322076" cy="289559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3322076" cy="289559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AI应用基础（48课时版） · 12周·48课时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59436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A6A6"/>
                </a:solidFill>
                <a:latin typeface="Microsoft YaHei"/>
                <a:ea typeface="Microsoft YaHei"/>
              </a:rPr>
              <a:t>W10 · 第4次课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585216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特征设计与优化（下）：优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1122116" cy="27749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1122116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工单 M1-1b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99356" y="3931920"/>
            <a:ext cx="2787904" cy="27749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99356" y="3931920"/>
            <a:ext cx="2787904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特征设计与优化（下）：优化与评价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43984"/>
            <a:ext cx="3318845" cy="253365"/>
          </a:xfrm>
          <a:prstGeom prst="roundRect">
            <a:avLst>
              <a:gd name="adj" fmla="val 50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443984"/>
            <a:ext cx="3318845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本节（下）：优化与评价 · 复盘冲刺 + 三层质检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56048"/>
            <a:ext cx="5669280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C9D4E4"/>
                </a:solidFill>
                <a:latin typeface="Microsoft YaHei"/>
                <a:ea typeface="Microsoft YaHei"/>
              </a:rPr>
              <a:t>数据洗净了，林工却摇头：'同样的模型，好特征胜过换模型。'他递来一张特征字典模板：'从振动里造出10个特征，让我看见你的巧思。'工单M1-1b：EDA+特征工程，用特征重要性…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C99B5"/>
                </a:solidFill>
                <a:latin typeface="Microsoft YaHei"/>
                <a:ea typeface="Microsoft YaHei"/>
              </a:rPr>
              <a:t>重庆两江智造集团 · 双创中心302实训室 · V1重制版（easyslides规范）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课前回顾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W10-04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616979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61697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RECAP · 课前五分钟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上次课你带走了什么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先测后讲：两道口头快答，答不上就翻回上节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44752"/>
            <a:ext cx="603504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76656" y="1572768"/>
            <a:ext cx="777240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1572768"/>
            <a:ext cx="77724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快答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1865376"/>
            <a:ext cx="56235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W5课中查①：'resample报错'这个报错怎么排查？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2414016"/>
            <a:ext cx="562356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提示：回看上节'四要素详解'页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" y="2907792"/>
            <a:ext cx="603504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6656" y="3035808"/>
            <a:ext cx="777240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035808"/>
            <a:ext cx="77724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快答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" y="3328416"/>
            <a:ext cx="56235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W5课中查②：优秀线特征-30%性能不降你打算怎么冲？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" y="3877056"/>
            <a:ext cx="562356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提示：回看上节'四要素详解'页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39128" y="1444752"/>
            <a:ext cx="4977079" cy="141732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58584" y="1554480"/>
            <a:ext cx="4538167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D2E8C"/>
                </a:solidFill>
                <a:latin typeface="Microsoft YaHei"/>
                <a:ea typeface="Microsoft YaHei"/>
              </a:rPr>
              <a:t>本周重点回顾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58584" y="1920240"/>
            <a:ext cx="4538167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31D3D"/>
                </a:solidFill>
                <a:latin typeface="Microsoft YaHei"/>
                <a:ea typeface="Microsoft YaHei"/>
              </a:rPr>
              <a:t>· 时域/频域特征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58584" y="2359152"/>
            <a:ext cx="4538167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31D3D"/>
                </a:solidFill>
                <a:latin typeface="Microsoft YaHei"/>
                <a:ea typeface="Microsoft YaHei"/>
              </a:rPr>
              <a:t>· 相关性初筛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39128" y="2999232"/>
            <a:ext cx="4977079" cy="1207008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58584" y="3108960"/>
            <a:ext cx="4538167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8A6D1D"/>
                </a:solidFill>
                <a:latin typeface="Microsoft YaHei"/>
                <a:ea typeface="Microsoft YaHei"/>
              </a:rPr>
              <a:t>上节最容易踩的坑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58584" y="3456432"/>
            <a:ext cx="4538167" cy="67665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1">
                <a:solidFill>
                  <a:srgbClr val="8A6D1D"/>
                </a:solidFill>
                <a:latin typeface="Microsoft YaHei"/>
                <a:ea typeface="Microsoft YaHei"/>
              </a:rPr>
              <a:t>KeyError列名错：列名大小写或空格不符
</a:t>
            </a:r>
            <a:r>
              <a:rPr sz="1100" b="0">
                <a:solidFill>
                  <a:srgbClr val="17855A"/>
                </a:solidFill>
                <a:latin typeface="Microsoft YaHei"/>
                <a:ea typeface="Microsoft YaHei"/>
              </a:rPr>
              <a:t>修法：df.columns先查看并strip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5488" y="4443984"/>
            <a:ext cx="11240719" cy="1097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4562856"/>
            <a:ext cx="1088136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本节（下）：优化与评价——错误复盘 + B/A层冲刺 + 三层质检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4983480"/>
            <a:ext cx="10881360" cy="47548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F5A7D"/>
                </a:solidFill>
                <a:latin typeface="Microsoft YaHei"/>
                <a:ea typeface="Microsoft YaHei"/>
              </a:rPr>
              <a:t>本节主线：特征=给模型的体检指标：时域（均值/峰值/RMS）与频域（… / 特征字典：名称/公式/物理意义/取值范围四栏缺一不可 / 相关性初筛：|r|&gt;0.95的特征对留一个即可（冗余）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W10-04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3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GOALS &amp;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这节课结束时，你能做到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目标可测量：及格线/优秀线写在工单上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3612794" cy="82296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能从振动序列构造≥10个特征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检验：口头复述+快答2题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9450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9450" y="1389888"/>
            <a:ext cx="3612794" cy="82296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8906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906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会用特征重要性证明设计价值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4042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3770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检验：工单运行通过+截图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3412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3412" y="1389888"/>
            <a:ext cx="3612794" cy="82296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2868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能力目标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2868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完成本课工单并当堂通过检查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68004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7732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检验：同桌互查代码规范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3950208"/>
            <a:ext cx="11240719" cy="159105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078224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3D2E8C"/>
                </a:solidFill>
                <a:latin typeface="Microsoft YaHei"/>
                <a:ea typeface="Microsoft YaHei"/>
              </a:rPr>
              <a:t>课堂节奏（80分钟）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4535424"/>
            <a:ext cx="1242466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535424"/>
            <a:ext cx="124246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1.错误速查复盘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888223" y="4535424"/>
            <a:ext cx="1616710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88223" y="4535424"/>
            <a:ext cx="161671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2.优化冲刺（B/A层）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6639" y="4535424"/>
            <a:ext cx="1242466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6639" y="4535424"/>
            <a:ext cx="124246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3.三层质检互查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65055" y="4535424"/>
            <a:ext cx="137708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65055" y="4535424"/>
            <a:ext cx="137708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4.当堂评分与反馈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303471" y="4535424"/>
            <a:ext cx="1449781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03471" y="4535424"/>
            <a:ext cx="1449781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5.下次课预告+微课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8" y="5084064"/>
            <a:ext cx="10692079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节奏纪律：讲10分钟必须动手一次；实操环节教师只答疑不代写——卡住先查《报错翻译对照表》，再举手。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A6A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知识精讲 · 讲透每个概念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本章聚焦：时域/频域特征 · 相关性初筛 · 特征字典规范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特征重要性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("特征重要性=模型训练后自报'谁帮了大忙'：树模型按分裂增益打分…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好特征胜过换模型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('好特征胜过换模型：垃圾进垃圾出(GIGO)——同样算法，特征好…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特征泄漏预警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("特征泄漏=训练时用了'未来信息'：如用'修复后状态'预测'是否…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0A6A6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AI应用基础（48课时版） · V1 · W10-04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W10-04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5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B04 特征重要性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树模型给特征打分——让数据投票谁重要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原理：特征重要性=模型训练后自报'谁帮了大忙'：树模型按分裂增益打分——数据投票选出Top特征，可解释性第一课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向车间解释模型看什么——可解释性入口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怎么判断：训练完看importance排序：Top3特征与业务理解吻合吗？不吻合要查数据（可能是泄漏特征混入）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Consolas"/>
                <a:ea typeface="Microsoft YaHei"/>
              </a:rPr>
              <a:t>model.feature_importances_ 排序画条形图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Consolas"/>
                <a:ea typeface="Microsoft YaHei"/>
              </a:rPr>
              <a:t>逐行看：importances=model.feature_importances_; sorted(zip(names,importances),key=lambda x:-x[1]) 榜单——v…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重要性高≠因果——只是对预测贡献大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进阶：SHAP值（进阶）看单样本归因；重要性不稳定（换种子榜变动大）用多次平均；只删尾部冗余别贪多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W10-04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6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特征重要性：一张图看懂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55994" y="1362456"/>
            <a:ext cx="6662748" cy="37581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727eefafb312d5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426" y="1389888"/>
            <a:ext cx="6607884" cy="3703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Top3 特征贡献了大部分判别力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重要性低 ≠ 无用：可能与 Top 特征相关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追问：重要性高≠因果——只是对预测贡献大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231D3D"/>
                </a:solidFill>
                <a:latin typeface="Microsoft YaHei"/>
                <a:ea typeface="Microsoft YaHei"/>
              </a:rPr>
              <a:t>一句话：树模型给特征打分——让数据投票谁重要</a:t>
            </a: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
何时用：向车间解释模型看什么——可解释性入口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W10-04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7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B05 好特征胜过换模型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同模型下特征增益常大于算法升级——先磨刀再换刀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原理：好特征胜过换模型：垃圾进垃圾出(GIGO)——同样算法，特征好提5个点比调参一整天更值——特征工程是性价比之王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准确率卡住时先问：特征榨干了吗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怎么判断：准确率卡住时先别换模型：回头做A/B特征实验（加/减一个特征看指标变化）——归因明确的改进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Consolas"/>
                <a:ea typeface="Microsoft YaHei"/>
              </a:rPr>
              <a:t>加'峰值因子'比换XGB更有效时先加特征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Consolas"/>
                <a:ea typeface="Microsoft YaHei"/>
              </a:rPr>
              <a:t>逐行看：基线(原特征)F1=0.78；加峭度特征→0.83；换XGBoost→0.82 —— 特征+5pt &gt; 模型+4pt，工时还少——对比实验表最有说服力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误区：急着上深度学习——先榨干特征红利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进阶：消融实验（一次只改一处）是归因的黄金标准；特征迭代记录进实验台账——每分提升可追溯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W10-04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8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好特征胜过换模型：一张图看懂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55994" y="1362456"/>
            <a:ext cx="6662748" cy="37581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483d9c55493f2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426" y="1389888"/>
            <a:ext cx="6607884" cy="3703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Top3 特征贡献了大部分判别力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重要性低 ≠ 无用：可能与 Top 特征相关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追问：误区：急着上深度学习——先榨干特征红利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231D3D"/>
                </a:solidFill>
                <a:latin typeface="Microsoft YaHei"/>
                <a:ea typeface="Microsoft YaHei"/>
              </a:rPr>
              <a:t>一句话：同模型下特征增益常大于算法升级——先磨刀再换刀</a:t>
            </a: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
何时用：准确率卡住时先问：特征榨干了吗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W10-04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9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B06 特征泄漏预警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用了未来才知道的列——线下虚高线上翻车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原理：特征泄漏=训练时用了'未来信息'：如用'修复后状态'预测'是否故障'——线下满分线上翻车，多数源于此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把'故障后维修记录'当特征是典型事故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怎么判断：凡特征与标签'同时产生或事后才知'即嫌疑：报修时间戳/维修工号/事后录的结论列——上线前逐列审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Consolas"/>
                <a:ea typeface="Microsoft YaHei"/>
              </a:rPr>
              <a:t>逐列自问：这一列在预测时刻拿得到吗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Consolas"/>
                <a:ea typeface="Microsoft YaHei"/>
              </a:rPr>
              <a:t>逐行看：leak_cols=['repair_time','fix_result'] 特征表里出现即红灯；时间基准检查：特征只能用t时刻之前的数据——滚动特征(过去1小时均值)才安全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分数突然99%先查泄漏——线下第一杀手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进阶：按时间切分train/test（不能随机切）；上线后效果暴跌先查泄漏；SHAP异常大的特征往往就是泄漏源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W10-04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10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特征泄漏预警：一张图看懂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55994" y="1362456"/>
            <a:ext cx="6662748" cy="37581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eb824c625ea9a7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426" y="1389888"/>
            <a:ext cx="6607884" cy="3703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Top3 特征贡献了大部分判别力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重要性低 ≠ 无用：可能与 Top 特征相关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追问：分数突然99%先查泄漏——线下第一杀手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231D3D"/>
                </a:solidFill>
                <a:latin typeface="Microsoft YaHei"/>
                <a:ea typeface="Microsoft YaHei"/>
              </a:rPr>
              <a:t>一句话：用了未来才知道的列——线下虚高线上翻车</a:t>
            </a: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
何时用：把'故障后维修记录'当特征是典型事故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A6A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技能实操 · 代码跑起来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本章聚焦：时域/频域特征 · 相关性初筛 · 特征字典规范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384048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3840480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840480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时域特征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g = df.set_index("ts").resamp…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33425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33425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33425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重要性排序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3425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from sklearn.ensemble import 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482803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82803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82803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能从振动序列构造≥10…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2803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能从振动序列构造≥10个特征——应用：见工单starter与教师参…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32180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32180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32180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能写规范特征字典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2180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能写规范特征字典——应用：见工单starter与教师参考实现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5815584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5815584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815584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能用重要性排序精选子集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815584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能用重要性排序精选子集——应用：见工单starter与教师参考实现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0A6A6"/>
                </a:solidFill>
                <a:latin typeface="Microsoft YaHei"/>
                <a:ea typeface="Microsoft YaHei"/>
              </a:rPr>
              <a:t>本章产出：四要素详解页×5 · 图解页×3 · 可跟打代码页×2 · 工单与分层工单各1份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AI应用基础（48课时版） · V1 · W10-04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W10-04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12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时域特征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代码节选 · 依赖工单/starter 上下文（课堂跟打 starter 看完整运行）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14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代码节选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g = df.set_index("ts").resample("10min")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feat = g.agg(["mean", "max", "std"])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feat["rms"] = (df["vib"] ** 2).resample("10min").mean() ** .5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本段引用工单上下文变量（starter 已备好）——跟打 starter 后取消注释对应行即可复现。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W10-04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13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重要性排序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代码节选 · 依赖工单/starter 上下文（课堂跟打 starter 看完整运行）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14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代码节选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from sklearn.ensemble import RandomForestClassifier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rf = RandomForestClassifier(n_estimators=100).fit(X, y)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imp = pd.Series(rf.feature_importances_, index=X.columns).sort_values()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本段引用工单上下文变量（starter 已备好）——跟打 starter 后取消注释对应行即可复现。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避坑指南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W10-04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14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DEBUG · 常见报错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报错翻译：程序'说'了什么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报错是程序在说话——先读最后一行，再往上找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11240719" cy="457200"/>
          </a:xfrm>
          <a:prstGeom prst="roundRect">
            <a:avLst>
              <a:gd name="adj" fmla="val 55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463040"/>
            <a:ext cx="27889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报错/现象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1463040"/>
            <a:ext cx="37490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为什么会这样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1463040"/>
            <a:ext cx="39776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怎么修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47088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1938528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resample报错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1938528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ts不是DatetimeIndex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1938528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set_index后或parse_dates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880360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5F4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2971800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特征全0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2971800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窗口内数据缺失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8" y="2971800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先做W1清洗再回填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9136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005072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重要性集中1个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8" y="4005072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存在泄漏列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8" y="4005072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检查是否用了标签衍生信息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992624"/>
            <a:ext cx="11240719" cy="71323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① 读最后一行  </a:t>
            </a: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报错类型+行号都在这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② 定位变量  </a:t>
            </a: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NameError=没定义/拼错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③ 最小复现  </a:t>
            </a: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注释一半再跑，二分找错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A6A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工单实战 · 按单交付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本章聚焦：时域/频域特征 · 相关性初筛 · 特征字典规范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按工单步骤逐项打勾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及格/优秀线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D/C保底 · B/A冲刺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A/B/C/D分层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按当前水平选起点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0A6A6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AI应用基础（48课时版） · V1 · W10-04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工单实战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W10-04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16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WORK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工单 M1-1b · 特征设计与优化（下）：优化与评价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按单交付：及格线保底，优秀线冲刺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583680" cy="4709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499616"/>
            <a:ext cx="603504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9202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9202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1901952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能从振动序列构造≥10个特征——应用：见工单starter与教师参考实现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505456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505456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2487168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能写规范特征字典——应用：见工单starter与教师参考实现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0906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0906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3072384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能用重要性排序精选子集——应用：见工单starter与教师参考实现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367588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367588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25296" y="3657600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能做A/B对比证明特征价值——应用：见工单starter与教师参考实现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526280"/>
            <a:ext cx="6035040" cy="1389888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6" y="4617720"/>
            <a:ext cx="566928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验收清单（教师按此打分）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0976" y="4992624"/>
            <a:ext cx="146304" cy="146304"/>
          </a:xfrm>
          <a:prstGeom prst="rect">
            <a:avLst/>
          </a:prstGeom>
          <a:noFill/>
          <a:ln w="15240">
            <a:solidFill>
              <a:srgbClr val="3D2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88720" y="4928616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31D3D"/>
                </a:solidFill>
                <a:latin typeface="Microsoft YaHei"/>
                <a:ea typeface="Microsoft YaHei"/>
              </a:rPr>
              <a:t>程序运行无报错，输出与示例一致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0976" y="5303520"/>
            <a:ext cx="146304" cy="146304"/>
          </a:xfrm>
          <a:prstGeom prst="rect">
            <a:avLst/>
          </a:prstGeom>
          <a:noFill/>
          <a:ln w="15240">
            <a:solidFill>
              <a:srgbClr val="3D2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88720" y="5239512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31D3D"/>
                </a:solidFill>
                <a:latin typeface="Microsoft YaHei"/>
                <a:ea typeface="Microsoft YaHei"/>
              </a:rPr>
              <a:t>截图含完整运行结果与文件名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0976" y="5614416"/>
            <a:ext cx="146304" cy="146304"/>
          </a:xfrm>
          <a:prstGeom prst="rect">
            <a:avLst/>
          </a:prstGeom>
          <a:noFill/>
          <a:ln w="15240">
            <a:solidFill>
              <a:srgbClr val="3D2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88720" y="5550408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31D3D"/>
                </a:solidFill>
                <a:latin typeface="Microsoft YaHei"/>
                <a:ea typeface="Microsoft YaHei"/>
              </a:rPr>
              <a:t>变量命名规范率达标（snake_case）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87768" y="1371600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25512" y="1499616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A4A63"/>
                </a:solidFill>
                <a:latin typeface="Microsoft YaHei"/>
                <a:ea typeface="Microsoft YaHei"/>
              </a:rPr>
              <a:t>及格线 · D/C层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25512" y="1865376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特征≥10个且字典完整 / 重要性图可解读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2779776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检查方式：运行+截图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287768" y="3246119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25512" y="3374135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A6A6"/>
                </a:solidFill>
                <a:latin typeface="Microsoft YaHei"/>
                <a:ea typeface="Microsoft YaHei"/>
              </a:rPr>
              <a:t>优秀线 · B/A层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25512" y="3739895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特征-30%性能不降 / 造出1个'业务洞察'特征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25512" y="4654295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检查方式：运行+规范+答辩追问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287768" y="5138928"/>
            <a:ext cx="4428439" cy="941832"/>
          </a:xfrm>
          <a:prstGeom prst="roundRect">
            <a:avLst>
              <a:gd name="adj" fmla="val 5500"/>
            </a:avLst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25512" y="5257800"/>
            <a:ext cx="397123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</a:rPr>
              <a:t>提交物</a:t>
            </a: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
代码文件+运行截图+工单决策记录（上传学习平台）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工单完成效果图 · 先看终点（本课目标预览）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W10-04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17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63040" cy="256032"/>
          </a:xfrm>
          <a:prstGeom prst="roundRect">
            <a:avLst>
              <a:gd name="adj" fmla="val 6000"/>
            </a:avLst>
          </a:prstGeom>
          <a:solidFill>
            <a:srgbClr val="00A6A6"/>
          </a:solidFill>
          <a:ln w="9525">
            <a:solidFill>
              <a:srgbClr val="00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DONE 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231D3D"/>
                </a:solidFill>
              </a:rPr>
              <a:t>工单完成效果图 · 完成后长这样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37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5A7D"/>
                </a:solidFill>
              </a:rPr>
              <a:t>真实运行 · 参考实现——先看清'交付标准答案'，再动手写自己的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1371600"/>
            <a:ext cx="11237976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75488" y="3794760"/>
            <a:ext cx="11237976" cy="118872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75488" y="5074920"/>
            <a:ext cx="11237976" cy="123444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9808" y="1517904"/>
            <a:ext cx="1069848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D2E8C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=== 工单 M1-1b 特征设计与优化 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特征矩阵: 80 样本 × 5 特征  训练准确率 1.000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特征重要性排序: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1. a16   0.580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2. rms   0.258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3. ptp   0.111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4. kurt  0.025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5. a8    0.025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结论: 频域 16Hz 幅值（磨损的二倍频指纹）判别力最强 → 特征设计直接决定模型上限。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931920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231D3D"/>
                </a:solidFill>
              </a:rPr>
              <a:t>□ 代码从头跑到尾不报错（python xx.py 再跑一遍）</a:t>
            </a:r>
          </a:p>
          <a:p>
            <a:pPr algn="l">
              <a:spcBef>
                <a:spcPts val="100"/>
              </a:spcBef>
            </a:pPr>
            <a:r>
              <a:rPr sz="1150" b="0">
                <a:solidFill>
                  <a:srgbClr val="231D3D"/>
                </a:solidFill>
              </a:rPr>
              <a:t>□ 指标达标：与工单及格线逐项对齐（准确率/F1/耗时）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212080"/>
            <a:ext cx="10698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231D3D"/>
                </a:solidFill>
              </a:rPr>
              <a:t>达标线：D≥60 / C≥70 / B≥80 / A≥90　｜　提交：学号_姓名_工单号 + 运行截图 + 决策记录 + Git≥1次commit</a:t>
            </a:r>
          </a:p>
          <a:p>
            <a:pPr algn="l">
              <a:spcBef>
                <a:spcPts val="100"/>
              </a:spcBef>
            </a:pPr>
            <a:r>
              <a:rPr sz="1100" b="0">
                <a:solidFill>
                  <a:srgbClr val="5F5A7D"/>
                </a:solidFill>
              </a:rPr>
              <a:t>复核：自检 → 互检 → 师查（三层质检）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本工单的工程化项目 · 第三种代码形态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W10-04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18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63040" cy="256032"/>
          </a:xfrm>
          <a:prstGeom prst="roundRect">
            <a:avLst>
              <a:gd name="adj" fmla="val 6000"/>
            </a:avLst>
          </a:prstGeom>
          <a:solidFill>
            <a:srgbClr val="00A6A6"/>
          </a:solidFill>
          <a:ln w="9525">
            <a:solidFill>
              <a:srgbClr val="00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DONE 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231D3D"/>
                </a:solidFill>
              </a:rPr>
              <a:t>本工单的工程化项目 · 第三种代码形态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37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5A7D"/>
                </a:solidFill>
              </a:rPr>
              <a:t>真实运行 · 参考实现——先看清'交付标准答案'，再动手写自己的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1371600"/>
            <a:ext cx="11237976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75488" y="3794760"/>
            <a:ext cx="11237976" cy="118872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75488" y="5074920"/>
            <a:ext cx="11237976" cy="123444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9808" y="1517904"/>
            <a:ext cx="1069848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D2E8C"/>
                </a:solidFill>
              </a:rPr>
              <a:t>① 项目位置与一键运行</a:t>
            </a:r>
          </a:p>
          <a:p>
            <a:pPr algn="l"/>
            <a:r>
              <a:rPr sz="1400" b="1">
                <a:solidFill>
                  <a:srgbClr val="3D2E8C"/>
                </a:solidFill>
              </a:rPr>
              <a:t>工程化项目/m11b_feature_design/</a:t>
            </a:r>
          </a:p>
          <a:p>
            <a:pPr algn="l"/>
            <a:r>
              <a:rPr sz="1400" b="1">
                <a:solidFill>
                  <a:srgbClr val="3D2E8C"/>
                </a:solidFill>
              </a:rPr>
              <a:t>python run.py          # 输出 output/report.txt + result.json</a:t>
            </a:r>
          </a:p>
          <a:p>
            <a:pPr algn="l"/>
            <a:r>
              <a:rPr sz="1400" b="1">
                <a:solidFill>
                  <a:srgbClr val="3D2E8C"/>
                </a:solidFill>
              </a:rPr>
              <a:t>python -m pytest -q    # 全量测试应全绿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931920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② 目录结构（23 个文件）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config/rules.yaml      规则外置：改配置不改代码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src/feature_design48/  config · core · io_utils · report · pipeline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tests/      正常 / 边界 / 异常三档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212080"/>
            <a:ext cx="10698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③ 国标与 TOGAF 落地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GB/T 9385 需求规格 / 15532 测试 / 8567 文档 / 8566 过程组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TOGAF 四域：业务 · 数据 · 应用 · 技术架构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docs/07 ADR-001 架构决策记录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工单完成效果图 · 课末对照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W10-04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19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63040" cy="256032"/>
          </a:xfrm>
          <a:prstGeom prst="roundRect">
            <a:avLst>
              <a:gd name="adj" fmla="val 6000"/>
            </a:avLst>
          </a:prstGeom>
          <a:solidFill>
            <a:srgbClr val="00A6A6"/>
          </a:solidFill>
          <a:ln w="9525">
            <a:solidFill>
              <a:srgbClr val="00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DONE 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231D3D"/>
                </a:solidFill>
              </a:rPr>
              <a:t>工单完成效果图 · 完成后长这样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37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5A7D"/>
                </a:solidFill>
              </a:rPr>
              <a:t>真实运行 · 参考实现——先看清'交付标准答案'，再动手写自己的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1371600"/>
            <a:ext cx="11237976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75488" y="3794760"/>
            <a:ext cx="11237976" cy="118872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75488" y="5074920"/>
            <a:ext cx="11237976" cy="123444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9808" y="1517904"/>
            <a:ext cx="1069848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D2E8C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=== 工单 M1-1b 特征设计与优化 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特征矩阵: 80 样本 × 5 特征  训练准确率 1.000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特征重要性排序: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1. a16   0.580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2. rms   0.258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3. ptp   0.111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4. kurt  0.025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5. a8    0.025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结论: 频域 16Hz 幅值（磨损的二倍频指纹）判别力最强 → 特征设计直接决定模型上限。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931920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231D3D"/>
                </a:solidFill>
              </a:rPr>
              <a:t>□ 代码从头跑到尾不报错（python xx.py 再跑一遍）</a:t>
            </a:r>
          </a:p>
          <a:p>
            <a:pPr algn="l">
              <a:spcBef>
                <a:spcPts val="100"/>
              </a:spcBef>
            </a:pPr>
            <a:r>
              <a:rPr sz="1150" b="0">
                <a:solidFill>
                  <a:srgbClr val="231D3D"/>
                </a:solidFill>
              </a:rPr>
              <a:t>□ 指标达标：与工单及格线逐项对齐（准确率/F1/耗时）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212080"/>
            <a:ext cx="10698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231D3D"/>
                </a:solidFill>
              </a:rPr>
              <a:t>达标线：D≥60 / C≥70 / B≥80 / A≥90　｜　提交：学号_姓名_工单号 + 运行截图 + 决策记录 + Git≥1次commit</a:t>
            </a:r>
          </a:p>
          <a:p>
            <a:pPr algn="l">
              <a:spcBef>
                <a:spcPts val="100"/>
              </a:spcBef>
            </a:pPr>
            <a:r>
              <a:rPr sz="1100" b="0">
                <a:solidFill>
                  <a:srgbClr val="5F5A7D"/>
                </a:solidFill>
              </a:rPr>
              <a:t>复核：自检 → 互检 → 师查（三层质检）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分层任务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W10-04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20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58666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58666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A/B/C/D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同一工单，四条爬梯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按当前水平选起点，D层保底人人可交付，A层给足挑战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2686735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 层 · 挑战层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业务洞察特征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36976"/>
            <a:ext cx="2270155" cy="229235"/>
          </a:xfrm>
          <a:prstGeom prst="roundRect">
            <a:avLst>
              <a:gd name="adj" fmla="val 50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236976"/>
            <a:ext cx="2270155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31D3D"/>
                </a:solidFill>
                <a:latin typeface="Microsoft YaHei"/>
                <a:ea typeface="Microsoft YaHei"/>
              </a:rPr>
              <a:t>达标：新特征进Top3且有物理解释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结合泵机理造新特征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如温升速率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验证增益并写洞察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0392B"/>
                </a:solidFill>
                <a:latin typeface="Microsoft YaHei"/>
                <a:ea typeface="Microsoft YaHei"/>
              </a:rPr>
              <a:t>卡壳&gt;10分钟→降B层，先拿过程分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6815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26815" y="1389888"/>
            <a:ext cx="2686735" cy="77724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09695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B 层 · 进阶层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9695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精选子集A/B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9695" y="3236976"/>
            <a:ext cx="1758599" cy="229235"/>
          </a:xfrm>
          <a:prstGeom prst="roundRect">
            <a:avLst>
              <a:gd name="adj" fmla="val 50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9695" y="3236976"/>
            <a:ext cx="1758599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31D3D"/>
                </a:solidFill>
                <a:latin typeface="Microsoft YaHei"/>
                <a:ea typeface="Microsoft YaHei"/>
              </a:rPr>
              <a:t>达标：特征-30%性能不降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9695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重要性排序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9695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取Top-k做A/B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9695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记录性能数量曲线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9695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00A6A6"/>
                </a:solidFill>
                <a:latin typeface="Microsoft YaHei"/>
                <a:ea typeface="Microsoft YaHei"/>
              </a:rPr>
              <a:t>完成C层后冲刺：先跑通再优化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8143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8143" y="1389888"/>
            <a:ext cx="2686735" cy="77724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1023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C 层 · 基础层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1023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10特征加字典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61023" y="3236976"/>
            <a:ext cx="1817428" cy="229235"/>
          </a:xfrm>
          <a:prstGeom prst="roundRect">
            <a:avLst>
              <a:gd name="adj" fmla="val 50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1023" y="3236976"/>
            <a:ext cx="1817428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31D3D"/>
                </a:solidFill>
                <a:latin typeface="Microsoft YaHei"/>
                <a:ea typeface="Microsoft YaHei"/>
              </a:rPr>
              <a:t>达标：≥10特征且字典完整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1023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补RMS峰峰值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1023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加频域主频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1023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字典四栏填全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1023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D2E8C"/>
                </a:solidFill>
                <a:latin typeface="Microsoft YaHei"/>
                <a:ea typeface="Microsoft YaHei"/>
              </a:rPr>
              <a:t>照示例改参数，跑通即得分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29471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29471" y="1389888"/>
            <a:ext cx="2686735" cy="777240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12351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D 层 · 保底层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2351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跟做5个时域特征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12351" y="3236976"/>
            <a:ext cx="1541188" cy="229235"/>
          </a:xfrm>
          <a:prstGeom prst="roundRect">
            <a:avLst>
              <a:gd name="adj" fmla="val 50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12351" y="3236976"/>
            <a:ext cx="1541188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31D3D"/>
                </a:solidFill>
                <a:latin typeface="Microsoft YaHei"/>
                <a:ea typeface="Microsoft YaHei"/>
              </a:rPr>
              <a:t>达标：5特征表能跑通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12351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groupby窗口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2351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算mean/max/std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12351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拼成特征表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2351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A4A63"/>
                </a:solidFill>
                <a:latin typeface="Microsoft YaHei"/>
                <a:ea typeface="Microsoft YaHei"/>
              </a:rPr>
              <a:t>逐行跟打示例，跑通就是胜利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方案决策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W10-04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21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80227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8022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DECISION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特征设计与优化：备选方案决策矩阵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工程不是选最好的，是选当前约束下最划算的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11240719" cy="475488"/>
          </a:xfrm>
          <a:prstGeom prst="roundRect">
            <a:avLst>
              <a:gd name="adj" fmla="val 55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备选方案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3359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可行性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1503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达标概率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29647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工时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77791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结论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" y="1892808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31D3D"/>
                </a:solidFill>
                <a:latin typeface="Microsoft YaHei"/>
                <a:ea typeface="Microsoft YaHei"/>
              </a:rPr>
              <a:t>方案A：按工单主线（starter起步）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51647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9791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47935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适中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96079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00A6A6"/>
                </a:solidFill>
                <a:latin typeface="Microsoft YaHei"/>
                <a:ea typeface="Microsoft YaHei"/>
              </a:rPr>
              <a:t>推荐主干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008376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5F4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31D3D"/>
                </a:solidFill>
                <a:latin typeface="Microsoft YaHei"/>
                <a:ea typeface="Microsoft YaHei"/>
              </a:rPr>
              <a:t>方案B：自选技术路线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51647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99791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47935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96079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00A6A6"/>
                </a:solidFill>
                <a:latin typeface="Microsoft YaHei"/>
                <a:ea typeface="Microsoft YaHei"/>
              </a:rPr>
              <a:t>A层可选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4123944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4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31D3D"/>
                </a:solidFill>
                <a:latin typeface="Microsoft YaHei"/>
                <a:ea typeface="Microsoft YaHei"/>
              </a:rPr>
              <a:t>方案C：直接改现成项目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51647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低（无过程分）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99791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低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47935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96079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00A6A6"/>
                </a:solidFill>
                <a:latin typeface="Microsoft YaHei"/>
                <a:ea typeface="Microsoft YaHei"/>
              </a:rPr>
              <a:t>不建议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5488" y="5285232"/>
            <a:ext cx="11240719" cy="68580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4088" y="5385816"/>
            <a:ext cx="107835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3D2E8C"/>
                </a:solidFill>
                <a:latin typeface="Microsoft YaHei"/>
                <a:ea typeface="Microsoft YaHei"/>
              </a:rPr>
              <a:t>决策纪律：组内打分3分钟，结论与理由写入工单决策记录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课堂检查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W10-04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22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CHECK · 当堂验收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做完不算完，验过才算数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教师抽查 + 同桌互查 + 运行截图三选二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1545336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45336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856232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31D3D"/>
                </a:solidFill>
                <a:latin typeface="Microsoft YaHei"/>
                <a:ea typeface="Microsoft YaHei"/>
              </a:rPr>
              <a:t>W5课中查①：'resample报错'这个报错怎么排查？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423160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" y="2862072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94944" y="2990088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" y="2990088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" y="3300984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31D3D"/>
                </a:solidFill>
                <a:latin typeface="Microsoft YaHei"/>
                <a:ea typeface="Microsoft YaHei"/>
              </a:rPr>
              <a:t>W5课中查②：优秀线特征-30%性能不降你打算怎么冲？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" y="3867912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59168" y="1417320"/>
            <a:ext cx="4657039" cy="2615184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96912" y="1536192"/>
            <a:ext cx="419983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D2E8C"/>
                </a:solidFill>
                <a:latin typeface="Microsoft YaHei"/>
                <a:ea typeface="Microsoft YaHei"/>
              </a:rPr>
              <a:t>当堂评分构成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96912" y="19933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96912" y="1993392"/>
            <a:ext cx="768096" cy="2743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45168" y="19476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D3D"/>
                </a:solidFill>
                <a:latin typeface="Microsoft YaHei"/>
                <a:ea typeface="Microsoft YaHei"/>
              </a:rPr>
              <a:t>运行通过 40%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96912" y="24505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96912" y="2450592"/>
            <a:ext cx="384048" cy="2743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45168" y="2404872"/>
            <a:ext cx="209671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D3D"/>
                </a:solidFill>
                <a:latin typeface="Microsoft YaHei"/>
                <a:ea typeface="Microsoft YaHei"/>
              </a:rPr>
              <a:t>规范与注释 20%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96912" y="29077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96912" y="2907792"/>
            <a:ext cx="384048" cy="2743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45168" y="28620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D3D"/>
                </a:solidFill>
                <a:latin typeface="Microsoft YaHei"/>
                <a:ea typeface="Microsoft YaHei"/>
              </a:rPr>
              <a:t>决策记录 20%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96912" y="33649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296912" y="3364992"/>
            <a:ext cx="384048" cy="2743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45168" y="33192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D3D"/>
                </a:solidFill>
                <a:latin typeface="Microsoft YaHei"/>
                <a:ea typeface="Microsoft YaHei"/>
              </a:rPr>
              <a:t>互查反馈 20%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96912" y="3840480"/>
            <a:ext cx="4199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未过怎么办：当堂改→教师复核→记录到错题本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75488" y="43708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8" y="4498848"/>
            <a:ext cx="10881360" cy="7132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及格线：</a:t>
            </a: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特征≥10个且字典完整 / 重要性图可解读</a:t>
            </a: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
优秀线：</a:t>
            </a:r>
            <a:r>
              <a:rPr sz="1250" b="0">
                <a:solidFill>
                  <a:srgbClr val="F5C08A"/>
                </a:solidFill>
                <a:latin typeface="Microsoft YaHei"/>
                <a:ea typeface="Microsoft YaHei"/>
              </a:rPr>
              <a:t>特征-30%性能不降 / 造出1个'业务洞察'特征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W10-04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23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24359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2435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一张图带走本课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讲给自己听一遍，才算真的学会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4939" y="1389888"/>
            <a:ext cx="7450618" cy="39867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8e6f9f88c847f6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71" y="1417320"/>
            <a:ext cx="7395754" cy="393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93608" y="1481328"/>
            <a:ext cx="342259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三句话总结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93608" y="1920240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991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011680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特征重要性：树模型给特征打分——让数据投票谁重要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3608" y="2907792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39912" y="301752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301752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999232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好特征胜过换模型：同模型下特征增益常大于算法升级——先磨刀再换刀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3608" y="3895344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39912" y="40050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2" y="40050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986784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特征泄漏预警：用了未来才知道的列——线下虚高线上翻车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93608" y="4882896"/>
            <a:ext cx="3422599" cy="1005840"/>
          </a:xfrm>
          <a:prstGeom prst="roundRect">
            <a:avLst>
              <a:gd name="adj" fmla="val 5500"/>
            </a:avLst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4974336"/>
            <a:ext cx="305683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</a:rPr>
              <a:t>下一步行动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5285232"/>
            <a:ext cx="305683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①工单M1-1b收尾跑绿并上传 ②错题本记1条 ③预习微课+导学单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课后与预告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W10-04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24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23687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2368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NEXT &amp; HOMEWORK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下课之后，上课之前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作业当堂布置当堂记：写进工单本，别靠脑子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5852160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17904"/>
            <a:ext cx="530352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今日作业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956816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956816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1938528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工单M1-1b+中期特征字典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526280"/>
            <a:ext cx="5349240" cy="749808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617720"/>
            <a:ext cx="50292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提交物：</a:t>
            </a:r>
            <a:r>
              <a:rPr sz="1050" b="0">
                <a:solidFill>
                  <a:srgbClr val="231D3D"/>
                </a:solidFill>
                <a:latin typeface="Microsoft YaHei"/>
                <a:ea typeface="Microsoft YaHei"/>
              </a:rPr>
              <a:t>学号_姓名_W10.py + 运行截图（含文件名）+ 工单决策记录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56248" y="1389888"/>
            <a:ext cx="5159959" cy="3977639"/>
          </a:xfrm>
          <a:prstGeom prst="roundRect">
            <a:avLst>
              <a:gd name="adj" fmla="val 5500"/>
            </a:avLst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30568" y="1536192"/>
            <a:ext cx="46113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下次课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1956816"/>
            <a:ext cx="4611319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传统分类：逻辑回归+决策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0568" y="3017520"/>
            <a:ext cx="461131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</a:rPr>
              <a:t>为什么接下来学它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30568" y="3364992"/>
            <a:ext cx="4611319" cy="1234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D8E1EC"/>
                </a:solidFill>
                <a:latin typeface="Microsoft YaHei"/>
                <a:ea typeface="Microsoft YaHei"/>
              </a:rPr>
              <a:t>泵站分类模型1.0上线。老周盯着混淆矩阵问：'漏报一个轴承磨损，停线损失多少？误报一次，又要白跑几趟？'——工单M2-1a：逻辑回归与决策树同台，用F1和业务代价说话。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0568" y="4663440"/>
            <a:ext cx="4611319" cy="6035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9D4E4"/>
                </a:solidFill>
                <a:latin typeface="Microsoft YaHei"/>
                <a:ea typeface="Microsoft YaHei"/>
              </a:rPr>
              <a:t>预习动作：微课视频 + 导学单先行；带着一个问题上考场。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5488" y="5596128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5705856"/>
            <a:ext cx="108813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3D2E8C"/>
                </a:solidFill>
                <a:latin typeface="Microsoft YaHei"/>
                <a:ea typeface="Microsoft YaHei"/>
              </a:rPr>
              <a:t>工具链：PyCharm CE（主编辑器） · Jupyter（实训） · Git/GitHub（每周提交） · conda环境</a:t>
            </a: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
报错了？先查《报错翻译对照表》，再看微课'排错三步法'。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41648" y="1920240"/>
            <a:ext cx="4114800" cy="82296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240280"/>
            <a:ext cx="9235440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感谢垂听 · 动手出真知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310128"/>
            <a:ext cx="923544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D4E4"/>
                </a:solidFill>
                <a:latin typeface="Microsoft YaHei"/>
                <a:ea typeface="Microsoft YaHei"/>
              </a:rPr>
              <a:t>把今天的工单跑绿，就是给下周的自己铺路。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4160520"/>
            <a:ext cx="6858000" cy="1417320"/>
          </a:xfrm>
          <a:prstGeom prst="roundRect">
            <a:avLst>
              <a:gd name="adj" fmla="val 55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4279392"/>
            <a:ext cx="640080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课后三件事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4626864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1. 工单M1-1b跑绿并上传学习平台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4956048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2. 错题本记1条今天踩的坑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5285232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3. 预习微课+导学单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5779008"/>
            <a:ext cx="68580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</a:rPr>
              <a:t>下次课 → 传统分类：逻辑回归+决策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6419088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AI应用基础（48课时版） · V1 · W10-04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特征设计与优化（下）：优</dc:title>
  <dc:subject/>
  <dc:creator>两江智造教学组</dc:creator>
  <cp:keywords/>
  <dc:description>V1.1 · easyslides 规范重制（页面充实版）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