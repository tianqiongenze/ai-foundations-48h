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1" r:id="rId32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9" r:id="rId30"/>
    <p:sldId id="280" r:id="rId31"/>
    <p:sldId id="278" r:id="rId29"/>
    <p:sldId id="272" r:id="rId23"/>
    <p:sldId id="273" r:id="rId24"/>
    <p:sldId id="274" r:id="rId25"/>
    <p:sldId id="275" r:id="rId26"/>
    <p:sldId id="276" r:id="rId27"/>
    <p:sldId id="277" r:id="rId28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19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35192"/>
            <a:ext cx="5029200" cy="378761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3322076" cy="289559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3322076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AI应用基础（48课时版）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A6A6"/>
                </a:solidFill>
                <a:latin typeface="Microsoft YaHei"/>
                <a:ea typeface="Microsoft YaHei"/>
              </a:rPr>
              <a:t>W10 · 第4次课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特征设计与优化（下）：优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1122116" cy="27749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122116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M1-1b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99356" y="3931920"/>
            <a:ext cx="2787904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99356" y="3931920"/>
            <a:ext cx="2787904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特征设计与优化（下）：优化与评价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318845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318845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本节（下）：优化与评价 · 复盘冲刺 + 三层质检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数据洗净了，林工却摇头：'同样的模型，好特征胜过换模型。'他递来一张特征字典模板：'从振动里造出10个特征，让我看见你的巧思。'工单M1-1b：EDA+特征工程，用特征重要性…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课前回顾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61697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61697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RECAP · 课前五分钟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上次课你带走了什么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先测后讲：两道口头快答，答不上就翻回上节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44752"/>
            <a:ext cx="603504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6656" y="1572768"/>
            <a:ext cx="777240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1572768"/>
            <a:ext cx="7772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快答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1865376"/>
            <a:ext cx="56235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W5课中查①：'resample报错'这个报错怎么排查？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414016"/>
            <a:ext cx="562356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提示：回看上节'四要素详解'页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2907792"/>
            <a:ext cx="603504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6656" y="3035808"/>
            <a:ext cx="777240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3035808"/>
            <a:ext cx="7772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快答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3328416"/>
            <a:ext cx="56235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W5课中查②：优秀线特征-30%性能不降你打算怎么冲？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3877056"/>
            <a:ext cx="562356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提示：回看上节'四要素详解'页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9128" y="1444752"/>
            <a:ext cx="4977079" cy="141732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58584" y="155448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D2E8C"/>
                </a:solidFill>
                <a:latin typeface="Microsoft YaHei"/>
                <a:ea typeface="Microsoft YaHei"/>
              </a:rPr>
              <a:t>本周重点回顾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8584" y="1920240"/>
            <a:ext cx="4538167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· 时域/频域特征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8584" y="2359152"/>
            <a:ext cx="4538167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· 相关性初筛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39128" y="2999232"/>
            <a:ext cx="4977079" cy="1207008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58584" y="310896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8A6D1D"/>
                </a:solidFill>
                <a:latin typeface="Microsoft YaHei"/>
                <a:ea typeface="Microsoft YaHei"/>
              </a:rPr>
              <a:t>上节最容易踩的坑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58584" y="3456432"/>
            <a:ext cx="4538167" cy="6766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8A6D1D"/>
                </a:solidFill>
                <a:latin typeface="Microsoft YaHei"/>
                <a:ea typeface="Microsoft YaHei"/>
              </a:rPr>
              <a:t>KeyError列名错：列名大小写或空格不符
</a:t>
            </a:r>
            <a:r>
              <a:rPr sz="1100" b="0">
                <a:solidFill>
                  <a:srgbClr val="17855A"/>
                </a:solidFill>
                <a:latin typeface="Microsoft YaHei"/>
                <a:ea typeface="Microsoft YaHei"/>
              </a:rPr>
              <a:t>修法：df.columns先查看并strip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8" y="4443984"/>
            <a:ext cx="11240719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4562856"/>
            <a:ext cx="1088136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本节（下）：优化与评价——错误复盘 + B/A层冲刺 + 三层质检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983480"/>
            <a:ext cx="1088136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F5A7D"/>
                </a:solidFill>
                <a:latin typeface="Microsoft YaHei"/>
                <a:ea typeface="Microsoft YaHei"/>
              </a:rPr>
              <a:t>本节主线：特征=给模型的体检指标：时域（均值/峰值/RMS）与频域（… / 特征字典：名称/公式/物理意义/取值范围四栏缺一不可 / 相关性初筛：|r|&gt;0.95的特征对留一个即可（冗余）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3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能从振动序列构造≥10个特征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会用特征重要性证明设计价值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完成本课工单并当堂通过检查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D2E8C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24246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24246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1.错误速查复盘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8223" y="4535424"/>
            <a:ext cx="1616710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88223" y="4535424"/>
            <a:ext cx="161671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2.优化冲刺（B/A层）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6639" y="4535424"/>
            <a:ext cx="124246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6639" y="4535424"/>
            <a:ext cx="124246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3.三层质检互查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65055" y="4535424"/>
            <a:ext cx="137708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65055" y="4535424"/>
            <a:ext cx="137708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4.当堂评分与反馈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03471" y="4535424"/>
            <a:ext cx="1449781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03471" y="4535424"/>
            <a:ext cx="1449781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5.下次课预告+微课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本章聚焦：时域/频域特征 · 相关性初筛 · 特征字典规范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特征重要性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("特征重要性=模型训练后自报'谁帮了大忙'：树模型按分裂增益打分…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好特征胜过换模型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('好特征胜过换模型：垃圾进垃圾出(GIGO)——同样算法，特征好…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特征泄漏预警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("特征泄漏=训练时用了'未来信息'：如用'修复后状态'预测'是否…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W10-04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5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B04 特征重要性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树模型给特征打分——让数据投票谁重要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原理：特征重要性=模型训练后自报'谁帮了大忙'：树模型按分裂增益打分——数据投票选出Top特征，可解释性第一课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向车间解释模型看什么——可解释性入口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怎么判断：训练完看importance排序：Top3特征与业务理解吻合吗？不吻合要查数据（可能是泄漏特征混入）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model.feature_importances_ 排序画条形图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逐行看：importances=model.feature_importances_; sorted(zip(names,importances),key=lambda x:-x[1]) 榜单——v…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重要性高≠因果——只是对预测贡献大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进阶：SHAP值（进阶）看单样本归因；重要性不稳定（换种子榜变动大）用多次平均；只删尾部冗余别贪多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6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特征重要性：一张图看懂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55994" y="1362456"/>
            <a:ext cx="6662748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727eefafb312d5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426" y="1389888"/>
            <a:ext cx="6607884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Top3 特征贡献了大部分判别力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重要性低 ≠ 无用：可能与 Top 特征相关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追问：重要性高≠因果——只是对预测贡献大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一句话：树模型给特征打分——让数据投票谁重要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何时用：向车间解释模型看什么——可解释性入口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7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B05 好特征胜过换模型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同模型下特征增益常大于算法升级——先磨刀再换刀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原理：好特征胜过换模型：垃圾进垃圾出(GIGO)——同样算法，特征好提5个点比调参一整天更值——特征工程是性价比之王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准确率卡住时先问：特征榨干了吗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怎么判断：准确率卡住时先别换模型：回头做A/B特征实验（加/减一个特征看指标变化）——归因明确的改进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加'峰值因子'比换XGB更有效时先加特征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逐行看：基线(原特征)F1=0.78；加峭度特征→0.83；换XGBoost→0.82 —— 特征+5pt &gt; 模型+4pt，工时还少——对比实验表最有说服力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误区：急着上深度学习——先榨干特征红利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进阶：消融实验（一次只改一处）是归因的黄金标准；特征迭代记录进实验台账——每分提升可追溯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8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好特征胜过换模型：一张图看懂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55994" y="1362456"/>
            <a:ext cx="6662748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483d9c55493f2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426" y="1389888"/>
            <a:ext cx="6607884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Top3 特征贡献了大部分判别力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重要性低 ≠ 无用：可能与 Top 特征相关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追问：误区：急着上深度学习——先榨干特征红利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一句话：同模型下特征增益常大于算法升级——先磨刀再换刀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何时用：准确率卡住时先问：特征榨干了吗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9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B06 特征泄漏预警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用了未来才知道的列——线下虚高线上翻车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原理：特征泄漏=训练时用了'未来信息'：如用'修复后状态'预测'是否故障'——线下满分线上翻车，多数源于此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把'故障后维修记录'当特征是典型事故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怎么判断：凡特征与标签'同时产生或事后才知'即嫌疑：报修时间戳/维修工号/事后录的结论列——上线前逐列审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逐列自问：这一列在预测时刻拿得到吗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逐行看：leak_cols=['repair_time','fix_result'] 特征表里出现即红灯；时间基准检查：特征只能用t时刻之前的数据——滚动特征(过去1小时均值)才安全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分数突然99%先查泄漏——线下第一杀手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进阶：按时间切分train/test（不能随机切）；上线后效果暴跌先查泄漏；SHAP异常大的特征往往就是泄漏源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10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特征泄漏预警：一张图看懂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55994" y="1362456"/>
            <a:ext cx="6662748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b824c625ea9a7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426" y="1389888"/>
            <a:ext cx="6607884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Top3 特征贡献了大部分判别力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重要性低 ≠ 无用：可能与 Top 特征相关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追问：分数突然99%先查泄漏——线下第一杀手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一句话：用了未来才知道的列——线下虚高线上翻车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何时用：把'故障后维修记录'当特征是典型事故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本章聚焦：时域/频域特征 · 相关性初筛 · 特征字典规范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时域特征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g = df.set_index("ts").resamp…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重要性排序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from sklearn.ensemble import 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能从振动序列构造≥10…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能从振动序列构造≥10个特征——应用：见工单starter与教师参…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能写规范特征字典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能写规范特征字典——应用：见工单starter与教师参考实现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能用重要性排序精选子集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能用重要性排序精选子集——应用：见工单starter与教师参考实现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W10-04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12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时域特征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g = df.set_index("ts").resample("10min")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feat = g.agg(["mean", "max", "std"])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feat["rms"] = (df["vib"] ** 2).resample("10min").mean() ** .5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13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重要性排序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from sklearn.ensemble import RandomForestClassifier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rf = RandomForestClassifier(n_estimators=100).fit(X, y)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imp = pd.Series(rf.feature_importances_, index=X.columns).sort_values()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14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resample报错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ts不是DatetimeIndex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set_index后或parse_dates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特征全0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窗口内数据缺失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先做W1清洗再回填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重要性集中1个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存在泄漏列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检查是否用了标签衍生信息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本章聚焦：时域/频域特征 · 相关性初筛 · 特征字典规范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W10-04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16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工单 M1-1b · 特征设计与优化（下）：优化与评价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能从振动序列构造≥10个特征——应用：见工单starter与教师参考实现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能写规范特征字典——应用：见工单starter与教师参考实现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能用重要性排序精选子集——应用：见工单starter与教师参考实现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367588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367588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5296" y="3657600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能做A/B对比证明特征价值——应用：见工单starter与教师参考实现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特征≥10个且字典完整 / 重要性图可解读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0A6A6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特征-30%性能不降 / 造出1个'业务洞察'特征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先看终点（本课目标预览）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17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M1-1b 特征设计与优化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特征矩阵: 80 样本 × 5 特征  训练准确率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特征重要性排序: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1. a16   0.580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2. rms   0.258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3. ptp   0.111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4. kurt  0.025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5. a8    0.025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结论: 频域 16Hz 幅值（磨损的二倍频指纹）判别力最强 → 特征设计直接决定模型上限。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本工单的工程化项目 · 第三种代码形态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18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本工单的工程化项目 · 第三种代码形态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工程化项目/m11b_feature_design/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-m pytest -q    # 全量测试应全绿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src/feature_design48/  config · core · io_utils · report · pipeline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tests/      正常 / 边界 / 异常三档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课末对照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19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M1-1b 特征设计与优化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特征矩阵: 80 样本 × 5 特征  训练准确率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特征重要性排序: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1. a16   0.580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2. rms   0.258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3. ptp   0.111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4. kurt  0.025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5. a8    0.025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结论: 频域 16Hz 幅值（磨损的二倍频指纹）判别力最强 → 特征设计直接决定模型上限。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20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业务洞察特征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2270155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2270155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达标：新特征进Top3且有物理解释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结合泵机理造新特征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如温升速率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验证增益并写洞察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精选子集A/B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758599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758599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达标：特征-30%性能不降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重要性排序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取Top-k做A/B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记录性能数量曲线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00A6A6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10特征加字典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817428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817428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达标：≥10特征且字典完整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补RMS峰峰值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加频域主频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字典四栏填全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D2E8C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跟做5个时域特征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541188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541188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达标：5特征表能跑通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groupby窗口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算mean/max/std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拼成特征表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21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特征设计与优化：备选方案决策矩阵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备选方案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3359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可行性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1503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达标概率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29647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工时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77791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结论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" y="1892808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方案A：按工单主线（starter起步）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1647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9791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47935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适中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6079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推荐主干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008376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方案B：自选技术路线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1647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9791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47935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6079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A层可选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4123944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方案C：直接改现成项目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51647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低（无过程分）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99791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47935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96079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不建议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8" y="5285232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5385816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D2E8C"/>
                </a:solidFill>
                <a:latin typeface="Microsoft YaHei"/>
                <a:ea typeface="Microsoft YaHei"/>
              </a:rPr>
              <a:t>决策纪律：组内打分3分钟，结论与理由写入工单决策记录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22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W5课中查①：'resample报错'这个报错怎么排查？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2862072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944" y="2990088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2990088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3300984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W5课中查②：优秀线特征-30%性能不降你打算怎么冲？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3867912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D2E8C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特征≥10个且字典完整 / 重要性图可解读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特征-30%性能不降 / 造出1个'业务洞察'特征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23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8e6f9f88c847f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特征重要性：树模型给特征打分——让数据投票谁重要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好特征胜过换模型：同模型下特征增益常大于算法升级——先磨刀再换刀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特征泄漏预警：用了未来才知道的列——线下虚高线上翻车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①工单M1-1b收尾跑绿并上传 ②错题本记1条 ③预习微课+导学单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W10-04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24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工单M1-1b+中期特征字典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学号_姓名_W10.py + 运行截图（含文件名）+ 工单决策记录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传统分类：逻辑回归+决策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泵站分类模型1.0上线。老周盯着混淆矩阵问：'漏报一个轴承磨损，停线损失多少？误报一次，又要白跑几趟？'——工单M2-1a：逻辑回归与决策树同台，用F1和业务代价说话。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D2E8C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工单M1-1b跑绿并上传学习平台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下次课 → 传统分类：逻辑回归+决策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W10-04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特征设计与优化（下）：优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