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1" r:id="rId3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9" r:id="rId30"/>
    <p:sldId id="280" r:id="rId31"/>
    <p:sldId id="278" r:id="rId29"/>
    <p:sldId id="272" r:id="rId23"/>
    <p:sldId id="273" r:id="rId24"/>
    <p:sldId id="274" r:id="rId25"/>
    <p:sldId id="275" r:id="rId26"/>
    <p:sldId id="276" r:id="rId27"/>
    <p:sldId id="277" r:id="rId28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19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35192"/>
            <a:ext cx="5029200" cy="378761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3322076" cy="289559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3322076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AI应用基础（48课时版）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A6A6"/>
                </a:solidFill>
                <a:latin typeface="Microsoft YaHei"/>
                <a:ea typeface="Microsoft YaHei"/>
              </a:rPr>
              <a:t>W07 · 第1次课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数据清洗与质量评估（上）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122116" cy="27749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12211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M1-1a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99356" y="3931920"/>
            <a:ext cx="2942717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99356" y="3931920"/>
            <a:ext cx="294271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数据清洗与质量评估（上）：基础实现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扩展班第一课，老周把三箱'历史遗留'数据砸在你工位：'三个月泵站日志，缺的缺、错的错，还有135℃的神仙记录。模型再好也怕脏数据——先学会把数据洗干净，再谈AI。'工单M1-…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专业核心课扩展版：数据→ML→DL→视觉→大模型→智能体全谱系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AI应用工程师 / 工业视觉开发 / 工业互联网数据分析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1+X AI应用实践（初级=M1-M3 / 中级=M4 / 高级=M5）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D2E8C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231D3D"/>
                </a:solidFill>
                <a:latin typeface="Microsoft YaHei"/>
                <a:ea typeface="Microsoft YaHei"/>
              </a:rPr>
              <a:t>前：零基础并行开设 → 本课第12周、第10-20周12周×4课时 → 后：项目实战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逻辑回归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W17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工单M5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连续剧情 · 你（小郑）的第1次出场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57636"/>
            <a:ext cx="4261104" cy="322268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85068"/>
            <a:ext cx="4206240" cy="316782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231D3D"/>
                </a:solidFill>
                <a:latin typeface="Microsoft YaHei"/>
                <a:ea typeface="Microsoft YaHei"/>
              </a:rPr>
              <a:t>扩展班第一课，老周把三箱'历史遗留'数据砸在你工位：'三个月泵站日志，缺的缺、错的错，还有135℃的神仙记录。模型再好也怕脏数据——先学会把数据洗干净，再谈AI。'工单M1-1a：清洗出一份可信的数据质量报告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M1-1a · 数据清洗与质量评估（上）：基础实现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能用Pandas完成缺失/异常/重复三类处理——应用：见工单starter与教师参考实现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技能目标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31D3D"/>
                </a:solidFill>
                <a:latin typeface="Microsoft YaHei"/>
                <a:ea typeface="Microsoft YaHei"/>
              </a:rPr>
              <a:t>能输出结构化质量报告（三清单+评分）——应用：见工单starter与教师参考实现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F5A7D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老周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9864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9864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林工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850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50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会用Pandas完成缺失值与异常值处理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能输出结构化数据质量报告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完成本课工单并当堂通过检查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D2E8C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51170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51170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1.回顾预习卡与微课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223" y="4535424"/>
            <a:ext cx="178094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88223" y="4535424"/>
            <a:ext cx="178094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2.知识精讲（先例后理）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6639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6639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3.演示代码骨架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65055" y="4535424"/>
            <a:ext cx="1554784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5055" y="4535424"/>
            <a:ext cx="1554784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4.基础实现（D/C层…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03471" y="4535424"/>
            <a:ext cx="1533245" cy="241300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03471" y="4535424"/>
            <a:ext cx="1533245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5.小结+布置第2次课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本章聚焦：缺失率统计与处理策略 · 3σ与IQR异常识别 · 质量评分口径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数据质量三清单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("数据质量三清单=缺失(断线丢点)/异常(超量程毛刺)/重复(重…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缺失处理四策略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("缺失四策略=删(dropna)/数值插补(中位数)/类别兜底(…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异常识别两把尺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('异常识别两把尺=3σ（正态分布，±3倍标准差外占0.3%）与I…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B01 数据质量三清单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脏数据体检表：缺失/异常/重复三类逐项过一遍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原理：数据质量三清单=缺失(断线丢点)/异常(超量程毛刺)/重复(重发双录)——三类体检项目过一遍，'数据能不能用'心里有底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传感器断线丢点、PLC毛刺、重复上报的排查入口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怎么判断：建模前必做体检：缺多少、怪多少、重多少各画一张分布——跳过体检直接建模=沙上建塔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df.isna().sum() + df.duplicated().sum() 两行摸底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逐行看：df.isna().sum() 各列缺多少；((df['temp']&lt;-20)|(df['temp']&gt;200)).sum() 越量程多少；df.duplicated().sum() 重复行…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误区：只查缺失不查重复——重复样本让验证虚高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进阶：missingno矩阵图可视化缺失模式（随机缺失vs成片缺失成因不同）；体检结果写进质量报告首页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数据质量三清单：一张图看懂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506c995e5d819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追问：误区：只查缺失不查重复——重复样本让验证虚高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一句话：脏数据体检表：缺失/异常/重复三类逐项过一遍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何时用：传感器断线丢点、PLC毛刺、重复上报的排查入口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B02 缺失处理四策略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删行/前向填充/均值/插值——四种补洞手艺各有代价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原理：缺失四策略=删(dropna)/数值插补(中位数)/类别兜底('未知')/插值(interpolate按趋势)——按缺失机制与列型选药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温度断点用前向填充、孤立坏点才删行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怎么判断：随机散点缺失→插补保样本量；成片缺失(设备断电2小时)→插值造假日趋势，标记缺失列更诚实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df['temp'].interpolate() 时序插值最合理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逐行看：df['temp']=df['temp'].fillna(df['temp'].median()) 稳妥补值；df['temp']=df['temp'].interpolate() 按时序趋…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误区：一律fillna(0)——零值混进均值把分布拉歪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进阶：KNN插补借相似设备；前向填充ffill()适合缓慢变量；策略与理由必须写进报告——'为什么这么补'比补了什么更重要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B03 异常识别两把尺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3σ看正态尾巴、IQR箱线图对偏态稳健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原理：异常识别两把尺=3σ（正态分布，±3倍标准差外占0.3%）与IQR（四分位，不假设分布）——正态用前者、偏态/有毛刺用后者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振动尖峰、电流突变是否算异常的判据选择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怎么判断：先看分布形状再选尺：直方图对称像钟→3σ；右偏有长尾→IQR——用错尺误杀真故障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Consolas"/>
                <a:ea typeface="Microsoft YaHei"/>
              </a:rPr>
              <a:t>IQR上界=Q3+1.5×IQR，逐列扫描标记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Consolas"/>
                <a:ea typeface="Microsoft YaHei"/>
              </a:rPr>
              <a:t>逐行看：z=(df['vib']-mean)/std; mask=z.abs()&gt;3 正态尺；IQR版见pp课——两把尺各跑一遍，交集最稳、并集人工复核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误区：两把尺混用不看分布——先画直方图再选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进阶：变换后识别（log变换压长尾再3σ）；多维异常（单列正常、组合反常）用孤立森林——进阶武器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异常识别两把尺：一张图看懂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e6ffaf975d5947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追问：误区：两把尺混用不看分布——先画直方图再选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231D3D"/>
                </a:solidFill>
                <a:latin typeface="Microsoft YaHei"/>
                <a:ea typeface="Microsoft YaHei"/>
              </a:rPr>
              <a:t>一句话：3σ看正态尾巴、IQR箱线图对偏态稳健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何时用：振动尖峰、电流突变是否算异常的判据选择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本章聚焦：缺失率统计与处理策略 · 3σ与IQR异常识别 · 质量评分口径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清洗骨架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df = pd.read_csv("pump_log.cs…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IQR异常识别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q1, q3 = df["temp"].quantile(…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能用Pandas完成缺…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能用Pandas完成缺失/异常/重复三类处理——应用：见工单sta…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能输出结构化质量报告（…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能输出结构化质量报告（三清单+评分）——应用：见工单starter…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能为每个清洗策略写出业…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能为每个清洗策略写出业务理由——应用：见工单starter与教师参…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清洗骨架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df = pd.read_csv("pump_log.csv", parse_dates=["ts"])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miss = df.isna().sum()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print("缺失率:\n", (miss / len(df)).round(3))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df["temp"] = df["temp"].ffill()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IQR异常识别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14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q1, q3 = df["temp"].quantile([.25, .75])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iqr = q3 - q1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mask = ~df["temp"].between(q1 - 1.5 * iqr, q3 + 1.5 * iqr)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DD9F0"/>
                </a:solidFill>
                <a:latin typeface="Consolas"/>
                <a:ea typeface="Microsoft YaHei"/>
              </a:rPr>
              <a:t>print("异常行数:", mask.sum())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KeyError列名错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列名大小写或空格不符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df.columns先查看并strip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清洗后行数骤减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dropna默认any整行删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指定subset为关键列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报告数字对不上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处理顺序不同口径漂移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固定缺失-异常-重复顺序并留痕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本章聚焦：缺失率统计与处理策略 · 3σ与IQR异常识别 · 质量评分口径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00A6A6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16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工单 M1-1a · 数据清洗与质量评估（上）：基础实现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能用Pandas完成缺失/异常/重复三类处理——应用：见工单starter与教…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能输出结构化质量报告（三清单+评分）——应用：见工单starter与教师参考实现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能为每个清洗策略写出业务理由——应用：见工单starter与教师参考实现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367588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67588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3657600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能用分布图验证清洗未伤及正常数据——应用：见工单starter与教师参考实现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D2E8C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3D2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缺失处理率≥95% / 报告三清单齐全 / 策略有业务理由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0A6A6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预测缺失（进阶） / 质量评分≥90 / 报告可直接交付老周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先看终点（本课目标预览）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17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M1-1a 数据清洗与质量评估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原始数据: 300 行  (缺测 14 / 超限 6 / 负值 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解A 纯Python循环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解B Pandas掩码链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双解互验: 行数一致=True  口径一致=True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剔除合计 25 行（缺测+负值+超限），保留率 91.7%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两解同口径同结果 → 清洗规则已冻结；清洗留痕（前后行数与分布）即过程性证据。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本工单的工程化项目 · 第三种代码形态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本工单的工程化项目 · 第三种代码形态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工程化项目/m11a_data_quality/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3D2E8C"/>
                </a:solidFill>
              </a:rPr>
              <a:t>python -m pytest -q    # 全量测试应全绿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src/data_quality48/  config · core · io_utils · report · pipeline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tests/      正常 / 边界 / 异常三档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3D2E8C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工单完成效果图 · 课末对照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19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63040" cy="256032"/>
          </a:xfrm>
          <a:prstGeom prst="roundRect">
            <a:avLst>
              <a:gd name="adj" fmla="val 6000"/>
            </a:avLst>
          </a:prstGeom>
          <a:solidFill>
            <a:srgbClr val="00A6A6"/>
          </a:solidFill>
          <a:ln w="9525">
            <a:solidFill>
              <a:srgbClr val="00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</a:rPr>
              <a:t>DONE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231D3D"/>
                </a:solidFill>
              </a:rPr>
              <a:t>工单完成效果图 · 完成后长这样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379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F5A7D"/>
                </a:solidFill>
              </a:rPr>
              <a:t>真实运行 · 参考实现——先看清'交付标准答案'，再动手写自己的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371600"/>
            <a:ext cx="1123797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75488" y="3794760"/>
            <a:ext cx="11237976" cy="118872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75488" y="5074920"/>
            <a:ext cx="11237976" cy="1234440"/>
          </a:xfrm>
          <a:prstGeom prst="roundRect">
            <a:avLst>
              <a:gd name="adj" fmla="val 6000"/>
            </a:avLst>
          </a:prstGeom>
          <a:solidFill>
            <a:srgbClr val="EAE7F8"/>
          </a:solidFill>
          <a:ln w="9525">
            <a:solidFill>
              <a:srgbClr val="CFC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1517904"/>
            <a:ext cx="1069848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D2E8C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=== 工单 M1-1a 数据清洗与质量评估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原始数据: 300 行  (缺测 14 / 超限 6 / 负值 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解A 纯Python循环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解B Pandas掩码链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双解互验: 行数一致=True  口径一致=True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剔除合计 25 行（缺测+负值+超限），保留率 91.7%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231D3D"/>
                </a:solidFill>
              </a:rPr>
              <a:t>结论: 两解同口径同结果 → 清洗规则已冻结；清洗留痕（前后行数与分布）即过程性证据。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931920"/>
            <a:ext cx="106984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231D3D"/>
                </a:solidFill>
              </a:rPr>
              <a:t>□ 代码从头跑到尾不报错（python xx.py 再跑一遍）</a:t>
            </a:r>
          </a:p>
          <a:p>
            <a:pPr algn="l">
              <a:spcBef>
                <a:spcPts val="100"/>
              </a:spcBef>
            </a:pPr>
            <a:r>
              <a:rPr sz="1150" b="0">
                <a:solidFill>
                  <a:srgbClr val="231D3D"/>
                </a:solidFill>
              </a:rPr>
              <a:t>□ 指标达标：与工单及格线逐项对齐（准确率/F1/耗时）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1208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D2E8C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231D3D"/>
                </a:solidFill>
              </a:rPr>
              <a:t>达标线：D≥60 / C≥70 / B≥80 / A≥90　｜　提交：学号_姓名_工单号 + 运行截图 + 决策记录 + Git≥1次commit</a:t>
            </a:r>
          </a:p>
          <a:p>
            <a:pPr algn="l">
              <a:spcBef>
                <a:spcPts val="100"/>
              </a:spcBef>
            </a:pPr>
            <a:r>
              <a:rPr sz="1100" b="0">
                <a:solidFill>
                  <a:srgbClr val="5F5A7D"/>
                </a:solidFill>
              </a:rPr>
              <a:t>复核：自检 → 互检 → 师查（三层质检）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20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预测缺失进阶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2357120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2357120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达标：预测填充优于均值且论证清楚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用其余特征建模预测缺失值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与均值填充对比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报告附录给出增益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策略有据可依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817428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81742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达标：评分≥85且理由完整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每策略写业务理由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分布图前后对比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质量评分计算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431536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报告排版成文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00A6A6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三清单全跑通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61023" y="3236976"/>
            <a:ext cx="2339215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1023" y="3236976"/>
            <a:ext cx="2339215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达标：缺失处理率≥95%+三清单齐全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全表缺失统计与策略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IQR识别异常列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duplicated去重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1023" y="5431536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汇总三清单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D2E8C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31D3D"/>
                </a:solidFill>
                <a:latin typeface="Microsoft YaHei"/>
                <a:ea typeface="Microsoft YaHei"/>
              </a:rPr>
              <a:t>跟做完成单列缺失清洗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212351" y="3236976"/>
            <a:ext cx="2436411" cy="229235"/>
          </a:xfrm>
          <a:prstGeom prst="roundRect">
            <a:avLst>
              <a:gd name="adj" fmla="val 500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12351" y="3236976"/>
            <a:ext cx="2436411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31D3D"/>
                </a:solidFill>
                <a:latin typeface="Microsoft YaHei"/>
                <a:ea typeface="Microsoft YaHei"/>
              </a:rPr>
              <a:t>达标：温度列缺失率降为0且行数不变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读CSV看info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对温度列isna统计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ffill前向填充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2351" y="5431536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F5A7D"/>
                </a:solidFill>
                <a:latin typeface="Microsoft YaHei"/>
                <a:ea typeface="Microsoft YaHei"/>
              </a:rPr>
              <a:t>· 输出处理前后对比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21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数据清洗与质量评估：备选方案决策矩阵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备选方案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3359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可行性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1503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达标概率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29647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工时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77791" y="1508760"/>
            <a:ext cx="2065263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方案A：按工单主线（starter起步）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1647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9791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7935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适中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6079" y="1947672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推荐主干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5F4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方案B：自选技术路线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1647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9791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935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6079" y="3063240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A层可选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31D3D"/>
                </a:solidFill>
                <a:latin typeface="Microsoft YaHei"/>
                <a:ea typeface="Microsoft YaHei"/>
              </a:rPr>
              <a:t>方案C：直接改现成项目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51647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低（无过程分）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9791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7935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31D3D"/>
                </a:solidFill>
                <a:latin typeface="Microsoft YaHei"/>
                <a:ea typeface="Microsoft YaHei"/>
              </a:rPr>
              <a:t>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96079" y="4178808"/>
            <a:ext cx="2028687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A6A6"/>
                </a:solidFill>
                <a:latin typeface="Microsoft YaHei"/>
                <a:ea typeface="Microsoft YaHei"/>
              </a:rPr>
              <a:t>不建议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D2E8C"/>
                </a:solidFill>
                <a:latin typeface="Microsoft YaHei"/>
                <a:ea typeface="Microsoft YaHei"/>
              </a:rPr>
              <a:t>决策纪律：组内打分3分钟，结论与理由写入工单决策记录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22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W4课前测①：本课工单M1-1a的及格线是什么？（答：缺失处理率≥95%）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2862072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2990088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2990088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300984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1D3D"/>
                </a:solidFill>
                <a:latin typeface="Microsoft YaHei"/>
                <a:ea typeface="Microsoft YaHei"/>
              </a:rPr>
              <a:t>W4课前测②：'Pandas缺失处理四策略'用一句话说说你的理解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67912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D2E8C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31D3D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F5A7D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缺失处理率≥95% / 报告三清单齐全 / 策略有业务理由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预测缺失（进阶） / 质量评分≥90 / 报告可直接交付老周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5ac1d895445bc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数据质量三清单：脏数据体检表：缺失/异常/重复三类逐项过一遍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缺失处理四策略：删行/前向填充/均值/插值——四种补洞手艺各有…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231D3D"/>
                </a:solidFill>
                <a:latin typeface="Microsoft YaHei"/>
                <a:ea typeface="Microsoft YaHei"/>
              </a:rPr>
              <a:t>异常识别两把尺：3σ看正态尾巴、IQR箱线图对偏态稳健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①工单M1-1a收尾跑绿并上传 ②错题本记1条 ③预习微课+导学单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3D2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5A7D"/>
                </a:solidFill>
                <a:latin typeface="Microsoft YaHei"/>
                <a:ea typeface="Microsoft YaHei"/>
              </a:rPr>
              <a:t>24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31D3D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F5A7D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D2E8C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231D3D"/>
                </a:solidFill>
                <a:latin typeface="Microsoft YaHei"/>
                <a:ea typeface="Microsoft YaHei"/>
              </a:rPr>
              <a:t>工单M1-1a+预习卡W5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3D2E8C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231D3D"/>
                </a:solidFill>
                <a:latin typeface="Microsoft YaHei"/>
                <a:ea typeface="Microsoft YaHei"/>
              </a:rPr>
              <a:t>学号_姓名_W07.py + 运行截图（含文件名）+ 工单决策记录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数据清洗与质量评估（下）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数据洗净了，林工却摇头：'同样的模型，好特征胜过换模型。'他递来一张特征字典模板：'从振动里造出10个特征，让我看见你的巧思。'工单M1-1b：EDA+特征工程，用特征重要性证明你的设计值钱。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AE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D2E8C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F5A7D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A6A6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工单M1-1a跑绿并上传学习平台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A6A6"/>
                </a:solidFill>
                <a:latin typeface="Microsoft YaHei"/>
                <a:ea typeface="Microsoft YaHei"/>
              </a:rPr>
              <a:t>下次课 → 数据清洗与质量评估（下）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AI应用基础（48课时版） · V1 · W07-01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数据清洗与质量评估（上）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