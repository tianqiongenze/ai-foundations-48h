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82" r:id="rId33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80" r:id="rId31"/>
    <p:sldId id="281" r:id="rId32"/>
    <p:sldId id="279" r:id="rId30"/>
    <p:sldId id="273" r:id="rId24"/>
    <p:sldId id="274" r:id="rId25"/>
    <p:sldId id="275" r:id="rId26"/>
    <p:sldId id="276" r:id="rId27"/>
    <p:sldId id="277" r:id="rId28"/>
    <p:sldId id="278" r:id="rId29"/>
    <p:sldId id="283" r:id="rId34"/>
    <p:sldId id="284" r:id="rId3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6.xml"/><Relationship Id="rId30" Type="http://schemas.openxmlformats.org/officeDocument/2006/relationships/slide" Target="slides/slide20.xml"/><Relationship Id="rId31" Type="http://schemas.openxmlformats.org/officeDocument/2006/relationships/slide" Target="slides/slide18.xml"/><Relationship Id="rId32" Type="http://schemas.openxmlformats.org/officeDocument/2006/relationships/slide" Target="slides/slide19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1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W8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1535192"/>
            <a:ext cx="5029200" cy="3787616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40080" y="777240"/>
            <a:ext cx="3322076" cy="289559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777240"/>
            <a:ext cx="3322076" cy="289559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</a:rPr>
              <a:t>AI应用基础（48课时版） · 12周·48课时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81328"/>
            <a:ext cx="5943600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0A6A6"/>
                </a:solidFill>
                <a:latin typeface="Microsoft YaHei"/>
                <a:ea typeface="Microsoft YaHei"/>
              </a:rPr>
              <a:t>W13 · 第9次课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29968"/>
            <a:ext cx="5852160" cy="9144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>
                <a:solidFill>
                  <a:srgbClr val="FFFFFF"/>
                </a:solidFill>
                <a:latin typeface="Microsoft YaHei"/>
                <a:ea typeface="Microsoft YaHei"/>
              </a:rPr>
              <a:t>MLP神经网络（上）：基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931920"/>
            <a:ext cx="1122116" cy="277495"/>
          </a:xfrm>
          <a:prstGeom prst="roundRect">
            <a:avLst>
              <a:gd name="adj" fmla="val 50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931920"/>
            <a:ext cx="1122116" cy="27749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Microsoft YaHei"/>
                <a:ea typeface="Microsoft YaHei"/>
              </a:rPr>
              <a:t>工单 M2-3a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899356" y="3931920"/>
            <a:ext cx="2456604" cy="277495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899356" y="3931920"/>
            <a:ext cx="2456604" cy="27749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Microsoft YaHei"/>
                <a:ea typeface="Microsoft YaHei"/>
              </a:rPr>
              <a:t>MLP神经网络（上）：基础实现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4443984"/>
            <a:ext cx="3287748" cy="253365"/>
          </a:xfrm>
          <a:prstGeom prst="roundRect">
            <a:avLst>
              <a:gd name="adj" fmla="val 50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4443984"/>
            <a:ext cx="3287748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本节（上）：基础实现 · 概念打底 + D/C层保底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956048"/>
            <a:ext cx="5669280" cy="9601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C9D4E4"/>
                </a:solidFill>
                <a:latin typeface="Microsoft YaHei"/>
                <a:ea typeface="Microsoft YaHei"/>
              </a:rPr>
              <a:t>第一个神经网络。王主任路过看你屏幕：'这堆圈圈连线，比我闺女画的还乱。'林工笑：'乱中有序——每个圈都在学。'工单M2-3a：MLP读懂振动频谱，看清过拟合长什么样。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989320"/>
            <a:ext cx="1088136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8C99B5"/>
                </a:solidFill>
                <a:latin typeface="Microsoft YaHei"/>
                <a:ea typeface="Microsoft YaHei"/>
              </a:rPr>
              <a:t>重庆两江智造集团 · 双创中心302实训室 · V1重制版（easyslides规范）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课程定位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W13-09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2 / 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142039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142039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COURSE MAP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这门课站在哪：定位与出路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四年后你手里的证书与岗位，都从这门课出发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71600"/>
            <a:ext cx="5506059" cy="1920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5488" y="1371600"/>
            <a:ext cx="64008" cy="192024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1517904"/>
            <a:ext cx="504885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D2E8C"/>
                </a:solidFill>
                <a:latin typeface="Microsoft YaHei"/>
                <a:ea typeface="Microsoft YaHei"/>
              </a:rPr>
              <a:t>课程性质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1938528"/>
            <a:ext cx="4993995" cy="11887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231D3D"/>
                </a:solidFill>
                <a:latin typeface="Microsoft YaHei"/>
                <a:ea typeface="Microsoft YaHei"/>
              </a:rPr>
              <a:t>专业核心课扩展版：数据→ML→DL→视觉→大模型→智能体全谱系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0147" y="1371600"/>
            <a:ext cx="5506059" cy="1920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10147" y="1371600"/>
            <a:ext cx="64008" cy="192024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66179" y="1517904"/>
            <a:ext cx="504885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D2E8C"/>
                </a:solidFill>
                <a:latin typeface="Microsoft YaHei"/>
                <a:ea typeface="Microsoft YaHei"/>
              </a:rPr>
              <a:t>面向岗位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66179" y="1938528"/>
            <a:ext cx="4993995" cy="11887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231D3D"/>
                </a:solidFill>
                <a:latin typeface="Microsoft YaHei"/>
                <a:ea typeface="Microsoft YaHei"/>
              </a:rPr>
              <a:t>AI应用工程师 / 工业视觉开发 / 工业互联网数据分析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75488" y="3456432"/>
            <a:ext cx="5506059" cy="1920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75488" y="3456432"/>
            <a:ext cx="64008" cy="192024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3602736"/>
            <a:ext cx="504885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D2E8C"/>
                </a:solidFill>
                <a:latin typeface="Microsoft YaHei"/>
                <a:ea typeface="Microsoft YaHei"/>
              </a:rPr>
              <a:t>对接证书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4023360"/>
            <a:ext cx="4993995" cy="11887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231D3D"/>
                </a:solidFill>
                <a:latin typeface="Microsoft YaHei"/>
                <a:ea typeface="Microsoft YaHei"/>
              </a:rPr>
              <a:t>1+X AI应用实践（初级=M1-M3 / 中级=M4 / 高级=M5）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10147" y="3456432"/>
            <a:ext cx="5506059" cy="1920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10147" y="3456432"/>
            <a:ext cx="64008" cy="192024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66179" y="3602736"/>
            <a:ext cx="504885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D2E8C"/>
                </a:solidFill>
                <a:latin typeface="Microsoft YaHei"/>
                <a:ea typeface="Microsoft YaHei"/>
              </a:rPr>
              <a:t>课程衔接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66179" y="4023360"/>
            <a:ext cx="4993995" cy="11887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231D3D"/>
                </a:solidFill>
                <a:latin typeface="Microsoft YaHei"/>
                <a:ea typeface="Microsoft YaHei"/>
              </a:rPr>
              <a:t>前：零基础并行开设 → 本课第12周、第10-20周12周×4课时 → 后：项目实战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75488" y="5468112"/>
            <a:ext cx="11240719" cy="896112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4944" y="5559552"/>
            <a:ext cx="54864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3D2E8C"/>
                </a:solidFill>
                <a:latin typeface="Microsoft YaHei"/>
                <a:ea typeface="Microsoft YaHei"/>
              </a:rPr>
              <a:t>本课程路线图（当前周高亮）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94944" y="5888736"/>
            <a:ext cx="863574" cy="365760"/>
          </a:xfrm>
          <a:prstGeom prst="roundRect">
            <a:avLst>
              <a:gd name="adj" fmla="val 18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94944" y="5888736"/>
            <a:ext cx="86357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W4</a:t>
            </a:r>
            <a:r>
              <a:rPr sz="800" b="0">
                <a:solidFill>
                  <a:srgbClr val="D8E1EC"/>
                </a:solidFill>
                <a:latin typeface="Microsoft YaHei"/>
                <a:ea typeface="Microsoft YaHei"/>
              </a:rPr>
              <a:t>
工单M1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595094" y="5888736"/>
            <a:ext cx="863574" cy="365760"/>
          </a:xfrm>
          <a:prstGeom prst="roundRect">
            <a:avLst>
              <a:gd name="adj" fmla="val 18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595094" y="5888736"/>
            <a:ext cx="86357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W5</a:t>
            </a:r>
            <a:r>
              <a:rPr sz="800" b="0">
                <a:solidFill>
                  <a:srgbClr val="D8E1EC"/>
                </a:solidFill>
                <a:latin typeface="Microsoft YaHei"/>
                <a:ea typeface="Microsoft YaHei"/>
              </a:rPr>
              <a:t>
工单M1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495245" y="5888736"/>
            <a:ext cx="863574" cy="365760"/>
          </a:xfrm>
          <a:prstGeom prst="roundRect">
            <a:avLst>
              <a:gd name="adj" fmla="val 18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495245" y="5888736"/>
            <a:ext cx="86357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W6</a:t>
            </a:r>
            <a:r>
              <a:rPr sz="800" b="0">
                <a:solidFill>
                  <a:srgbClr val="D8E1EC"/>
                </a:solidFill>
                <a:latin typeface="Microsoft YaHei"/>
                <a:ea typeface="Microsoft YaHei"/>
              </a:rPr>
              <a:t>
逻辑回归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395395" y="5888736"/>
            <a:ext cx="863574" cy="365760"/>
          </a:xfrm>
          <a:prstGeom prst="roundRect">
            <a:avLst>
              <a:gd name="adj" fmla="val 18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395395" y="5888736"/>
            <a:ext cx="86357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W7</a:t>
            </a:r>
            <a:r>
              <a:rPr sz="800" b="0">
                <a:solidFill>
                  <a:srgbClr val="D8E1EC"/>
                </a:solidFill>
                <a:latin typeface="Microsoft YaHei"/>
                <a:ea typeface="Microsoft YaHei"/>
              </a:rPr>
              <a:t>
工单M2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295546" y="5888736"/>
            <a:ext cx="863574" cy="365760"/>
          </a:xfrm>
          <a:prstGeom prst="roundRect">
            <a:avLst>
              <a:gd name="adj" fmla="val 18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295546" y="5888736"/>
            <a:ext cx="86357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W8</a:t>
            </a:r>
            <a:r>
              <a:rPr sz="800" b="0">
                <a:solidFill>
                  <a:srgbClr val="F0E6D8"/>
                </a:solidFill>
                <a:latin typeface="Microsoft YaHei"/>
                <a:ea typeface="Microsoft YaHei"/>
              </a:rPr>
              <a:t>
工单M2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195696" y="5888736"/>
            <a:ext cx="863574" cy="365760"/>
          </a:xfrm>
          <a:prstGeom prst="roundRect">
            <a:avLst>
              <a:gd name="adj" fmla="val 18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195696" y="5888736"/>
            <a:ext cx="86357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W9</a:t>
            </a:r>
            <a:r>
              <a:rPr sz="800" b="0">
                <a:solidFill>
                  <a:srgbClr val="D8E1EC"/>
                </a:solidFill>
                <a:latin typeface="Microsoft YaHei"/>
                <a:ea typeface="Microsoft YaHei"/>
              </a:rPr>
              <a:t>
工单M2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095847" y="5888736"/>
            <a:ext cx="863574" cy="365760"/>
          </a:xfrm>
          <a:prstGeom prst="roundRect">
            <a:avLst>
              <a:gd name="adj" fmla="val 18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095847" y="5888736"/>
            <a:ext cx="86357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W15</a:t>
            </a:r>
            <a:r>
              <a:rPr sz="800" b="0">
                <a:solidFill>
                  <a:srgbClr val="D8E1EC"/>
                </a:solidFill>
                <a:latin typeface="Microsoft YaHei"/>
                <a:ea typeface="Microsoft YaHei"/>
              </a:rPr>
              <a:t>
工单M3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995998" y="5888736"/>
            <a:ext cx="863574" cy="365760"/>
          </a:xfrm>
          <a:prstGeom prst="roundRect">
            <a:avLst>
              <a:gd name="adj" fmla="val 18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995998" y="5888736"/>
            <a:ext cx="86357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W16</a:t>
            </a:r>
            <a:r>
              <a:rPr sz="800" b="0">
                <a:solidFill>
                  <a:srgbClr val="D8E1EC"/>
                </a:solidFill>
                <a:latin typeface="Microsoft YaHei"/>
                <a:ea typeface="Microsoft YaHei"/>
              </a:rPr>
              <a:t>
工单M3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7896148" y="5888736"/>
            <a:ext cx="863574" cy="365760"/>
          </a:xfrm>
          <a:prstGeom prst="roundRect">
            <a:avLst>
              <a:gd name="adj" fmla="val 18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896148" y="5888736"/>
            <a:ext cx="86357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W17</a:t>
            </a:r>
            <a:r>
              <a:rPr sz="800" b="0">
                <a:solidFill>
                  <a:srgbClr val="D8E1EC"/>
                </a:solidFill>
                <a:latin typeface="Microsoft YaHei"/>
                <a:ea typeface="Microsoft YaHei"/>
              </a:rPr>
              <a:t>
工单M4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8796299" y="5888736"/>
            <a:ext cx="863574" cy="365760"/>
          </a:xfrm>
          <a:prstGeom prst="roundRect">
            <a:avLst>
              <a:gd name="adj" fmla="val 18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796299" y="5888736"/>
            <a:ext cx="86357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W18</a:t>
            </a:r>
            <a:r>
              <a:rPr sz="800" b="0">
                <a:solidFill>
                  <a:srgbClr val="D8E1EC"/>
                </a:solidFill>
                <a:latin typeface="Microsoft YaHei"/>
                <a:ea typeface="Microsoft YaHei"/>
              </a:rPr>
              <a:t>
工单M4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9696449" y="5888736"/>
            <a:ext cx="863574" cy="365760"/>
          </a:xfrm>
          <a:prstGeom prst="roundRect">
            <a:avLst>
              <a:gd name="adj" fmla="val 18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696449" y="5888736"/>
            <a:ext cx="86357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W19</a:t>
            </a:r>
            <a:r>
              <a:rPr sz="800" b="0">
                <a:solidFill>
                  <a:srgbClr val="D8E1EC"/>
                </a:solidFill>
                <a:latin typeface="Microsoft YaHei"/>
                <a:ea typeface="Microsoft YaHei"/>
              </a:rPr>
              <a:t>
工单M5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10596600" y="5888736"/>
            <a:ext cx="863574" cy="365760"/>
          </a:xfrm>
          <a:prstGeom prst="roundRect">
            <a:avLst>
              <a:gd name="adj" fmla="val 18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0596600" y="5888736"/>
            <a:ext cx="86357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W20</a:t>
            </a:r>
            <a:r>
              <a:rPr sz="800" b="0">
                <a:solidFill>
                  <a:srgbClr val="D8E1EC"/>
                </a:solidFill>
                <a:latin typeface="Microsoft YaHei"/>
                <a:ea typeface="Microsoft YaHei"/>
              </a:rPr>
              <a:t>
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剧情情境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W13-09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3 / 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738541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738541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SCENARIO · 两江智造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车间今天发生了什么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连续剧情 · 你（小郑）的第9次出场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48056" y="1657636"/>
            <a:ext cx="4261104" cy="3222688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5DB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W8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" y="1685068"/>
            <a:ext cx="4206240" cy="3167824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4910328" y="1417320"/>
            <a:ext cx="6805879" cy="24231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910328" y="1417320"/>
            <a:ext cx="6805879" cy="9144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84648" y="1691640"/>
            <a:ext cx="6257239" cy="19202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30000"/>
              </a:lnSpc>
            </a:pPr>
            <a:r>
              <a:rPr sz="1450" b="0">
                <a:solidFill>
                  <a:srgbClr val="231D3D"/>
                </a:solidFill>
                <a:latin typeface="Microsoft YaHei"/>
                <a:ea typeface="Microsoft YaHei"/>
              </a:rPr>
              <a:t>第一个神经网络。王主任路过看你屏幕：'这堆圈圈连线，比我闺女画的还乱。'林工笑：'乱中有序——每个圈都在学。'工单M2-3a：MLP读懂振动频谱，看清过拟合长什么样。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910328" y="4005072"/>
            <a:ext cx="6805879" cy="1600200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138928" y="4160520"/>
            <a:ext cx="960120" cy="241300"/>
          </a:xfrm>
          <a:prstGeom prst="roundRect">
            <a:avLst>
              <a:gd name="adj" fmla="val 50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38928" y="4160520"/>
            <a:ext cx="960120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本课工单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63640" y="4133088"/>
            <a:ext cx="5205679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231D3D"/>
                </a:solidFill>
                <a:latin typeface="Microsoft YaHei"/>
                <a:ea typeface="Microsoft YaHei"/>
              </a:rPr>
              <a:t>M2-3a · MLP神经网络（上）：基础实现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138928" y="4636008"/>
            <a:ext cx="960120" cy="241300"/>
          </a:xfrm>
          <a:prstGeom prst="roundRect">
            <a:avLst>
              <a:gd name="adj" fmla="val 50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138928" y="4636008"/>
            <a:ext cx="960120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技能目标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63640" y="4608576"/>
            <a:ext cx="5205679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231D3D"/>
                </a:solidFill>
                <a:latin typeface="Microsoft YaHei"/>
                <a:ea typeface="Microsoft YaHei"/>
              </a:rPr>
              <a:t>能搭建并训练MLP分类器——应用：见工单starter与教师参考实现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138928" y="5111496"/>
            <a:ext cx="960120" cy="241300"/>
          </a:xfrm>
          <a:prstGeom prst="roundRect">
            <a:avLst>
              <a:gd name="adj" fmla="val 50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38928" y="5111496"/>
            <a:ext cx="960120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技能目标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084064"/>
            <a:ext cx="5205679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231D3D"/>
                </a:solidFill>
                <a:latin typeface="Microsoft YaHei"/>
                <a:ea typeface="Microsoft YaHei"/>
              </a:rPr>
              <a:t>能读懂训练验证损失曲线——应用：见工单starter与教师参考实现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38928" y="5303520"/>
            <a:ext cx="1280160" cy="2743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5F5A7D"/>
                </a:solidFill>
                <a:latin typeface="Microsoft YaHei"/>
                <a:ea typeface="Microsoft YaHei"/>
              </a:rPr>
              <a:t>出场人物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08776" y="5266944"/>
            <a:ext cx="580136" cy="241300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08776" y="5266944"/>
            <a:ext cx="58013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老周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898640" y="5266944"/>
            <a:ext cx="580136" cy="241300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98640" y="5266944"/>
            <a:ext cx="58013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林工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588504" y="5266944"/>
            <a:ext cx="580136" cy="241300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588504" y="5266944"/>
            <a:ext cx="58013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小郑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W13-09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4 / 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260774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260774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GOALS &amp; FLOW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这节课结束时，你能做到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目标可测量：及格线/优秀线写在工单上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89888"/>
            <a:ext cx="3612794" cy="22128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5488" y="1389888"/>
            <a:ext cx="3612794" cy="82296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4944" y="1554480"/>
            <a:ext cx="3173882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3D2E8C"/>
                </a:solidFill>
                <a:latin typeface="Microsoft YaHei"/>
                <a:ea typeface="Microsoft YaHei"/>
              </a:rPr>
              <a:t>目标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" y="1956816"/>
            <a:ext cx="3173882" cy="11887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理解网络结构与反向传播直观原理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163824"/>
            <a:ext cx="3283610" cy="365760"/>
          </a:xfrm>
          <a:prstGeom prst="roundRect">
            <a:avLst>
              <a:gd name="adj" fmla="val 220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9808" y="3163824"/>
            <a:ext cx="306415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F5A7D"/>
                </a:solidFill>
                <a:latin typeface="Microsoft YaHei"/>
                <a:ea typeface="Microsoft YaHei"/>
              </a:rPr>
              <a:t>检验：口头复述+快答2题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89450" y="1389888"/>
            <a:ext cx="3612794" cy="22128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289450" y="1389888"/>
            <a:ext cx="3612794" cy="82296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08906" y="1554480"/>
            <a:ext cx="3173882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3D2E8C"/>
                </a:solidFill>
                <a:latin typeface="Microsoft YaHei"/>
                <a:ea typeface="Microsoft YaHei"/>
              </a:rPr>
              <a:t>目标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08906" y="1956816"/>
            <a:ext cx="3173882" cy="11887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会用early stopping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454042" y="3163824"/>
            <a:ext cx="3283610" cy="365760"/>
          </a:xfrm>
          <a:prstGeom prst="roundRect">
            <a:avLst>
              <a:gd name="adj" fmla="val 220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63770" y="3163824"/>
            <a:ext cx="306415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F5A7D"/>
                </a:solidFill>
                <a:latin typeface="Microsoft YaHei"/>
                <a:ea typeface="Microsoft YaHei"/>
              </a:rPr>
              <a:t>检验：工单运行通过+截图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103412" y="1389888"/>
            <a:ext cx="3612794" cy="22128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103412" y="1389888"/>
            <a:ext cx="3612794" cy="82296"/>
          </a:xfrm>
          <a:prstGeom prst="rect">
            <a:avLst/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322868" y="1554480"/>
            <a:ext cx="3173882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3D2E8C"/>
                </a:solidFill>
                <a:latin typeface="Microsoft YaHei"/>
                <a:ea typeface="Microsoft YaHei"/>
              </a:rPr>
              <a:t>能力目标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22868" y="1956816"/>
            <a:ext cx="3173882" cy="11887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完成本课工单并当堂通过检查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268004" y="3163824"/>
            <a:ext cx="3283610" cy="365760"/>
          </a:xfrm>
          <a:prstGeom prst="roundRect">
            <a:avLst>
              <a:gd name="adj" fmla="val 220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77732" y="3163824"/>
            <a:ext cx="306415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F5A7D"/>
                </a:solidFill>
                <a:latin typeface="Microsoft YaHei"/>
                <a:ea typeface="Microsoft YaHei"/>
              </a:rPr>
              <a:t>检验：同桌互查代码规范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75488" y="3950208"/>
            <a:ext cx="11240719" cy="1591056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49808" y="4078224"/>
            <a:ext cx="548640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3D2E8C"/>
                </a:solidFill>
                <a:latin typeface="Microsoft YaHei"/>
                <a:ea typeface="Microsoft YaHei"/>
              </a:rPr>
              <a:t>课堂节奏（80分钟）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49808" y="4535424"/>
            <a:ext cx="1511706" cy="241300"/>
          </a:xfrm>
          <a:prstGeom prst="roundRect">
            <a:avLst>
              <a:gd name="adj" fmla="val 50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49808" y="4535424"/>
            <a:ext cx="151170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1.回顾预习卡与微课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888223" y="4535424"/>
            <a:ext cx="1780946" cy="241300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888223" y="4535424"/>
            <a:ext cx="178094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2.知识精讲（先例后理）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026639" y="4535424"/>
            <a:ext cx="1242466" cy="241300"/>
          </a:xfrm>
          <a:prstGeom prst="roundRect">
            <a:avLst>
              <a:gd name="adj" fmla="val 50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26639" y="4535424"/>
            <a:ext cx="124246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3.演示代码骨架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165055" y="4535424"/>
            <a:ext cx="1554784" cy="241300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165055" y="4535424"/>
            <a:ext cx="1554784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4.基础实现（D/C层…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303471" y="4535424"/>
            <a:ext cx="1533245" cy="241300"/>
          </a:xfrm>
          <a:prstGeom prst="roundRect">
            <a:avLst>
              <a:gd name="adj" fmla="val 50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303471" y="4535424"/>
            <a:ext cx="1533245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5.小结+布置第2次课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49808" y="5084064"/>
            <a:ext cx="10692079" cy="38404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节奏纪律：讲10分钟必须动手一次；实操环节教师只答疑不代写——卡住先查《报错翻译对照表》，再举手。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1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12191695" cy="118872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822960"/>
            <a:ext cx="2377440" cy="14630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00A6A6"/>
                </a:solidFill>
                <a:latin typeface="Microsoft YaHei"/>
                <a:ea typeface="Microsoft YaHei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51760" y="2560320"/>
            <a:ext cx="8778240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Microsoft YaHei"/>
                <a:ea typeface="Microsoft YaHei"/>
              </a:rPr>
              <a:t>知识精讲 · 讲透每个概念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1760" y="1572768"/>
            <a:ext cx="896112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C9D4E4"/>
                </a:solidFill>
                <a:latin typeface="Microsoft YaHei"/>
                <a:ea typeface="Microsoft YaHei"/>
              </a:rPr>
              <a:t>本章聚焦：隐藏层/激活函数 · 学习曲线诊断 · Dropout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0" y="4059936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88920" y="4059936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A6A6"/>
                </a:solidFill>
                <a:latin typeface="Microsoft YaHei"/>
                <a:ea typeface="Microsoft YaHe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46120" y="4059936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神经元与MLP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4059936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("神经元=加权和+激活：y=f(w·x+b)——一组权重把输入'…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651760" y="4553712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263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88920" y="4553712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A6A6"/>
                </a:solidFill>
                <a:latin typeface="Microsoft YaHei"/>
                <a:ea typeface="Microsoft YaHe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46120" y="4553712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ReLU激活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4553712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('ReLU=max(0,x)：负半轴压平正半轴直通——引入非线性…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651760" y="5047488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88920" y="5047488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A6A6"/>
                </a:solidFill>
                <a:latin typeface="Microsoft YaHei"/>
                <a:ea typeface="Microsoft YaHe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46120" y="5047488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前向与反向传播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5047488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('前向=数据从输入流向输出算预测；反向传播=误差从输出反着流回每…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651760" y="5989320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88920" y="5989320"/>
            <a:ext cx="85039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00A6A6"/>
                </a:solidFill>
                <a:latin typeface="Microsoft YaHei"/>
                <a:ea typeface="Microsoft YaHei"/>
              </a:rPr>
              <a:t>本章产出：四要素详解页×3 · 图解页×3 · 可跟打代码页×2 · 工单与分层工单各1份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5488" y="6473952"/>
            <a:ext cx="10515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8C99B5"/>
                </a:solidFill>
                <a:latin typeface="Microsoft YaHei"/>
                <a:ea typeface="Microsoft YaHei"/>
              </a:rPr>
              <a:t>AI应用基础（48课时版） · V1 · W13-09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知识精讲 · 四要素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W13-09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6 / 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04952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04952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KNOWLEDGE B01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B01 神经元与MLP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定义 → 场景 → 实例 → 误区：一次讲透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7160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5488" y="1371600"/>
            <a:ext cx="64008" cy="2395728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94944" y="151790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4944" y="151790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定义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" y="193852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神经元=加权求和+激活；MLP多层堆叠学非线性边界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原理：神经元=加权和+激活：y=f(w·x+b)——一组权重把输入'投票'成输出，MLP就是多层神经元接力加工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05575" y="137160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05575" y="1371600"/>
            <a:ext cx="64008" cy="2395728"/>
          </a:xfrm>
          <a:prstGeom prst="rect">
            <a:avLst/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25031" y="151790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25031" y="151790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使用场景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3319" y="193852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传统模型画不出的弯弯曲曲分类面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怎么判断：从线性不可分问题入门：单层画不出'异或'边界，两层就画得出——'层'的意义亲眼所见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75488" y="393192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75488" y="3931920"/>
            <a:ext cx="64008" cy="2395728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94944" y="407822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4944" y="407822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应用实例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" y="449884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231D3D"/>
                </a:solidFill>
                <a:latin typeface="Consolas"/>
                <a:ea typeface="Microsoft YaHei"/>
              </a:rPr>
              <a:t>Dense(64,'relu')接Dense(1,'sigmoid')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F5A7D"/>
                </a:solidFill>
                <a:latin typeface="Consolas"/>
                <a:ea typeface="Microsoft YaHei"/>
              </a:rPr>
              <a:t>逐行看：Dense(64,activation='relu') 64个神经元投票层；权重矩阵W形状(输入维,64)——每列一个神经元的'投票权重'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05575" y="393192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05575" y="3931920"/>
            <a:ext cx="64008" cy="2395728"/>
          </a:xfrm>
          <a:prstGeom prst="rect">
            <a:avLst/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425031" y="407822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25031" y="407822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扩展与误区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43319" y="449884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误区：层数越深越好——数据少时深网白喂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进阶：万能近似定理：单隐层足够宽可逼近任意函数（理论底座）；深度vs宽度：层数换参数效率——现代网络选深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知识精讲 · 图解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W13-09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7 / 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260774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260774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VISUAL · B01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神经元与MLP：一张图看懂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图优先：先看图再回头读代码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80092" y="1362456"/>
            <a:ext cx="7014551" cy="3758184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5DB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947f702aa314fa8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7524" y="1389888"/>
            <a:ext cx="6959687" cy="37033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927848" y="1463040"/>
            <a:ext cx="3788359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3D2E8C"/>
                </a:solidFill>
                <a:latin typeface="Microsoft YaHei"/>
                <a:ea typeface="Microsoft YaHei"/>
              </a:rPr>
              <a:t>四个观察点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27848" y="1920240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74152" y="2029968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74152" y="2029968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58200" y="2011680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231D3D"/>
                </a:solidFill>
                <a:latin typeface="Microsoft YaHei"/>
                <a:ea typeface="Microsoft YaHei"/>
              </a:rPr>
              <a:t>一张图纸可造多台设备（实例化）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27848" y="2736342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074152" y="2846070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74152" y="2846070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58200" y="2827782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231D3D"/>
                </a:solidFill>
                <a:latin typeface="Microsoft YaHei"/>
                <a:ea typeface="Microsoft YaHei"/>
              </a:rPr>
              <a:t>属性=铭牌；方法=操作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927848" y="3552444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074152" y="3662172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74152" y="3662172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3643884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231D3D"/>
                </a:solidFill>
                <a:latin typeface="Microsoft YaHei"/>
                <a:ea typeface="Microsoft YaHei"/>
              </a:rPr>
              <a:t>追问：误区：层数越深越好——数据少时深网白喂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75488" y="5230368"/>
            <a:ext cx="7223760" cy="89611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76656" y="5330952"/>
            <a:ext cx="6858000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1">
                <a:solidFill>
                  <a:srgbClr val="231D3D"/>
                </a:solidFill>
                <a:latin typeface="Microsoft YaHei"/>
                <a:ea typeface="Microsoft YaHei"/>
              </a:rPr>
              <a:t>一句话：神经元=加权求和+激活；MLP多层堆叠学非线性边界</a:t>
            </a: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
何时用：传统模型画不出的弯弯曲曲分类面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知识精讲 · 四要素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W13-09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8 / 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04952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04952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KNOWLEDGE B02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B02 ReLU激活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定义 → 场景 → 实例 → 误区：一次讲透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7160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5488" y="1371600"/>
            <a:ext cx="64008" cy="2395728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94944" y="151790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4944" y="151790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定义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" y="193852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负半轴归零——梯度不饱和训练快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原理：ReLU=max(0,x)：负半轴压平正半轴直通——引入非线性折叠，多层才能弯出复杂边界；sigmoid两头饱和梯度消失是它被换掉的原因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05575" y="137160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05575" y="1371600"/>
            <a:ext cx="64008" cy="2395728"/>
          </a:xfrm>
          <a:prstGeom prst="rect">
            <a:avLst/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25031" y="151790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25031" y="151790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使用场景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3319" y="193852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隐藏层的默认选择——现代网络标配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怎么判断：隐层激活默认ReLU（快且不饱和）；输出层按任务选：二分类sigmoid/多分类softmax/回归不激活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75488" y="393192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75488" y="3931920"/>
            <a:ext cx="64008" cy="2395728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94944" y="407822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4944" y="407822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应用实例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" y="449884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231D3D"/>
                </a:solidFill>
                <a:latin typeface="Consolas"/>
                <a:ea typeface="Microsoft YaHei"/>
              </a:rPr>
              <a:t>Dense(64, activation='relu')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F5A7D"/>
                </a:solidFill>
                <a:latin typeface="Consolas"/>
                <a:ea typeface="Microsoft YaHei"/>
              </a:rPr>
              <a:t>逐行看：x=np.array([-2,-1,0,1,2]); np.maximum(0,x) →[0,0,0,1,2] —— 一行看懂折叠；对比sigmoid在|x|&gt;3时梯度趋0（学不动）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05575" y="393192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05575" y="3931920"/>
            <a:ext cx="64008" cy="2395728"/>
          </a:xfrm>
          <a:prstGeom prst="rect">
            <a:avLst/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425031" y="407822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25031" y="407822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扩展与误区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43319" y="449884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误区：输出层也用ReLU——按任务选sigmoid/softmax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进阶：LeakyReLU(0.01)防'死神经元'；GELU是Transformer时代的宠儿——激活函数进化史一条线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知识精讲 · 图解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W13-09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9 / 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260774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260774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VISUAL · B02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ReLU激活：一张图看懂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图优先：先看图再回头读代码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48056" y="1899701"/>
            <a:ext cx="7278624" cy="2683694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5DB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14a975e6352cef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" y="1927133"/>
            <a:ext cx="7223760" cy="262883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927848" y="1463040"/>
            <a:ext cx="3788359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3D2E8C"/>
                </a:solidFill>
                <a:latin typeface="Microsoft YaHei"/>
                <a:ea typeface="Microsoft YaHei"/>
              </a:rPr>
              <a:t>四个观察点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27848" y="1920240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74152" y="2029968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74152" y="2029968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58200" y="2011680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231D3D"/>
                </a:solidFill>
                <a:latin typeface="Microsoft YaHei"/>
                <a:ea typeface="Microsoft YaHei"/>
              </a:rPr>
              <a:t>先想清楚数据从哪来到哪去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27848" y="2736342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074152" y="2846070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74152" y="2846070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58200" y="2827782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231D3D"/>
                </a:solidFill>
                <a:latin typeface="Microsoft YaHei"/>
                <a:ea typeface="Microsoft YaHei"/>
              </a:rPr>
              <a:t>每一步只做一件事，错了好定位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927848" y="3552444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074152" y="3662172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74152" y="3662172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3643884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231D3D"/>
                </a:solidFill>
                <a:latin typeface="Microsoft YaHei"/>
                <a:ea typeface="Microsoft YaHei"/>
              </a:rPr>
              <a:t>追问：误区：输出层也用ReLU——按任务选sigmoid/softmax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75488" y="5230368"/>
            <a:ext cx="7223760" cy="89611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76656" y="5330952"/>
            <a:ext cx="6858000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1">
                <a:solidFill>
                  <a:srgbClr val="231D3D"/>
                </a:solidFill>
                <a:latin typeface="Microsoft YaHei"/>
                <a:ea typeface="Microsoft YaHei"/>
              </a:rPr>
              <a:t>一句话：负半轴归零——梯度不饱和训练快</a:t>
            </a: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
何时用：隐藏层的默认选择——现代网络标配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知识精讲 · 四要素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W13-09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10 / 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04952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04952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KNOWLEDGE B03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B03 前向与反向传播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定义 → 场景 → 实例 → 误区：一次讲透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7160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5488" y="1371600"/>
            <a:ext cx="64008" cy="2395728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94944" y="151790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4944" y="151790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定义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" y="193852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前向算输出、反向调权重——网络的'想'与'学'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原理：前向=数据从输入流向输出算预测；反向传播=误差从输出反着流回每层算梯度（链式法则），梯度下降沿负梯度更新权重——训练的呼吸循环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05575" y="137160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05575" y="1371600"/>
            <a:ext cx="64008" cy="2395728"/>
          </a:xfrm>
          <a:prstGeom prst="rect">
            <a:avLst/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25031" y="151790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25031" y="151790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使用场景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3319" y="193852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只讲直觉不推公式——答辩能画图讲清即可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怎么判断：看懂'一轮训练'=前向算loss→反向算梯度→optimizer.step()更新——三个动词循环epochs次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75488" y="393192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75488" y="3931920"/>
            <a:ext cx="64008" cy="2395728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94944" y="407822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4944" y="407822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应用实例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" y="449884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231D3D"/>
                </a:solidFill>
                <a:latin typeface="Consolas"/>
                <a:ea typeface="Microsoft YaHei"/>
              </a:rPr>
              <a:t>fit()内部自动完成传播循环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F5A7D"/>
                </a:solidFill>
                <a:latin typeface="Consolas"/>
                <a:ea typeface="Microsoft YaHei"/>
              </a:rPr>
              <a:t>逐行看：loss=criterion(y_pred,y_true) 算差距；loss.backward() 反向填梯度；optimizer.step() 走一步——train loop三行诗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05575" y="393192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05575" y="3931920"/>
            <a:ext cx="64008" cy="2395728"/>
          </a:xfrm>
          <a:prstGeom prst="rect">
            <a:avLst/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425031" y="407822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25031" y="407822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扩展与误区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43319" y="449884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参数量决定显存与数据需求——画三层图讲一遍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进阶：学习率=步长：太大震荡不收敛、太小磨蹭——lr scheduler余弦退火自动调步长（进阶）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知识精讲 · 图解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W13-09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11 / 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260774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260774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VISUAL · B03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前向与反向传播：一张图看懂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图优先：先看图再回头读代码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48056" y="1899701"/>
            <a:ext cx="7278624" cy="2683694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5DB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4614456dfe1aac9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" y="1927133"/>
            <a:ext cx="7223760" cy="262883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927848" y="1463040"/>
            <a:ext cx="3788359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3D2E8C"/>
                </a:solidFill>
                <a:latin typeface="Microsoft YaHei"/>
                <a:ea typeface="Microsoft YaHei"/>
              </a:rPr>
              <a:t>四个观察点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27848" y="1920240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74152" y="2029968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74152" y="2029968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58200" y="2011680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231D3D"/>
                </a:solidFill>
                <a:latin typeface="Microsoft YaHei"/>
                <a:ea typeface="Microsoft YaHei"/>
              </a:rPr>
              <a:t>先想清楚数据从哪来到哪去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27848" y="2736342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074152" y="2846070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74152" y="2846070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58200" y="2827782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231D3D"/>
                </a:solidFill>
                <a:latin typeface="Microsoft YaHei"/>
                <a:ea typeface="Microsoft YaHei"/>
              </a:rPr>
              <a:t>每一步只做一件事，错了好定位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927848" y="3552444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074152" y="3662172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74152" y="3662172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3643884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231D3D"/>
                </a:solidFill>
                <a:latin typeface="Microsoft YaHei"/>
                <a:ea typeface="Microsoft YaHei"/>
              </a:rPr>
              <a:t>追问：参数量决定显存与数据需求——画三层图讲一遍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75488" y="5230368"/>
            <a:ext cx="7223760" cy="89611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76656" y="5330952"/>
            <a:ext cx="6858000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1">
                <a:solidFill>
                  <a:srgbClr val="231D3D"/>
                </a:solidFill>
                <a:latin typeface="Microsoft YaHei"/>
                <a:ea typeface="Microsoft YaHei"/>
              </a:rPr>
              <a:t>一句话：前向算输出、反向调权重——网络的'想'与'学'</a:t>
            </a: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
何时用：只讲直觉不推公式——答辩能画图讲清即可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1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12191695" cy="118872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822960"/>
            <a:ext cx="2377440" cy="14630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00A6A6"/>
                </a:solidFill>
                <a:latin typeface="Microsoft YaHei"/>
                <a:ea typeface="Microsoft YaHei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51760" y="2560320"/>
            <a:ext cx="8778240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Microsoft YaHei"/>
                <a:ea typeface="Microsoft YaHei"/>
              </a:rPr>
              <a:t>技能实操 · 代码跑起来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1760" y="1572768"/>
            <a:ext cx="896112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C9D4E4"/>
                </a:solidFill>
                <a:latin typeface="Microsoft YaHei"/>
                <a:ea typeface="Microsoft YaHei"/>
              </a:rPr>
              <a:t>本章聚焦：隐藏层/激活函数 · 学习曲线诊断 · Dropout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0" y="3840480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88920" y="3840480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A6A6"/>
                </a:solidFill>
                <a:latin typeface="Microsoft YaHei"/>
                <a:ea typeface="Microsoft YaHe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46120" y="3840480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MLP骨架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3840480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from sklearn.neural_network i…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651760" y="4334256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263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88920" y="4334256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A6A6"/>
                </a:solidFill>
                <a:latin typeface="Microsoft YaHei"/>
                <a:ea typeface="Microsoft YaHe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46120" y="4334256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损失曲线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4334256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h = model.fit(X_tr, y_tr, val…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651760" y="4828032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88920" y="4828032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A6A6"/>
                </a:solidFill>
                <a:latin typeface="Microsoft YaHei"/>
                <a:ea typeface="Microsoft YaHe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46120" y="4828032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技能 · 能搭建并训练MLP分类器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4828032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能搭建并训练MLP分类器——应用：见工单starter与教师参考实现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651760" y="5321808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263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88920" y="5321808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A6A6"/>
                </a:solidFill>
                <a:latin typeface="Microsoft YaHei"/>
                <a:ea typeface="Microsoft YaHei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46120" y="5321808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技能 · 能读懂训练验证损失曲线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5321808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能读懂训练验证损失曲线——应用：见工单starter与教师参考实现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651760" y="5815584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788920" y="5815584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A6A6"/>
                </a:solidFill>
                <a:latin typeface="Microsoft YaHei"/>
                <a:ea typeface="Microsoft YaHei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46120" y="5815584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技能 · 能用Dropout与早…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5815584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能用Dropout与早停治过拟合——应用：见工单starter与教…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651760" y="5989320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788920" y="5989320"/>
            <a:ext cx="85039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00A6A6"/>
                </a:solidFill>
                <a:latin typeface="Microsoft YaHei"/>
                <a:ea typeface="Microsoft YaHei"/>
              </a:rPr>
              <a:t>本章产出：四要素详解页×5 · 图解页×3 · 可跟打代码页×2 · 工单与分层工单各1份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75488" y="6473952"/>
            <a:ext cx="10515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8C99B5"/>
                </a:solidFill>
                <a:latin typeface="Microsoft YaHei"/>
                <a:ea typeface="Microsoft YaHei"/>
              </a:rPr>
              <a:t>AI应用基础（48课时版） · V1 · W13-09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技能实操 · 可执行代码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W13-09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13 / 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966764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966764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CODE LAB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MLP骨架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代码节选 · 依赖工单/starter 上下文（课堂跟打 starter 看完整运行）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71600"/>
            <a:ext cx="11021263" cy="4754880"/>
          </a:xfrm>
          <a:prstGeom prst="roundRect">
            <a:avLst>
              <a:gd name="adj" fmla="val 4500"/>
            </a:avLst>
          </a:prstGeom>
          <a:solidFill>
            <a:srgbClr val="1410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03504" y="1453896"/>
            <a:ext cx="2103120" cy="237744"/>
          </a:xfrm>
          <a:prstGeom prst="roundRect">
            <a:avLst>
              <a:gd name="adj" fmla="val 50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3504" y="1453896"/>
            <a:ext cx="2103120" cy="23774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 代码节选 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" y="1764792"/>
            <a:ext cx="10728655" cy="427024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6000"/>
              </a:lnSpc>
            </a:pPr>
            <a:r>
              <a:rPr sz="1200" b="0">
                <a:solidFill>
                  <a:srgbClr val="DDD9F0"/>
                </a:solidFill>
                <a:latin typeface="Consolas"/>
                <a:ea typeface="Microsoft YaHei"/>
              </a:rPr>
              <a:t>from sklearn.neural_network import MLPClassifier</a:t>
            </a:r>
          </a:p>
          <a:p>
            <a:pPr algn="l">
              <a:lnSpc>
                <a:spcPct val="106000"/>
              </a:lnSpc>
            </a:pPr>
            <a:r>
              <a:rPr sz="1200" b="0">
                <a:solidFill>
                  <a:srgbClr val="DDD9F0"/>
                </a:solidFill>
                <a:latin typeface="Consolas"/>
                <a:ea typeface="Microsoft YaHei"/>
              </a:rPr>
              <a:t>mlp = MLPClassifier(hidden_layer_sizes=(64, 32), early_stopping=True).fit(X_tr, y_tr)</a:t>
            </a:r>
          </a:p>
          <a:p>
            <a:pPr algn="l">
              <a:lnSpc>
                <a:spcPct val="106000"/>
              </a:lnSpc>
            </a:pPr>
            <a:r>
              <a:rPr sz="1200" b="0">
                <a:solidFill>
                  <a:srgbClr val="DDD9F0"/>
                </a:solidFill>
                <a:latin typeface="Consolas"/>
                <a:ea typeface="Microsoft YaHei"/>
              </a:rPr>
              <a:t>print("test acc:", mlp.score(X_te, y_te))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5488" y="5349240"/>
            <a:ext cx="11240719" cy="777240"/>
          </a:xfrm>
          <a:prstGeom prst="roundRect">
            <a:avLst>
              <a:gd name="adj" fmla="val 5500"/>
            </a:avLst>
          </a:prstGeom>
          <a:solidFill>
            <a:srgbClr val="FDF6E9"/>
          </a:solidFill>
          <a:ln w="9525">
            <a:solidFill>
              <a:srgbClr val="E5C9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4088" y="5477256"/>
            <a:ext cx="10783519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8A6D1D"/>
                </a:solidFill>
                <a:latin typeface="Microsoft YaHei"/>
                <a:ea typeface="Microsoft YaHei"/>
              </a:rPr>
              <a:t>本段引用工单上下文变量（starter 已备好）——跟打 starter 后取消注释对应行即可复现。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技能实操 · 可执行代码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W13-09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14 / 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966764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966764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CODE LAB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损失曲线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代码节选 · 依赖工单/starter 上下文（课堂跟打 starter 看完整运行）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71600"/>
            <a:ext cx="11021263" cy="4754880"/>
          </a:xfrm>
          <a:prstGeom prst="roundRect">
            <a:avLst>
              <a:gd name="adj" fmla="val 4500"/>
            </a:avLst>
          </a:prstGeom>
          <a:solidFill>
            <a:srgbClr val="1410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03504" y="1453896"/>
            <a:ext cx="2103120" cy="237744"/>
          </a:xfrm>
          <a:prstGeom prst="roundRect">
            <a:avLst>
              <a:gd name="adj" fmla="val 50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3504" y="1453896"/>
            <a:ext cx="2103120" cy="23774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 代码节选 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" y="1764792"/>
            <a:ext cx="10728655" cy="427024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6000"/>
              </a:lnSpc>
            </a:pPr>
            <a:r>
              <a:rPr sz="1200" b="0">
                <a:solidFill>
                  <a:srgbClr val="DDD9F0"/>
                </a:solidFill>
                <a:latin typeface="Consolas"/>
                <a:ea typeface="Microsoft YaHei"/>
              </a:rPr>
              <a:t>h = model.fit(X_tr, y_tr, validation_split=.2, epochs=100,</a:t>
            </a:r>
          </a:p>
          <a:p>
            <a:pPr algn="l">
              <a:lnSpc>
                <a:spcPct val="106000"/>
              </a:lnSpc>
            </a:pPr>
            <a:r>
              <a:rPr sz="1200" b="0">
                <a:solidFill>
                  <a:srgbClr val="DDD9F0"/>
                </a:solidFill>
                <a:latin typeface="Consolas"/>
                <a:ea typeface="Microsoft YaHei"/>
              </a:rPr>
              <a:t>          callbacks=[EarlyStopping(patience=5)])</a:t>
            </a:r>
          </a:p>
          <a:p>
            <a:pPr algn="l">
              <a:lnSpc>
                <a:spcPct val="106000"/>
              </a:lnSpc>
            </a:pPr>
            <a:r>
              <a:rPr sz="1200" b="0">
                <a:solidFill>
                  <a:srgbClr val="DDD9F0"/>
                </a:solidFill>
                <a:latin typeface="Consolas"/>
                <a:ea typeface="Microsoft YaHei"/>
              </a:rPr>
              <a:t>plt.plot(h.history["loss"], label="train"); plt.plot(h.history["val_loss"], label="val"); plt.legend()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5488" y="5349240"/>
            <a:ext cx="11240719" cy="777240"/>
          </a:xfrm>
          <a:prstGeom prst="roundRect">
            <a:avLst>
              <a:gd name="adj" fmla="val 5500"/>
            </a:avLst>
          </a:prstGeom>
          <a:solidFill>
            <a:srgbClr val="FDF6E9"/>
          </a:solidFill>
          <a:ln w="9525">
            <a:solidFill>
              <a:srgbClr val="E5C9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4088" y="5477256"/>
            <a:ext cx="10783519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8A6D1D"/>
                </a:solidFill>
                <a:latin typeface="Microsoft YaHei"/>
                <a:ea typeface="Microsoft YaHei"/>
              </a:rPr>
              <a:t>本段引用工单上下文变量（starter 已备好）——跟打 starter 后取消注释对应行即可复现。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避坑指南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W13-09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15 / 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75628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75628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DEBUG · 常见报错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报错翻译：程序'说'了什么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报错是程序在说话——先读最后一行，再往上找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89888"/>
            <a:ext cx="11240719" cy="457200"/>
          </a:xfrm>
          <a:prstGeom prst="roundRect">
            <a:avLst>
              <a:gd name="adj" fmla="val 55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8" y="1463040"/>
            <a:ext cx="2788920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报错/现象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38728" y="1463040"/>
            <a:ext cx="3749039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为什么会这样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24928" y="1463040"/>
            <a:ext cx="3977639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怎么修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5488" y="1847088"/>
            <a:ext cx="11240719" cy="9601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2648" y="1938528"/>
            <a:ext cx="2697480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C0392B"/>
                </a:solidFill>
                <a:latin typeface="Microsoft YaHei"/>
                <a:ea typeface="Microsoft YaHei"/>
              </a:rPr>
              <a:t>loss为nan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38728" y="1938528"/>
            <a:ext cx="3657599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学习率过大或未标准化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24928" y="1938528"/>
            <a:ext cx="3886199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StandardScaler加lr调小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75488" y="2880360"/>
            <a:ext cx="11240719" cy="960120"/>
          </a:xfrm>
          <a:prstGeom prst="roundRect">
            <a:avLst>
              <a:gd name="adj" fmla="val 5500"/>
            </a:avLst>
          </a:prstGeom>
          <a:solidFill>
            <a:srgbClr val="F5F4FB"/>
          </a:solidFill>
          <a:ln w="9525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2648" y="2971800"/>
            <a:ext cx="2697480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C0392B"/>
                </a:solidFill>
                <a:latin typeface="Microsoft YaHei"/>
                <a:ea typeface="Microsoft YaHei"/>
              </a:rPr>
              <a:t>训练不动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38728" y="2971800"/>
            <a:ext cx="3657599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特征量纲悬殊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24928" y="2971800"/>
            <a:ext cx="3886199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先标准化再进网络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75488" y="3913632"/>
            <a:ext cx="11240719" cy="9601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12648" y="4005072"/>
            <a:ext cx="2697480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C0392B"/>
                </a:solidFill>
                <a:latin typeface="Microsoft YaHei"/>
                <a:ea typeface="Microsoft YaHei"/>
              </a:rPr>
              <a:t>早停太早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38728" y="4005072"/>
            <a:ext cx="3657599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patience过小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24928" y="4005072"/>
            <a:ext cx="3886199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patience取5到10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75488" y="4992624"/>
            <a:ext cx="11240719" cy="713232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04088" y="5102352"/>
            <a:ext cx="3566160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3D2E8C"/>
                </a:solidFill>
                <a:latin typeface="Microsoft YaHei"/>
                <a:ea typeface="Microsoft YaHei"/>
              </a:rPr>
              <a:t>① 读最后一行  </a:t>
            </a: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报错类型+行号都在这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61688" y="5102352"/>
            <a:ext cx="3566160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3D2E8C"/>
                </a:solidFill>
                <a:latin typeface="Microsoft YaHei"/>
                <a:ea typeface="Microsoft YaHei"/>
              </a:rPr>
              <a:t>② 定位变量  </a:t>
            </a: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NameError=没定义/拼错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19288" y="5102352"/>
            <a:ext cx="3566160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3D2E8C"/>
                </a:solidFill>
                <a:latin typeface="Microsoft YaHei"/>
                <a:ea typeface="Microsoft YaHei"/>
              </a:rPr>
              <a:t>③ 最小复现  </a:t>
            </a: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注释一半再跑，二分找错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1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12191695" cy="118872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822960"/>
            <a:ext cx="2377440" cy="14630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00A6A6"/>
                </a:solidFill>
                <a:latin typeface="Microsoft YaHei"/>
                <a:ea typeface="Microsoft YaHei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51760" y="2560320"/>
            <a:ext cx="8778240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Microsoft YaHei"/>
                <a:ea typeface="Microsoft YaHei"/>
              </a:rPr>
              <a:t>工单实战 · 按单交付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1760" y="1572768"/>
            <a:ext cx="896112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C9D4E4"/>
                </a:solidFill>
                <a:latin typeface="Microsoft YaHei"/>
                <a:ea typeface="Microsoft YaHei"/>
              </a:rPr>
              <a:t>本章聚焦：隐藏层/激活函数 · 学习曲线诊断 · Dropout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0" y="4059936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88920" y="4059936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A6A6"/>
                </a:solidFill>
                <a:latin typeface="Microsoft YaHei"/>
                <a:ea typeface="Microsoft YaHe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46120" y="4059936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交付清单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4059936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按工单步骤逐项打勾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651760" y="4553712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263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88920" y="4553712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A6A6"/>
                </a:solidFill>
                <a:latin typeface="Microsoft YaHei"/>
                <a:ea typeface="Microsoft YaHe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46120" y="4553712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及格/优秀线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4553712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D/C保底 · B/A冲刺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651760" y="5047488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88920" y="5047488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A6A6"/>
                </a:solidFill>
                <a:latin typeface="Microsoft YaHei"/>
                <a:ea typeface="Microsoft YaHe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46120" y="5047488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A/B/C/D分层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5047488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按当前水平选起点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651760" y="5989320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88920" y="5989320"/>
            <a:ext cx="85039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00A6A6"/>
                </a:solidFill>
                <a:latin typeface="Microsoft YaHei"/>
                <a:ea typeface="Microsoft YaHei"/>
              </a:rPr>
              <a:t>本章产出：四要素详解页×3 · 图解页×3 · 可跟打代码页×2 · 工单与分层工单各1份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5488" y="6473952"/>
            <a:ext cx="10515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8C99B5"/>
                </a:solidFill>
                <a:latin typeface="Microsoft YaHei"/>
                <a:ea typeface="Microsoft YaHei"/>
              </a:rPr>
              <a:t>AI应用基础（48课时版） · V1 · W13-09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工单实战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W13-09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17 / 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142039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142039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WORK ORDER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工单 M2-3a · MLP神经网络（上）：基础实现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按单交付：及格线保底，优秀线冲刺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71600"/>
            <a:ext cx="6583680" cy="47091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9808" y="1499616"/>
            <a:ext cx="6035040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3D2E8C"/>
                </a:solidFill>
                <a:latin typeface="Microsoft YaHei"/>
                <a:ea typeface="Microsoft YaHei"/>
              </a:rPr>
              <a:t>交付清单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9808" y="1920240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9808" y="1920240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25296" y="1901952"/>
            <a:ext cx="5669280" cy="53035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能搭建并训练MLP分类器——应用：见工单starter与教师参考实现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49808" y="2505456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808" y="2505456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25296" y="2487168"/>
            <a:ext cx="5669280" cy="53035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能读懂训练验证损失曲线——应用：见工单starter与教师参考实现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49808" y="3090672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9808" y="3090672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25296" y="3072384"/>
            <a:ext cx="5669280" cy="53035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能用Dropout与早停治过拟合——应用：见工单starter与教师参考实现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49808" y="3675888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9808" y="3675888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25296" y="3657600"/>
            <a:ext cx="5669280" cy="53035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能写结构决策记录——应用：见工单starter与教师参考实现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49808" y="4526280"/>
            <a:ext cx="6035040" cy="1389888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50976" y="4617720"/>
            <a:ext cx="5669280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3D2E8C"/>
                </a:solidFill>
                <a:latin typeface="Microsoft YaHei"/>
                <a:ea typeface="Microsoft YaHei"/>
              </a:rPr>
              <a:t>验收清单（教师按此打分）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50976" y="4992624"/>
            <a:ext cx="146304" cy="146304"/>
          </a:xfrm>
          <a:prstGeom prst="rect">
            <a:avLst/>
          </a:prstGeom>
          <a:noFill/>
          <a:ln w="15240">
            <a:solidFill>
              <a:srgbClr val="3D2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88720" y="4928616"/>
            <a:ext cx="5486400" cy="2926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31D3D"/>
                </a:solidFill>
                <a:latin typeface="Microsoft YaHei"/>
                <a:ea typeface="Microsoft YaHei"/>
              </a:rPr>
              <a:t>程序运行无报错，输出与示例一致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50976" y="5303520"/>
            <a:ext cx="146304" cy="146304"/>
          </a:xfrm>
          <a:prstGeom prst="rect">
            <a:avLst/>
          </a:prstGeom>
          <a:noFill/>
          <a:ln w="15240">
            <a:solidFill>
              <a:srgbClr val="3D2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88720" y="5239512"/>
            <a:ext cx="5486400" cy="2926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31D3D"/>
                </a:solidFill>
                <a:latin typeface="Microsoft YaHei"/>
                <a:ea typeface="Microsoft YaHei"/>
              </a:rPr>
              <a:t>截图含完整运行结果与文件名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50976" y="5614416"/>
            <a:ext cx="146304" cy="146304"/>
          </a:xfrm>
          <a:prstGeom prst="rect">
            <a:avLst/>
          </a:prstGeom>
          <a:noFill/>
          <a:ln w="15240">
            <a:solidFill>
              <a:srgbClr val="3D2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88720" y="5550408"/>
            <a:ext cx="5486400" cy="2926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31D3D"/>
                </a:solidFill>
                <a:latin typeface="Microsoft YaHei"/>
                <a:ea typeface="Microsoft YaHei"/>
              </a:rPr>
              <a:t>变量命名规范率达标（snake_case）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287768" y="1371600"/>
            <a:ext cx="4428439" cy="1691640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525512" y="1499616"/>
            <a:ext cx="3971239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3A4A63"/>
                </a:solidFill>
                <a:latin typeface="Microsoft YaHei"/>
                <a:ea typeface="Microsoft YaHei"/>
              </a:rPr>
              <a:t>及格线 · D/C层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525512" y="1865376"/>
            <a:ext cx="3925519" cy="9601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2000"/>
              </a:lnSpc>
            </a:pPr>
            <a:r>
              <a:rPr sz="1350" b="0">
                <a:solidFill>
                  <a:srgbClr val="231D3D"/>
                </a:solidFill>
                <a:latin typeface="Microsoft YaHei"/>
                <a:ea typeface="Microsoft YaHei"/>
              </a:rPr>
              <a:t>准确率≥75% / 诊断报告完整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525512" y="2779776"/>
            <a:ext cx="397123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F5A7D"/>
                </a:solidFill>
                <a:latin typeface="Microsoft YaHei"/>
                <a:ea typeface="Microsoft YaHei"/>
              </a:rPr>
              <a:t>检查方式：运行+截图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287768" y="3246119"/>
            <a:ext cx="4428439" cy="1691640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525512" y="3374135"/>
            <a:ext cx="3971239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0A6A6"/>
                </a:solidFill>
                <a:latin typeface="Microsoft YaHei"/>
                <a:ea typeface="Microsoft YaHei"/>
              </a:rPr>
              <a:t>优秀线 · B/A层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525512" y="3739895"/>
            <a:ext cx="3925519" cy="9601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2000"/>
              </a:lnSpc>
            </a:pPr>
            <a:r>
              <a:rPr sz="1350" b="0">
                <a:solidFill>
                  <a:srgbClr val="231D3D"/>
                </a:solidFill>
                <a:latin typeface="Microsoft YaHei"/>
                <a:ea typeface="Microsoft YaHei"/>
              </a:rPr>
              <a:t>准确率≥85% / 结构搜索对比表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525512" y="4654295"/>
            <a:ext cx="397123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F5A7D"/>
                </a:solidFill>
                <a:latin typeface="Microsoft YaHei"/>
                <a:ea typeface="Microsoft YaHei"/>
              </a:rPr>
              <a:t>检查方式：运行+规范+答辩追问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287768" y="5138928"/>
            <a:ext cx="4428439" cy="941832"/>
          </a:xfrm>
          <a:prstGeom prst="roundRect">
            <a:avLst>
              <a:gd name="adj" fmla="val 5500"/>
            </a:avLst>
          </a:prstGeom>
          <a:solidFill>
            <a:srgbClr val="241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525512" y="5257800"/>
            <a:ext cx="3971239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0A6A6"/>
                </a:solidFill>
                <a:latin typeface="Microsoft YaHei"/>
                <a:ea typeface="Microsoft YaHei"/>
              </a:rPr>
              <a:t>提交物</a:t>
            </a:r>
            <a:r>
              <a:rPr sz="1050" b="0">
                <a:solidFill>
                  <a:srgbClr val="D8E1EC"/>
                </a:solidFill>
                <a:latin typeface="Microsoft YaHei"/>
                <a:ea typeface="Microsoft YaHei"/>
              </a:rPr>
              <a:t>
代码文件+运行截图+工单决策记录（上传学习平台）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工单完成效果图 · 先看终点（本课目标预览）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W13-09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18 / 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63040" cy="256032"/>
          </a:xfrm>
          <a:prstGeom prst="roundRect">
            <a:avLst>
              <a:gd name="adj" fmla="val 6000"/>
            </a:avLst>
          </a:prstGeom>
          <a:solidFill>
            <a:srgbClr val="00A6A6"/>
          </a:solidFill>
          <a:ln w="9525">
            <a:solidFill>
              <a:srgbClr val="00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63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FFFFFF"/>
                </a:solidFill>
              </a:rPr>
              <a:t>DONE SHOT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379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500" b="1">
                <a:solidFill>
                  <a:srgbClr val="231D3D"/>
                </a:solidFill>
              </a:rPr>
              <a:t>工单完成效果图 · 完成后长这样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379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F5A7D"/>
                </a:solidFill>
              </a:rPr>
              <a:t>真实运行 · 参考实现——先看清'交付标准答案'，再动手写自己的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75488" y="1371600"/>
            <a:ext cx="11237976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FC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475488" y="3794760"/>
            <a:ext cx="11237976" cy="1188720"/>
          </a:xfrm>
          <a:prstGeom prst="roundRect">
            <a:avLst>
              <a:gd name="adj" fmla="val 6000"/>
            </a:avLst>
          </a:prstGeom>
          <a:solidFill>
            <a:srgbClr val="EAE7F8"/>
          </a:solidFill>
          <a:ln w="9525">
            <a:solidFill>
              <a:srgbClr val="CFC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475488" y="5074920"/>
            <a:ext cx="11237976" cy="1234440"/>
          </a:xfrm>
          <a:prstGeom prst="roundRect">
            <a:avLst>
              <a:gd name="adj" fmla="val 6000"/>
            </a:avLst>
          </a:prstGeom>
          <a:solidFill>
            <a:srgbClr val="EAE7F8"/>
          </a:solidFill>
          <a:ln w="9525">
            <a:solidFill>
              <a:srgbClr val="CFC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749808" y="1517904"/>
            <a:ext cx="10698480" cy="2057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3D2E8C"/>
                </a:solidFill>
              </a:rPr>
              <a:t>① 参考实现真实运行输出（本工单完成态）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=== 工单 M2-3a MLP 神经网络 · 完成态 ===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数据: 600 样本 × 30 维频谱 · 隐藏层 (64, 32) · 标准化已启用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训练轮数 37（early_stopping 提前停止）  测试准确率 = 0.933（目标≥0.75）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损失曲线诊断: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  首轮   epoch  1  loss=0.6484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  1/4  epoch 10  loss=0.4235  ×2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  末轮   epoch 37  loss=0.1044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  收敛判断: 末轮loss 0.1044 持续下降→收敛良好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结论: 中频段抬升（2-7维）是可学信号；网络结构+早停+正则三件套，准确率与泛化同时守住。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3931920"/>
            <a:ext cx="1069848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3D2E8C"/>
                </a:solidFill>
              </a:rPr>
              <a:t>② 关键自检点（对照工单逐项核对）</a:t>
            </a:r>
          </a:p>
          <a:p>
            <a:pPr algn="l">
              <a:spcBef>
                <a:spcPts val="200"/>
              </a:spcBef>
            </a:pPr>
            <a:r>
              <a:rPr sz="1150" b="0">
                <a:solidFill>
                  <a:srgbClr val="231D3D"/>
                </a:solidFill>
              </a:rPr>
              <a:t>□ 代码从头跑到尾不报错（python xx.py 再跑一遍）</a:t>
            </a:r>
          </a:p>
          <a:p>
            <a:pPr algn="l">
              <a:spcBef>
                <a:spcPts val="100"/>
              </a:spcBef>
            </a:pPr>
            <a:r>
              <a:rPr sz="1150" b="0">
                <a:solidFill>
                  <a:srgbClr val="231D3D"/>
                </a:solidFill>
              </a:rPr>
              <a:t>□ 指标达标：与工单及格线逐项对齐（准确率/F1/耗时）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8" y="5212080"/>
            <a:ext cx="106984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3D2E8C"/>
                </a:solidFill>
              </a:rPr>
              <a:t>③ 提交与达标（过程性证据）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231D3D"/>
                </a:solidFill>
              </a:rPr>
              <a:t>达标线：D≥60 / C≥70 / B≥80 / A≥90　｜　提交：学号_姓名_工单号 + 运行截图 + 决策记录 + Git≥1次commit</a:t>
            </a:r>
          </a:p>
          <a:p>
            <a:pPr algn="l">
              <a:spcBef>
                <a:spcPts val="100"/>
              </a:spcBef>
            </a:pPr>
            <a:r>
              <a:rPr sz="1100" b="0">
                <a:solidFill>
                  <a:srgbClr val="5F5A7D"/>
                </a:solidFill>
              </a:rPr>
              <a:t>复核：自检 → 互检 → 师查（三层质检）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本工单的工程化项目 · 第三种代码形态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W13-09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19 / 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63040" cy="256032"/>
          </a:xfrm>
          <a:prstGeom prst="roundRect">
            <a:avLst>
              <a:gd name="adj" fmla="val 6000"/>
            </a:avLst>
          </a:prstGeom>
          <a:solidFill>
            <a:srgbClr val="00A6A6"/>
          </a:solidFill>
          <a:ln w="9525">
            <a:solidFill>
              <a:srgbClr val="00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63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FFFFFF"/>
                </a:solidFill>
              </a:rPr>
              <a:t>DONE SHOT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379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500" b="1">
                <a:solidFill>
                  <a:srgbClr val="231D3D"/>
                </a:solidFill>
              </a:rPr>
              <a:t>本工单的工程化项目 · 第三种代码形态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379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F5A7D"/>
                </a:solidFill>
              </a:rPr>
              <a:t>真实运行 · 参考实现——先看清'交付标准答案'，再动手写自己的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75488" y="1371600"/>
            <a:ext cx="11237976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FC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475488" y="3794760"/>
            <a:ext cx="11237976" cy="1188720"/>
          </a:xfrm>
          <a:prstGeom prst="roundRect">
            <a:avLst>
              <a:gd name="adj" fmla="val 6000"/>
            </a:avLst>
          </a:prstGeom>
          <a:solidFill>
            <a:srgbClr val="EAE7F8"/>
          </a:solidFill>
          <a:ln w="9525">
            <a:solidFill>
              <a:srgbClr val="CFC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475488" y="5074920"/>
            <a:ext cx="11237976" cy="1234440"/>
          </a:xfrm>
          <a:prstGeom prst="roundRect">
            <a:avLst>
              <a:gd name="adj" fmla="val 6000"/>
            </a:avLst>
          </a:prstGeom>
          <a:solidFill>
            <a:srgbClr val="EAE7F8"/>
          </a:solidFill>
          <a:ln w="9525">
            <a:solidFill>
              <a:srgbClr val="CFC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749808" y="1517904"/>
            <a:ext cx="10698480" cy="2057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3D2E8C"/>
                </a:solidFill>
              </a:rPr>
              <a:t>① 项目位置与一键运行</a:t>
            </a:r>
          </a:p>
          <a:p>
            <a:pPr algn="l"/>
            <a:r>
              <a:rPr sz="1400" b="1">
                <a:solidFill>
                  <a:srgbClr val="3D2E8C"/>
                </a:solidFill>
              </a:rPr>
              <a:t>工程化项目/m23a_mlp/</a:t>
            </a:r>
          </a:p>
          <a:p>
            <a:pPr algn="l"/>
            <a:r>
              <a:rPr sz="1400" b="1">
                <a:solidFill>
                  <a:srgbClr val="3D2E8C"/>
                </a:solidFill>
              </a:rPr>
              <a:t>python run.py          # 输出 output/report.txt + result.json</a:t>
            </a:r>
          </a:p>
          <a:p>
            <a:pPr algn="l"/>
            <a:r>
              <a:rPr sz="1400" b="1">
                <a:solidFill>
                  <a:srgbClr val="3D2E8C"/>
                </a:solidFill>
              </a:rPr>
              <a:t>python -m pytest -q    # 全量测试应全绿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3931920"/>
            <a:ext cx="1069848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3D2E8C"/>
                </a:solidFill>
              </a:rPr>
              <a:t>② 目录结构（23 个文件）</a:t>
            </a:r>
          </a:p>
          <a:p>
            <a:pPr algn="l"/>
            <a:r>
              <a:rPr sz="1300" b="1">
                <a:solidFill>
                  <a:srgbClr val="3D2E8C"/>
                </a:solidFill>
              </a:rPr>
              <a:t>config/rules.yaml      规则外置：改配置不改代码</a:t>
            </a:r>
          </a:p>
          <a:p>
            <a:pPr algn="l"/>
            <a:r>
              <a:rPr sz="1300" b="1">
                <a:solidFill>
                  <a:srgbClr val="3D2E8C"/>
                </a:solidFill>
              </a:rPr>
              <a:t>src/mlp_clf/  config · core · io_utils · report · pipeline</a:t>
            </a:r>
          </a:p>
          <a:p>
            <a:pPr algn="l"/>
            <a:r>
              <a:rPr sz="1300" b="1">
                <a:solidFill>
                  <a:srgbClr val="3D2E8C"/>
                </a:solidFill>
              </a:rPr>
              <a:t>tests/      正常 / 边界 / 异常三档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8" y="5212080"/>
            <a:ext cx="106984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3D2E8C"/>
                </a:solidFill>
              </a:rPr>
              <a:t>③ 国标与 TOGAF 落地</a:t>
            </a:r>
          </a:p>
          <a:p>
            <a:pPr algn="l"/>
            <a:r>
              <a:rPr sz="1300" b="1">
                <a:solidFill>
                  <a:srgbClr val="3D2E8C"/>
                </a:solidFill>
              </a:rPr>
              <a:t>GB/T 9385 需求规格 / 15532 测试 / 8567 文档 / 8566 过程组</a:t>
            </a:r>
          </a:p>
          <a:p>
            <a:pPr algn="l"/>
            <a:r>
              <a:rPr sz="1300" b="1">
                <a:solidFill>
                  <a:srgbClr val="3D2E8C"/>
                </a:solidFill>
              </a:rPr>
              <a:t>TOGAF 四域：业务 · 数据 · 应用 · 技术架构</a:t>
            </a:r>
          </a:p>
          <a:p>
            <a:pPr algn="l"/>
            <a:r>
              <a:rPr sz="1300" b="1">
                <a:solidFill>
                  <a:srgbClr val="3D2E8C"/>
                </a:solidFill>
              </a:rPr>
              <a:t>docs/07 ADR-001 架构决策记录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工单完成效果图 · 课末对照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W13-09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20 / 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63040" cy="256032"/>
          </a:xfrm>
          <a:prstGeom prst="roundRect">
            <a:avLst>
              <a:gd name="adj" fmla="val 6000"/>
            </a:avLst>
          </a:prstGeom>
          <a:solidFill>
            <a:srgbClr val="00A6A6"/>
          </a:solidFill>
          <a:ln w="9525">
            <a:solidFill>
              <a:srgbClr val="00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63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FFFFFF"/>
                </a:solidFill>
              </a:rPr>
              <a:t>DONE SHOT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379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500" b="1">
                <a:solidFill>
                  <a:srgbClr val="231D3D"/>
                </a:solidFill>
              </a:rPr>
              <a:t>工单完成效果图 · 完成后长这样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379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F5A7D"/>
                </a:solidFill>
              </a:rPr>
              <a:t>真实运行 · 参考实现——先看清'交付标准答案'，再动手写自己的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75488" y="1371600"/>
            <a:ext cx="11237976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FC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475488" y="3794760"/>
            <a:ext cx="11237976" cy="1188720"/>
          </a:xfrm>
          <a:prstGeom prst="roundRect">
            <a:avLst>
              <a:gd name="adj" fmla="val 6000"/>
            </a:avLst>
          </a:prstGeom>
          <a:solidFill>
            <a:srgbClr val="EAE7F8"/>
          </a:solidFill>
          <a:ln w="9525">
            <a:solidFill>
              <a:srgbClr val="CFC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475488" y="5074920"/>
            <a:ext cx="11237976" cy="1234440"/>
          </a:xfrm>
          <a:prstGeom prst="roundRect">
            <a:avLst>
              <a:gd name="adj" fmla="val 6000"/>
            </a:avLst>
          </a:prstGeom>
          <a:solidFill>
            <a:srgbClr val="EAE7F8"/>
          </a:solidFill>
          <a:ln w="9525">
            <a:solidFill>
              <a:srgbClr val="CFC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749808" y="1517904"/>
            <a:ext cx="10698480" cy="2057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3D2E8C"/>
                </a:solidFill>
              </a:rPr>
              <a:t>① 参考实现真实运行输出（本工单完成态）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=== 工单 M2-3a MLP 神经网络 · 完成态 ===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数据: 600 样本 × 30 维频谱 · 隐藏层 (64, 32) · 标准化已启用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训练轮数 37（early_stopping 提前停止）  测试准确率 = 0.933（目标≥0.75）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损失曲线诊断: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  首轮   epoch  1  loss=0.6484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  1/4  epoch 10  loss=0.4235  ×2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  末轮   epoch 37  loss=0.1044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  收敛判断: 末轮loss 0.1044 持续下降→收敛良好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结论: 中频段抬升（2-7维）是可学信号；网络结构+早停+正则三件套，准确率与泛化同时守住。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3931920"/>
            <a:ext cx="1069848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3D2E8C"/>
                </a:solidFill>
              </a:rPr>
              <a:t>② 关键自检点（对照工单逐项核对）</a:t>
            </a:r>
          </a:p>
          <a:p>
            <a:pPr algn="l">
              <a:spcBef>
                <a:spcPts val="200"/>
              </a:spcBef>
            </a:pPr>
            <a:r>
              <a:rPr sz="1150" b="0">
                <a:solidFill>
                  <a:srgbClr val="231D3D"/>
                </a:solidFill>
              </a:rPr>
              <a:t>□ 代码从头跑到尾不报错（python xx.py 再跑一遍）</a:t>
            </a:r>
          </a:p>
          <a:p>
            <a:pPr algn="l">
              <a:spcBef>
                <a:spcPts val="100"/>
              </a:spcBef>
            </a:pPr>
            <a:r>
              <a:rPr sz="1150" b="0">
                <a:solidFill>
                  <a:srgbClr val="231D3D"/>
                </a:solidFill>
              </a:rPr>
              <a:t>□ 指标达标：与工单及格线逐项对齐（准确率/F1/耗时）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8" y="5212080"/>
            <a:ext cx="106984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3D2E8C"/>
                </a:solidFill>
              </a:rPr>
              <a:t>③ 提交与达标（过程性证据）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231D3D"/>
                </a:solidFill>
              </a:rPr>
              <a:t>达标线：D≥60 / C≥70 / B≥80 / A≥90　｜　提交：学号_姓名_工单号 + 运行截图 + 决策记录 + Git≥1次commit</a:t>
            </a:r>
          </a:p>
          <a:p>
            <a:pPr algn="l">
              <a:spcBef>
                <a:spcPts val="100"/>
              </a:spcBef>
            </a:pPr>
            <a:r>
              <a:rPr sz="1100" b="0">
                <a:solidFill>
                  <a:srgbClr val="5F5A7D"/>
                </a:solidFill>
              </a:rPr>
              <a:t>复核：自检 → 互检 → 师查（三层质检）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分层任务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W13-09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21 / 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58666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58666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A/B/C/D LAYERS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同一工单，四条爬梯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按当前水平选起点，D层保底人人可交付，A层给足挑战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89888"/>
            <a:ext cx="2686735" cy="46634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5488" y="1389888"/>
            <a:ext cx="2686735" cy="7772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1481328"/>
            <a:ext cx="2320975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</a:rPr>
              <a:t>A 层 · 挑战层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2304288"/>
            <a:ext cx="2320975" cy="8412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小结构搜索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3236976"/>
            <a:ext cx="1845564" cy="229235"/>
          </a:xfrm>
          <a:prstGeom prst="roundRect">
            <a:avLst>
              <a:gd name="adj" fmla="val 500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236976"/>
            <a:ext cx="1845564" cy="22923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231D3D"/>
                </a:solidFill>
                <a:latin typeface="Microsoft YaHei"/>
                <a:ea typeface="Microsoft YaHei"/>
              </a:rPr>
              <a:t>达标：找到性价比最优结构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3730752"/>
            <a:ext cx="2320975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· 宽度16/32/64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4297680"/>
            <a:ext cx="2320975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· 深度1/2/3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4864608"/>
            <a:ext cx="2320975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· 表加结论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5577840"/>
            <a:ext cx="2320975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>
                <a:solidFill>
                  <a:srgbClr val="C0392B"/>
                </a:solidFill>
                <a:latin typeface="Microsoft YaHei"/>
                <a:ea typeface="Microsoft YaHei"/>
              </a:rPr>
              <a:t>卡壳&gt;10分钟→降B层，先拿过程分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326815" y="1389888"/>
            <a:ext cx="2686735" cy="46634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326815" y="1389888"/>
            <a:ext cx="2686735" cy="77724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509695" y="1481328"/>
            <a:ext cx="2320975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</a:rPr>
              <a:t>B 层 · 进阶层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09695" y="2304288"/>
            <a:ext cx="2320975" cy="8412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药方有效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509695" y="3236976"/>
            <a:ext cx="1796966" cy="229235"/>
          </a:xfrm>
          <a:prstGeom prst="roundRect">
            <a:avLst>
              <a:gd name="adj" fmla="val 500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09695" y="3236976"/>
            <a:ext cx="1796966" cy="22923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231D3D"/>
                </a:solidFill>
                <a:latin typeface="Microsoft YaHei"/>
                <a:ea typeface="Microsoft YaHei"/>
              </a:rPr>
              <a:t>达标：gap收窄且指标不降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09695" y="3730752"/>
            <a:ext cx="2320975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· 加Dropout0.3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09695" y="4297680"/>
            <a:ext cx="2320975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· EarlyStopping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09695" y="4864608"/>
            <a:ext cx="2320975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· 前后对比曲线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09695" y="5577840"/>
            <a:ext cx="2320975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>
                <a:solidFill>
                  <a:srgbClr val="00A6A6"/>
                </a:solidFill>
                <a:latin typeface="Microsoft YaHei"/>
                <a:ea typeface="Microsoft YaHei"/>
              </a:rPr>
              <a:t>完成C层后冲刺：先跑通再优化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178143" y="1389888"/>
            <a:ext cx="2686735" cy="46634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78143" y="1389888"/>
            <a:ext cx="2686735" cy="77724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61023" y="1481328"/>
            <a:ext cx="2320975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</a:rPr>
              <a:t>C 层 · 基础层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61023" y="2304288"/>
            <a:ext cx="2320975" cy="8412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曲线诊断报告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361023" y="3236976"/>
            <a:ext cx="1758599" cy="229235"/>
          </a:xfrm>
          <a:prstGeom prst="roundRect">
            <a:avLst>
              <a:gd name="adj" fmla="val 500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61023" y="3236976"/>
            <a:ext cx="1758599" cy="22923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231D3D"/>
                </a:solidFill>
                <a:latin typeface="Microsoft YaHei"/>
                <a:ea typeface="Microsoft YaHei"/>
              </a:rPr>
              <a:t>达标：准确率≥75%图完整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61023" y="3730752"/>
            <a:ext cx="2320975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· History取loss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61023" y="4297680"/>
            <a:ext cx="2320975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· 双曲线画图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61023" y="4864608"/>
            <a:ext cx="2320975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· 标注过拟合点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61023" y="5577840"/>
            <a:ext cx="2320975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>
                <a:solidFill>
                  <a:srgbClr val="3D2E8C"/>
                </a:solidFill>
                <a:latin typeface="Microsoft YaHei"/>
                <a:ea typeface="Microsoft YaHei"/>
              </a:rPr>
              <a:t>照示例改参数，跑通即得分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029471" y="1389888"/>
            <a:ext cx="2686735" cy="46634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029471" y="1389888"/>
            <a:ext cx="2686735" cy="777240"/>
          </a:xfrm>
          <a:prstGeom prst="rect">
            <a:avLst/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212351" y="1481328"/>
            <a:ext cx="2320975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</a:rPr>
              <a:t>D 层 · 保底层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212351" y="2304288"/>
            <a:ext cx="2320975" cy="8412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跑通模板MLP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212351" y="3236976"/>
            <a:ext cx="1717675" cy="229235"/>
          </a:xfrm>
          <a:prstGeom prst="roundRect">
            <a:avLst>
              <a:gd name="adj" fmla="val 500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212351" y="3236976"/>
            <a:ext cx="1717675" cy="22923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231D3D"/>
                </a:solidFill>
                <a:latin typeface="Microsoft YaHei"/>
                <a:ea typeface="Microsoft YaHei"/>
              </a:rPr>
              <a:t>达标：模板可运行出指标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212351" y="3730752"/>
            <a:ext cx="2320975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· 两层全连接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212351" y="4297680"/>
            <a:ext cx="2320975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· fit看accuracy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212351" y="4864608"/>
            <a:ext cx="2320975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· 打印最终值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212351" y="5577840"/>
            <a:ext cx="2320975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>
                <a:solidFill>
                  <a:srgbClr val="3A4A63"/>
                </a:solidFill>
                <a:latin typeface="Microsoft YaHei"/>
                <a:ea typeface="Microsoft YaHei"/>
              </a:rPr>
              <a:t>逐行跟打示例，跑通就是胜利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方案决策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W13-09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22 / 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580227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580227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DECISION MATRIX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MLP神经网络：备选方案决策矩阵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工程不是选最好的，是选当前约束下最划算的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417320"/>
            <a:ext cx="11240719" cy="475488"/>
          </a:xfrm>
          <a:prstGeom prst="roundRect">
            <a:avLst>
              <a:gd name="adj" fmla="val 55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85216" y="1508760"/>
            <a:ext cx="2065263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</a:rPr>
              <a:t>备选方案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33359" y="1508760"/>
            <a:ext cx="2065263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</a:rPr>
              <a:t>可行性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81503" y="1508760"/>
            <a:ext cx="2065263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</a:rPr>
              <a:t>达标概率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29647" y="1508760"/>
            <a:ext cx="2065263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</a:rPr>
              <a:t>工时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77791" y="1508760"/>
            <a:ext cx="2065263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</a:rPr>
              <a:t>结论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75488" y="1892808"/>
            <a:ext cx="11240719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3504" y="1947672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231D3D"/>
                </a:solidFill>
                <a:latin typeface="Microsoft YaHei"/>
                <a:ea typeface="Microsoft YaHei"/>
              </a:rPr>
              <a:t>方案A：按工单主线（starter起步）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851647" y="1947672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31D3D"/>
                </a:solidFill>
                <a:latin typeface="Microsoft YaHei"/>
                <a:ea typeface="Microsoft YaHei"/>
              </a:rPr>
              <a:t>高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99791" y="1947672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31D3D"/>
                </a:solidFill>
                <a:latin typeface="Microsoft YaHei"/>
                <a:ea typeface="Microsoft YaHei"/>
              </a:rPr>
              <a:t>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47935" y="1947672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31D3D"/>
                </a:solidFill>
                <a:latin typeface="Microsoft YaHei"/>
                <a:ea typeface="Microsoft YaHei"/>
              </a:rPr>
              <a:t>适中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596079" y="1947672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00A6A6"/>
                </a:solidFill>
                <a:latin typeface="Microsoft YaHei"/>
                <a:ea typeface="Microsoft YaHei"/>
              </a:rPr>
              <a:t>推荐主干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75488" y="3008376"/>
            <a:ext cx="11240719" cy="1051560"/>
          </a:xfrm>
          <a:prstGeom prst="roundRect">
            <a:avLst>
              <a:gd name="adj" fmla="val 5500"/>
            </a:avLst>
          </a:prstGeom>
          <a:solidFill>
            <a:srgbClr val="F5F4FB"/>
          </a:solidFill>
          <a:ln w="9525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03504" y="3063240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231D3D"/>
                </a:solidFill>
                <a:latin typeface="Microsoft YaHei"/>
                <a:ea typeface="Microsoft YaHei"/>
              </a:rPr>
              <a:t>方案B：自选技术路线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851647" y="3063240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31D3D"/>
                </a:solidFill>
                <a:latin typeface="Microsoft YaHei"/>
                <a:ea typeface="Microsoft YaHei"/>
              </a:rPr>
              <a:t>中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99791" y="3063240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31D3D"/>
                </a:solidFill>
                <a:latin typeface="Microsoft YaHei"/>
                <a:ea typeface="Microsoft YaHei"/>
              </a:rPr>
              <a:t>中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47935" y="3063240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31D3D"/>
                </a:solidFill>
                <a:latin typeface="Microsoft YaHei"/>
                <a:ea typeface="Microsoft YaHei"/>
              </a:rPr>
              <a:t>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96079" y="3063240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00A6A6"/>
                </a:solidFill>
                <a:latin typeface="Microsoft YaHei"/>
                <a:ea typeface="Microsoft YaHei"/>
              </a:rPr>
              <a:t>A层可选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75488" y="4123944"/>
            <a:ext cx="11240719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03504" y="4178808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231D3D"/>
                </a:solidFill>
                <a:latin typeface="Microsoft YaHei"/>
                <a:ea typeface="Microsoft YaHei"/>
              </a:rPr>
              <a:t>方案C：直接改现成项目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851647" y="4178808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31D3D"/>
                </a:solidFill>
                <a:latin typeface="Microsoft YaHei"/>
                <a:ea typeface="Microsoft YaHei"/>
              </a:rPr>
              <a:t>低（无过程分）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99791" y="4178808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31D3D"/>
                </a:solidFill>
                <a:latin typeface="Microsoft YaHei"/>
                <a:ea typeface="Microsoft YaHei"/>
              </a:rPr>
              <a:t>低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47935" y="4178808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31D3D"/>
                </a:solidFill>
                <a:latin typeface="Microsoft YaHei"/>
                <a:ea typeface="Microsoft YaHei"/>
              </a:rPr>
              <a:t>少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96079" y="4178808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00A6A6"/>
                </a:solidFill>
                <a:latin typeface="Microsoft YaHei"/>
                <a:ea typeface="Microsoft YaHei"/>
              </a:rPr>
              <a:t>不建议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75488" y="5285232"/>
            <a:ext cx="11240719" cy="685800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04088" y="5385816"/>
            <a:ext cx="107835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3D2E8C"/>
                </a:solidFill>
                <a:latin typeface="Microsoft YaHei"/>
                <a:ea typeface="Microsoft YaHei"/>
              </a:rPr>
              <a:t>决策纪律：组内打分3分钟，结论与理由写入工单决策记录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课堂检查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W13-09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23 / 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75628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75628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CHECK · 当堂验收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做完不算完，验过才算数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教师抽查 + 同桌互查 + 运行截图三选二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417320"/>
            <a:ext cx="6309360" cy="12984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94944" y="1545336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4944" y="1545336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检查点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" y="1856232"/>
            <a:ext cx="585216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>
                <a:solidFill>
                  <a:srgbClr val="231D3D"/>
                </a:solidFill>
                <a:latin typeface="Microsoft YaHei"/>
                <a:ea typeface="Microsoft YaHei"/>
              </a:rPr>
              <a:t>W8课前测①：本课工单M2-3a的及格线是什么？（答：准确率≥75%）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944" y="2423160"/>
            <a:ext cx="58521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提示：答案都在本节'四要素详解'页——翻回去指给同桌看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75488" y="2862072"/>
            <a:ext cx="6309360" cy="12984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94944" y="2990088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4944" y="2990088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检查点 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4944" y="3300984"/>
            <a:ext cx="585216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>
                <a:solidFill>
                  <a:srgbClr val="231D3D"/>
                </a:solidFill>
                <a:latin typeface="Microsoft YaHei"/>
                <a:ea typeface="Microsoft YaHei"/>
              </a:rPr>
              <a:t>W8课前测②：'网络结构/激活函数'用一句话说说你的理解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944" y="3867912"/>
            <a:ext cx="58521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提示：答案都在本节'四要素详解'页——翻回去指给同桌看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059168" y="1417320"/>
            <a:ext cx="4657039" cy="2615184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296912" y="1536192"/>
            <a:ext cx="419983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3D2E8C"/>
                </a:solidFill>
                <a:latin typeface="Microsoft YaHei"/>
                <a:ea typeface="Microsoft YaHei"/>
              </a:rPr>
              <a:t>当堂评分构成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296912" y="1993392"/>
            <a:ext cx="1920240" cy="274320"/>
          </a:xfrm>
          <a:prstGeom prst="rect">
            <a:avLst/>
          </a:prstGeom>
          <a:solidFill>
            <a:srgbClr val="D8E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296912" y="1993392"/>
            <a:ext cx="768096" cy="27432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345168" y="1947672"/>
            <a:ext cx="209671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231D3D"/>
                </a:solidFill>
                <a:latin typeface="Microsoft YaHei"/>
                <a:ea typeface="Microsoft YaHei"/>
              </a:rPr>
              <a:t>运行通过 40%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296912" y="2450592"/>
            <a:ext cx="1920240" cy="274320"/>
          </a:xfrm>
          <a:prstGeom prst="rect">
            <a:avLst/>
          </a:prstGeom>
          <a:solidFill>
            <a:srgbClr val="D8E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296912" y="2450592"/>
            <a:ext cx="384048" cy="27432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45168" y="2404872"/>
            <a:ext cx="2096719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231D3D"/>
                </a:solidFill>
                <a:latin typeface="Microsoft YaHei"/>
                <a:ea typeface="Microsoft YaHei"/>
              </a:rPr>
              <a:t>规范与注释 20%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296912" y="2907792"/>
            <a:ext cx="1920240" cy="274320"/>
          </a:xfrm>
          <a:prstGeom prst="rect">
            <a:avLst/>
          </a:prstGeom>
          <a:solidFill>
            <a:srgbClr val="D8E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296912" y="2907792"/>
            <a:ext cx="384048" cy="27432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345168" y="2862072"/>
            <a:ext cx="209671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231D3D"/>
                </a:solidFill>
                <a:latin typeface="Microsoft YaHei"/>
                <a:ea typeface="Microsoft YaHei"/>
              </a:rPr>
              <a:t>决策记录 20%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296912" y="3364992"/>
            <a:ext cx="1920240" cy="274320"/>
          </a:xfrm>
          <a:prstGeom prst="rect">
            <a:avLst/>
          </a:prstGeom>
          <a:solidFill>
            <a:srgbClr val="D8E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296912" y="3364992"/>
            <a:ext cx="384048" cy="27432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345168" y="3319272"/>
            <a:ext cx="209671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231D3D"/>
                </a:solidFill>
                <a:latin typeface="Microsoft YaHei"/>
                <a:ea typeface="Microsoft YaHei"/>
              </a:rPr>
              <a:t>互查反馈 20%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96912" y="3840480"/>
            <a:ext cx="4199839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F5A7D"/>
                </a:solidFill>
                <a:latin typeface="Microsoft YaHei"/>
                <a:ea typeface="Microsoft YaHei"/>
              </a:rPr>
              <a:t>未过怎么办：当堂改→教师复核→记录到错题本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75488" y="4370832"/>
            <a:ext cx="11240719" cy="960120"/>
          </a:xfrm>
          <a:prstGeom prst="roundRect">
            <a:avLst>
              <a:gd name="adj" fmla="val 5500"/>
            </a:avLst>
          </a:prstGeom>
          <a:solidFill>
            <a:srgbClr val="241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49808" y="4498848"/>
            <a:ext cx="10881360" cy="71323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>
                <a:solidFill>
                  <a:srgbClr val="D8E1EC"/>
                </a:solidFill>
                <a:latin typeface="Microsoft YaHei"/>
                <a:ea typeface="Microsoft YaHei"/>
              </a:rPr>
              <a:t>及格线：</a:t>
            </a:r>
            <a:r>
              <a:rPr sz="1250" b="0">
                <a:solidFill>
                  <a:srgbClr val="FFFFFF"/>
                </a:solidFill>
                <a:latin typeface="Microsoft YaHei"/>
                <a:ea typeface="Microsoft YaHei"/>
              </a:rPr>
              <a:t>准确率≥75% / 诊断报告完整</a:t>
            </a:r>
            <a:r>
              <a:rPr sz="1250" b="1">
                <a:solidFill>
                  <a:srgbClr val="D8E1EC"/>
                </a:solidFill>
                <a:latin typeface="Microsoft YaHei"/>
                <a:ea typeface="Microsoft YaHei"/>
              </a:rPr>
              <a:t>
优秀线：</a:t>
            </a:r>
            <a:r>
              <a:rPr sz="1250" b="0">
                <a:solidFill>
                  <a:srgbClr val="F5C08A"/>
                </a:solidFill>
                <a:latin typeface="Microsoft YaHei"/>
                <a:ea typeface="Microsoft YaHei"/>
              </a:rPr>
              <a:t>准确率≥85% / 结构搜索对比表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W13-09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24 / 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924359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924359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SUMMARY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一张图带走本课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讲给自己听一遍，才算真的学会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44939" y="1389888"/>
            <a:ext cx="7450618" cy="3986784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5DB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2b69cb98d00571b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2371" y="1417320"/>
            <a:ext cx="7395754" cy="39319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293608" y="1481328"/>
            <a:ext cx="3422599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3D2E8C"/>
                </a:solidFill>
                <a:latin typeface="Microsoft YaHei"/>
                <a:ea typeface="Microsoft YaHei"/>
              </a:rPr>
              <a:t>三句话总结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93608" y="1920240"/>
            <a:ext cx="3422599" cy="896112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439912" y="2029968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39912" y="2029968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23960" y="2011680"/>
            <a:ext cx="2709367" cy="6400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231D3D"/>
                </a:solidFill>
                <a:latin typeface="Microsoft YaHei"/>
                <a:ea typeface="Microsoft YaHei"/>
              </a:rPr>
              <a:t>神经元与MLP：神经元=加权求和+激活；MLP多层堆叠学非线性…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93608" y="2907792"/>
            <a:ext cx="3422599" cy="896112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439912" y="3017520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39912" y="3017520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23960" y="2999232"/>
            <a:ext cx="2709367" cy="6400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231D3D"/>
                </a:solidFill>
                <a:latin typeface="Microsoft YaHei"/>
                <a:ea typeface="Microsoft YaHei"/>
              </a:rPr>
              <a:t>ReLU激活：负半轴归零——梯度不饱和训练快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293608" y="3895344"/>
            <a:ext cx="3422599" cy="896112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439912" y="4005072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39912" y="4005072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23960" y="3986784"/>
            <a:ext cx="2709367" cy="6400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231D3D"/>
                </a:solidFill>
                <a:latin typeface="Microsoft YaHei"/>
                <a:ea typeface="Microsoft YaHei"/>
              </a:rPr>
              <a:t>前向与反向传播：前向算输出、反向调权重——网络的'想'与'学'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293608" y="4882896"/>
            <a:ext cx="3422599" cy="1005840"/>
          </a:xfrm>
          <a:prstGeom prst="roundRect">
            <a:avLst>
              <a:gd name="adj" fmla="val 5500"/>
            </a:avLst>
          </a:prstGeom>
          <a:solidFill>
            <a:srgbClr val="241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76488" y="4974336"/>
            <a:ext cx="3056839" cy="31089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A6A6"/>
                </a:solidFill>
                <a:latin typeface="Microsoft YaHei"/>
                <a:ea typeface="Microsoft YaHei"/>
              </a:rPr>
              <a:t>下一步行动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76488" y="5285232"/>
            <a:ext cx="3056839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>
                <a:solidFill>
                  <a:srgbClr val="D8E1EC"/>
                </a:solidFill>
                <a:latin typeface="Microsoft YaHei"/>
                <a:ea typeface="Microsoft YaHei"/>
              </a:rPr>
              <a:t>①工单M2-3a收尾跑绿并上传 ②错题本记1条 ③预习微课+导学单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课后与预告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W13-09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25 / 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523687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523687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NEXT &amp; HOMEWORK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下课之后，上课之前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作业当堂布置当堂记：写进工单本，别靠脑子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89888"/>
            <a:ext cx="5852160" cy="3977639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1517904"/>
            <a:ext cx="5303520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3D2E8C"/>
                </a:solidFill>
                <a:latin typeface="Microsoft YaHei"/>
                <a:ea typeface="Microsoft YaHei"/>
              </a:rPr>
              <a:t>今日作业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1956816"/>
            <a:ext cx="292608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1956816"/>
            <a:ext cx="292608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61288" y="1938528"/>
            <a:ext cx="4937760" cy="53035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工单M2-3a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526280"/>
            <a:ext cx="5349240" cy="749808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617720"/>
            <a:ext cx="5029200" cy="56692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提交物：</a:t>
            </a:r>
            <a:r>
              <a:rPr sz="1050" b="0">
                <a:solidFill>
                  <a:srgbClr val="231D3D"/>
                </a:solidFill>
                <a:latin typeface="Microsoft YaHei"/>
                <a:ea typeface="Microsoft YaHei"/>
              </a:rPr>
              <a:t>学号_姓名_W13.py + 运行截图（含文件名）+ 工单决策记录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56248" y="1389888"/>
            <a:ext cx="5159959" cy="3977639"/>
          </a:xfrm>
          <a:prstGeom prst="roundRect">
            <a:avLst>
              <a:gd name="adj" fmla="val 5500"/>
            </a:avLst>
          </a:prstGeom>
          <a:solidFill>
            <a:srgbClr val="241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30568" y="1536192"/>
            <a:ext cx="461131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A6A6"/>
                </a:solidFill>
                <a:latin typeface="Microsoft YaHei"/>
                <a:ea typeface="Microsoft YaHei"/>
              </a:rPr>
              <a:t>下次课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30568" y="1956816"/>
            <a:ext cx="4611319" cy="9144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</a:rPr>
              <a:t>MLP神经网络（下）：优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30568" y="3017520"/>
            <a:ext cx="4611319" cy="31089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A6A6"/>
                </a:solidFill>
                <a:latin typeface="Microsoft YaHei"/>
                <a:ea typeface="Microsoft YaHei"/>
              </a:rPr>
              <a:t>为什么接下来学它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30568" y="3364992"/>
            <a:ext cx="4611319" cy="12344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D8E1EC"/>
                </a:solidFill>
                <a:latin typeface="Microsoft YaHei"/>
                <a:ea typeface="Microsoft YaHei"/>
              </a:rPr>
              <a:t>分组竞标周：老周把两份需求拍在桌上——焊缝缺陷CNN、风机寿命LSTM，'各组选一题，答辩定预算。'工单M2-3b：二选一实战，卷积或门控，用指标赢下项目。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30568" y="4663440"/>
            <a:ext cx="4611319" cy="60350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C9D4E4"/>
                </a:solidFill>
                <a:latin typeface="Microsoft YaHei"/>
                <a:ea typeface="Microsoft YaHei"/>
              </a:rPr>
              <a:t>预习动作：微课视频 + 导学单先行；带着一个问题上考场。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75488" y="5596128"/>
            <a:ext cx="11240719" cy="777240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9808" y="5705856"/>
            <a:ext cx="10881360" cy="56692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3D2E8C"/>
                </a:solidFill>
                <a:latin typeface="Microsoft YaHei"/>
                <a:ea typeface="Microsoft YaHei"/>
              </a:rPr>
              <a:t>工具链：PyCharm CE（主编辑器） · Jupyter（实训） · Git/GitHub（每周提交） · conda环境</a:t>
            </a: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
报错了？先查《报错翻译对照表》，再看微课'排错三步法'。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1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041648" y="1920240"/>
            <a:ext cx="4114800" cy="82296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463040" y="2240280"/>
            <a:ext cx="9235440" cy="10058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3400" b="1">
                <a:solidFill>
                  <a:srgbClr val="FFFFFF"/>
                </a:solidFill>
                <a:latin typeface="Microsoft YaHei"/>
                <a:ea typeface="Microsoft YaHei"/>
              </a:rPr>
              <a:t>感谢垂听 · 动手出真知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63040" y="3310128"/>
            <a:ext cx="9235440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C9D4E4"/>
                </a:solidFill>
                <a:latin typeface="Microsoft YaHei"/>
                <a:ea typeface="Microsoft YaHei"/>
              </a:rPr>
              <a:t>把今天的工单跑绿，就是给下周的自己铺路。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51760" y="4160520"/>
            <a:ext cx="6858000" cy="1417320"/>
          </a:xfrm>
          <a:prstGeom prst="roundRect">
            <a:avLst>
              <a:gd name="adj" fmla="val 55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880360" y="4279392"/>
            <a:ext cx="6400800" cy="32918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A6A6"/>
                </a:solidFill>
                <a:latin typeface="Microsoft YaHei"/>
                <a:ea typeface="Microsoft YaHei"/>
              </a:rPr>
              <a:t>课后三件事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80360" y="4626864"/>
            <a:ext cx="64008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D8E1EC"/>
                </a:solidFill>
                <a:latin typeface="Microsoft YaHei"/>
                <a:ea typeface="Microsoft YaHei"/>
              </a:rPr>
              <a:t>1. 工单M2-3a跑绿并上传学习平台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80360" y="4956048"/>
            <a:ext cx="64008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D8E1EC"/>
                </a:solidFill>
                <a:latin typeface="Microsoft YaHei"/>
                <a:ea typeface="Microsoft YaHei"/>
              </a:rPr>
              <a:t>2. 错题本记1条今天踩的坑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80360" y="5285232"/>
            <a:ext cx="64008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D8E1EC"/>
                </a:solidFill>
                <a:latin typeface="Microsoft YaHei"/>
                <a:ea typeface="Microsoft YaHei"/>
              </a:rPr>
              <a:t>3. 预习微课+导学单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51760" y="5779008"/>
            <a:ext cx="685800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A6A6"/>
                </a:solidFill>
                <a:latin typeface="Microsoft YaHei"/>
                <a:ea typeface="Microsoft YaHei"/>
              </a:rPr>
              <a:t>下次课 → MLP神经网络（下）：优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" y="6419088"/>
            <a:ext cx="10515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8C99B5"/>
                </a:solidFill>
                <a:latin typeface="Microsoft YaHei"/>
                <a:ea typeface="Microsoft YaHei"/>
              </a:rPr>
              <a:t>AI应用基础（48课时版） · V1 · W13-09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安全与合规警示（操作前必读）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655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1. 上机前确认本工位电源开关与急停位置，确认设备处于安全状态。</a:t>
            </a:r>
          </a:p>
          <a:p>
            <a:pPr>
              <a:spcAft>
                <a:spcPts val="1000"/>
              </a:spcAft>
            </a:pPr>
            <a:r>
              <a:rPr sz="1800"/>
              <a:t>2. 涉及接线的操作一律先断电、后验电、再作业，禁止带电插拔。</a:t>
            </a:r>
          </a:p>
          <a:p>
            <a:pPr>
              <a:spcAft>
                <a:spcPts val="1000"/>
              </a:spcAft>
            </a:pPr>
            <a:r>
              <a:rPr sz="1800"/>
              <a:t>3. 身体任何部位不进入设备运动/散热区域，长发束起，不佩戴悬垂饰物。</a:t>
            </a:r>
          </a:p>
          <a:p>
            <a:pPr>
              <a:spcAft>
                <a:spcPts val="1000"/>
              </a:spcAft>
            </a:pPr>
            <a:r>
              <a:rPr sz="1800"/>
              <a:t>4. 调试程序前先静态检查、再低速小样本试运行，确认无异常后放大规模。</a:t>
            </a:r>
          </a:p>
          <a:p>
            <a:pPr>
              <a:spcAft>
                <a:spcPts val="1000"/>
              </a:spcAft>
            </a:pPr>
            <a:r>
              <a:rPr sz="1800"/>
              <a:t>5. 任何不确定或异常情况，立即停止操作并报告指导教师，不擅自处置。</a:t>
            </a:r>
          </a:p>
          <a:p>
            <a:r>
              <a:rPr sz="1400" b="1"/>
              <a:t>以上任一条违反，本次任务按课程标准「安全规范一票否决」条款记 0 分并中止实训。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本任务六步法导航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655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六步法：资讯 → 计划 → 决策 → 实施 → 检查 → 评估</a:t>
            </a:r>
          </a:p>
          <a:p>
            <a:pPr>
              <a:spcAft>
                <a:spcPts val="1000"/>
              </a:spcAft>
            </a:pPr>
            <a:r>
              <a:rPr sz="1800"/>
              <a:t>本讲对应工单：《AI应用基础48课时版》分层任务工单</a:t>
            </a:r>
          </a:p>
          <a:p>
            <a:pPr>
              <a:spcAft>
                <a:spcPts val="1000"/>
              </a:spcAft>
            </a:pPr>
            <a:r>
              <a:rPr sz="1800"/>
              <a:t>课堂产出：工单第六节实施记录须当堂填写，含操作前安全打勾与学生本人签字。</a:t>
            </a:r>
          </a:p>
          <a:p>
            <a:pPr>
              <a:spcAft>
                <a:spcPts val="1000"/>
              </a:spcAft>
            </a:pPr>
            <a:r>
              <a:rPr sz="1800"/>
              <a:t>课后交付：班组长／操作员／教师三方联签后交回，缺签视为未交付。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本讲与岗位任务单的衔接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655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本讲在工作过程系统化课程中承担的任务环节：任务实施</a:t>
            </a:r>
          </a:p>
          <a:p>
            <a:pPr>
              <a:spcAft>
                <a:spcPts val="1000"/>
              </a:spcAft>
            </a:pPr>
            <a:r>
              <a:rPr sz="1800"/>
              <a:t>考核对齐：过程性成绩取自本讲工单第六节各模块得分合计（满分 100）。</a:t>
            </a:r>
          </a:p>
          <a:p>
            <a:pPr>
              <a:spcAft>
                <a:spcPts val="1000"/>
              </a:spcAft>
            </a:pPr>
            <a:r>
              <a:rPr sz="1800"/>
              <a:t>达标线：综合成绩≥60 分，且无安全红线一票否决记录</a:t>
            </a:r>
          </a:p>
          <a:p>
            <a:pPr>
              <a:spcAft>
                <a:spcPts val="1000"/>
              </a:spcAft>
            </a:pPr>
            <a:r>
              <a:rPr sz="1800"/>
              <a:t>无效工单判定：未打安全勾、无本人签字、无三方联签。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MLP神经网络（上）：基</dc:title>
  <dc:subject/>
  <dc:creator>两江智造教学组</dc:creator>
  <cp:keywords/>
  <dc:description>V1.1 · easyslides 规范重制（页面充实版）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