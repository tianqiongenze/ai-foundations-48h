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81" r:id="rId32"/>
    <p:sldId id="282" r:id="rId33"/>
    <p:sldId id="280" r:id="rId31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1.xml"/><Relationship Id="rId32" Type="http://schemas.openxmlformats.org/officeDocument/2006/relationships/slide" Target="slides/slide19.xml"/><Relationship Id="rId33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W14 · 第11次课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CNN或LSTM二选一（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122116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12211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M2-3b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99356" y="3931920"/>
            <a:ext cx="2685727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9356" y="3931920"/>
            <a:ext cx="268572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CNN或LSTM二选一（竞标）（上）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专业核心课扩展版：数据→ML→DL→视觉→大模型→智能体全谱系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AI应用工程师 / 工业视觉开发 / 工业互联网数据分析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1+X AI应用实践（初级=M1-M3 / 中级=M4 / 高级=M5）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前：零基础并行开设 → 本课第12周、第10-20周12周×4课时 → 后：项目实战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逻辑回归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连续剧情 · 你（小郑）的第11次出场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57636"/>
            <a:ext cx="4261104" cy="32226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85068"/>
            <a:ext cx="4206240" cy="3167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231D3D"/>
                </a:solidFill>
                <a:latin typeface="Microsoft YaHei"/>
                <a:ea typeface="Microsoft YaHei"/>
              </a:rPr>
              <a:t>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M2-3b · CNN或LSTM二选一（竞标）（上）：基础实现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能按题完成CNN或LSTM建模——应用：见工单starter与教师参考实现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能组队产出竞标书——应用：见工单starter与教师参考实现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5A7D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老周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9864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864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林工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850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850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掌握卷积或门控其一的工程应用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竞标答辩表达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1.回顾预习卡与微课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78094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78094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2.知识精讲（先例后理）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3.演示代码骨架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55478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55478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4.基础实现（D/C层…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533245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53324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5.小结+布置第2次课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本章聚焦：卷积核滑动 · 滑动窗口样本 · 答辩评分表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卷积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小核滑动扫全图——像拿放大镜逐格找特征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池化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MaxPool取窗口最大值——只留最强信号缩计算量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滑动窗口造样本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一段长序列按窗切片出无数训练对——序列版裁剪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B01 卷积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小核滑动扫全图——像拿放大镜逐格找特征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卷积=小核滑动扫全图，参数共享天然适合图像——应用：见工单starter与教师参考实现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缺陷图/振动频谱等有局部结构的输入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Conv2D(32, (3,3), activation='relu')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参数共享让核很轻——全网找同一类特征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Conv输入报维度：未加channel维 → reshape成N1HW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卷积：一张图看懂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f33d0e0d846ae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追问：参数共享让核很轻——全网找同一类特征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一句话：小核滑动扫全图——像拿放大镜逐格找特征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何时用：缺陷图/振动频谱等有局部结构的输入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B02 池化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MaxPool取窗口最大值——只留最强信号缩计算量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池化降维：留最强信号，缩计算量——应用：见工单starter与教师参考实现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卷积后逐层压图——网络越深图越小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MaxPooling2D((2,2)) 尺寸减半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误区：池化丢信息可惜——保留的是最强的证据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窗口错位：X与y长度不齐 → 统一用[:-horizon]截断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池化：一张图看懂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822aa70f585ad2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追问：误区：池化丢信息可惜——保留的是最强的证据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一句话：MaxPool取窗口最大值——只留最强信号缩计算量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何时用：卷积后逐层压图——网络越深图越小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B03 滑动窗口造样本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一段长序列按窗切片出无数训练对——序列版裁剪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滑动窗口造样本：一段序列切出无数训练对（LSTM路线）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寿命预测数据少——一个窗口配一个标签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X.append(seq[i:i+win]); y.append(rul[i+win])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窗口与步长是超参——重叠窗口样本翻倍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答辩超时：堆细节无结构 → 四段论加计时排练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11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滑动窗口造样本：一张图看懂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84e8d5deeb920f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追问：窗口与步长是超参——重叠窗口样本翻倍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一句话：一段长序列按窗切片出无数训练对——序列版裁剪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何时用：寿命预测数据少——一个窗口配一个标签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本章聚焦：卷积核滑动 · 滑动窗口样本 · 答辩评分表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CNN最小版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import torch.nn as nn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滑动窗口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W = 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能按题完成CNN或LS…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能按题完成CNN或LSTM建模——应用：见工单starter与教师…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能组队产出竞标书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能组队产出竞标书——应用：见工单starter与教师参考实现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能5分钟答辩讲清指标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能5分钟答辩讲清指标——应用：见工单starter与教师参考实现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CNN最小版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import torch.nn as nn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cnn = nn.Sequential(nn.Conv2d(1, 16, 3, padding=1), nn.ReLU(), nn.MaxPool2d(2),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           nn.Flatten(), nn.Linear(16 * 32 * 32, 2))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滑动窗口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W = 30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X = np.lib.stride_tricks.sliding_window_view(vib, W)[:-10]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y = rul[W - 1 + 10:]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15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Conv输入报维度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未加channel维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reshape成N1HW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窗口错位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X与y长度不齐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统一用[:-horizon]截断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答辩超时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堆细节无结构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四段论加计时排练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知识窗 · 考点拓展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16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33710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33710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WINDOW · W-KM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K-Means与无监督聚类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1+X考点对照知识窗：原理入门 + 自学路径（主线之外的一扇窗）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是什么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K-Means与无监督聚类：不给标签，让算法自己把'像的'分成K堆——距离最近的一堆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何时用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没有历史故障标签、或想先看看数据长几类时用；本课有标签所以走监督式——两路线在决策矩阵对照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最小示例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km=KMeans(n_clusters=3).fit(X); km.labels_ 每台设备归哪堆；km.cluster_centers_ 每堆中心（典型工况画像）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进阶方向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肘部法/inertia选K；DBSCAN密度聚类能抓'离群点'=天然异常检测——无监督异常检测是K-Means的进阶用法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本章聚焦：卷积核滑动 · 滑动窗口样本 · 答辩评分表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M2-3b · CNN或LSTM二选一（竞标）（上）：基础实现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能按题完成CNN或LSTM建模——应用：见工单starter与教师参考实现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能组队产出竞标书——应用：见工单starter与教师参考实现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能5分钟答辩讲清指标——应用：见工单starter与教师参考实现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能对未选路线做概念对比——应用：见工单starter与教师参考实现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指标达标+竞标书完整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赢得竞标且指标优秀 / 给出未选路线的对比分析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M2-3b 竞标：CNN焊缝 vs LSTM风机（轻量基线）·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图像线（CNN焊缝·块统计特征3维）: 3折交叉验证 cv =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时序线（LSTM风机·RMS比值1维）  : 3折交叉验证 cv = 0.995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竞标建议: 轻量基线支持选「CNN焊缝」（差 0.005）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答辩要点: 基线≠上限——本表只证明'哪条路线更容易起步'；真模型预期增益需说明数据量、算力与标注成本三项证据。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工程化项目/m23b_bidding/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src/bidding_lines/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M2-3b 竞标：CNN焊缝 vs LSTM风机（轻量基线）·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图像线（CNN焊缝·块统计特征3维）: 3折交叉验证 cv =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时序线（LSTM风机·RMS比值1维）  : 3折交叉验证 cv = 0.995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竞标建议: 轻量基线支持选「CNN焊缝」（差 0.005）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答辩要点: 基线≠上限——本表只证明'哪条路线更容易起步'；真模型预期增益需说明数据量、算力与标注成本三项证据。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双路线通吃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717675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71767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达标：给出选型决策矩阵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跑另一路线mini版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对比表加适用边界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答辩展示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答辩制胜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845564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84556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达标：赢得竞标或评委加分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指标对标优秀线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风险与对策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模拟问答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达标加竞标书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218574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218574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达标：CNN≥75%或LSTM误差达标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调2个关键参数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四段论成文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组内排练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跑通给定starter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达标：指标可复现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按题选starter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默认参数训练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记录指标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CNN或LSTM二选一（竞标）：备选方案决策矩阵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W9课前测①：本课工单M2-3b的及格线是什么？（答：指标达标+竞标书完整）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W9课前测②：'卷积滑动直觉'用一句话说说你的理解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指标达标+竞标书完整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赢得竞标且指标优秀 / 给出未选路线的对比分析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25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c2b16399a83ac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卷积：小核滑动扫全图——像拿放大镜逐格找特征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池化：MaxPool取窗口最大值——只留最强信号缩计…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滑动窗口造样本：一段长序列按窗切片出无数训练对——序列版裁剪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①工单M2-3b收尾跑绿并上传 ②错题本记1条 ③预习微课+导学单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26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工单M2-3b+竞标书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学号_姓名_W14.py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CNN或LSTM二选一（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质检科只标了200张图，训练从零开始根本不够。林工：'站在巨人的肩膀上——ResNet迁移学习，小样本也能成事。'工单M3-1：冻结层与微调的取舍实验。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工单M2-3b跑绿并上传学习平台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CNN或LSTM二选一（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W14-11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CNN或LSTM二选一（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