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80" r:id="rId31"/>
    <p:sldId id="281" r:id="rId32"/>
    <p:sldId id="279" r:id="rId30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0.xml"/><Relationship Id="rId31" Type="http://schemas.openxmlformats.org/officeDocument/2006/relationships/slide" Target="slides/slide18.xml"/><Relationship Id="rId32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35192"/>
            <a:ext cx="5029200" cy="378761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3322076" cy="289559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3322076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AI应用基础（48课时版）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A6A6"/>
                </a:solidFill>
                <a:latin typeface="Microsoft YaHei"/>
                <a:ea typeface="Microsoft YaHei"/>
              </a:rPr>
              <a:t>W12 · 第7次课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XGBoost参数调优（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1038517" cy="27749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03851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M2-2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15757" y="3931920"/>
            <a:ext cx="2599032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15757" y="3931920"/>
            <a:ext cx="2599032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XGBoost参数调优（上）：基础实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287748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28774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本节（上）：基础实现 · 概念打底 + D/C层保底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林工下了军令状：'F1再提3个点，调参不许超过两小时。'网格搜索、早停、特征筛选全用上——工单M2-2：XGBoost调优，在收益与工时之间做工程权衡。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课程定位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COURSE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这门课站在哪：定位与出路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四年后你手里的证书与岗位，都从这门课出发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1920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课程性质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专业核心课扩展版：数据→ML→DL→视觉→大模型→智能体全谱系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1371600"/>
            <a:ext cx="64008" cy="1920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6179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面向岗位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179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AI应用工程师 / 工业视觉开发 / 工业互联网数据分析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" y="3456432"/>
            <a:ext cx="64008" cy="1920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对接证书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1+X AI应用实践（初级=M1-M3 / 中级=M4 / 高级=M5）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147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0147" y="3456432"/>
            <a:ext cx="64008" cy="1920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6179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课程衔接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6179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前：零基础并行开设 → 本课第12周、第10-20周12周×4课时 → 后：项目实战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5468112"/>
            <a:ext cx="1124071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" y="5559552"/>
            <a:ext cx="54864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本课程路线图（当前周高亮）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W4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9509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9509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9524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9524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逻辑回归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9539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539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W7</a:t>
            </a:r>
            <a:r>
              <a:rPr sz="800" b="0">
                <a:solidFill>
                  <a:srgbClr val="F0E6D8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554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554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9569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9569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5847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5847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9599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599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9614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9614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工单M4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79629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9629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工单M4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9644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644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596600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96600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W20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剧情情境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3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738541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738541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SCENARIO · 两江智造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车间今天发生了什么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连续剧情 · 你（小郑）的第7次出场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57636"/>
            <a:ext cx="4261104" cy="322268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85068"/>
            <a:ext cx="4206240" cy="316782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910328" y="1417320"/>
            <a:ext cx="6805879" cy="2423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10328" y="1417320"/>
            <a:ext cx="6805879" cy="914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8" y="1691640"/>
            <a:ext cx="6257239" cy="1920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231D3D"/>
                </a:solidFill>
                <a:latin typeface="Microsoft YaHei"/>
                <a:ea typeface="Microsoft YaHei"/>
              </a:rPr>
              <a:t>林工下了军令状：'F1再提3个点，调参不许超过两小时。'网格搜索、早停、特征筛选全用上——工单M2-2：XGBoost调优，在收益与工时之间做工程权衡。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10328" y="4005072"/>
            <a:ext cx="6805879" cy="16002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38928" y="4160520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38928" y="4160520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本课工单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133088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M2-2 · XGBoost参数调优（上）：基础实现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8" y="4636008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4636008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技能目标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608576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能跑通XGBoost基线与网格搜索——应用：见工单starter与教师参考实现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38928" y="5111496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38928" y="5111496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技能目标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084064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能在2小时内完成限时调优——应用：见工单starter与教师参考实现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8928" y="5303520"/>
            <a:ext cx="128016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F5A7D"/>
                </a:solidFill>
                <a:latin typeface="Microsoft YaHei"/>
                <a:ea typeface="Microsoft YaHei"/>
              </a:rPr>
              <a:t>出场人物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8776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08776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老周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98640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98640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林工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8504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8504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小郑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4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理解集成思想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限时完成调优并记录权衡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完成本课工单并当堂通过检查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D2E8C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51170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51170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1.回顾预习卡与微课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8223" y="4535424"/>
            <a:ext cx="178094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8223" y="4535424"/>
            <a:ext cx="178094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2.知识精讲（先例后理）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6639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6639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3.演示代码骨架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65055" y="4535424"/>
            <a:ext cx="1554784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5055" y="4535424"/>
            <a:ext cx="1554784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4.基础实现（D/C层…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03471" y="4535424"/>
            <a:ext cx="1533245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03471" y="4535424"/>
            <a:ext cx="1533245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5.小结+布置第2次课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本章聚焦：Bagging vs Boosti… · 早停与学习率 · 调参工时账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集成两流派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("集成两流派：Bagging=并行投票压方差（随机森林），Boo…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XGB核心超参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('XGB核心超参四件：n_estimators树数/learni…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网格搜索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('网格搜索=把超参组合全试一遍取最优：param_grid字典+…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W12-07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6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B01 集成两流派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Bagging并行投票、Boosting串行纠错——两种组织法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原理：集成两流派：Bagging=并行投票压方差（随机森林），Boosting=串行纠错提精度（XGBoost）——'民主'与'补习'两种智慧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单模型到瓶颈后的下一步——XGB属串行纠错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怎么判断：单树不稳/过拟合→Bagging众树投票；精度不够且数据表格型→Boosting逐轮攻错题——选型先分清流派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XGBClassifier(n_estimators=100)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逐行看：RandomForestClassifier(100树) 各自有放回抽样训练→投票；XGBClassifier 下一棵树专攻上一棵的残差——两大件都是表格数据王牌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误区：集成万能——数据烂特征差集成也救不了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进阶：偏差-方差视角：Bagging治方差(不稳)、Boosting治偏差(不准)；小数据Boosting易过拟合要早停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7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集成两流派：一张图看懂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9314" y="1362456"/>
            <a:ext cx="6676108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0bc40fd2081f2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746" y="1389888"/>
            <a:ext cx="6621244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两条线张口越大越危险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early stopping 在拐点收手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追问：误区：集成万能——数据烂特征差集成也救不了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一句话：Bagging并行投票、Boosting串行纠错——两种组织法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何时用：单模型到瓶颈后的下一步——XGB属串行纠错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8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B02 XGB核心超参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树数量/学习率/深度三角——互相牵制不能孤立调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原理：XGB核心超参四件：n_estimators树数/learning_rate步长/max_depth树深/subsample行采样——深度控复杂度、步长配树数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准确率与训练时间平衡的三个旋钮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怎么判断：调参优先级：max_depth(3-6)&gt;n_estimators+lr(0.05-0.1)&gt;subsample(0.8)——先粗后细，别一上来精调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n_estimators=200, max_depth=4, lr=0.1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逐行看：XGBClassifier(max_depth=4,n_estimators=300,learning_rate=0.05) 常规起点；深了过拟合浅了欠拟合——4起步二分试探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误区：树越多越好——早停和CV才是裁判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进阶：colsample_bytree列采样增多样性；scale_pos_weight治不平衡；optuna贝叶斯调参替代网格（进阶省时）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9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XGB核心超参：一张图看懂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9314" y="1362456"/>
            <a:ext cx="6676108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54b46d0544fa10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746" y="1389888"/>
            <a:ext cx="6621244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两条线张口越大越危险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early stopping 在拐点收手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追问：误区：树越多越好——早停和CV才是裁判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一句话：树数量/学习率/深度三角——互相牵制不能孤立调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何时用：准确率与训练时间平衡的三个旋钮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10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B03 网格搜索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GridSearchCV穷举组合+交叉验证——调参变可复现实验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原理：网格搜索=把超参组合全试一遍取最优：param_grid字典+GridSearchCV(cv=5)——暴力但可靠，小空间内黄金标准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答辩被问'参数怎么来的'——网格表即证据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怎么判断：超参组合≤50个用网格；大空间改随机搜索RandomizedSearch——'试多少组'与'工时预算'挂钩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GridSearchCV(model, param_grid, cv=5).fit(X,y)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逐行看：grid={'max_depth':[3,4,5],'n_estimators':[100,300,500]}; GridSearchCV(clf,grid,cv=5,scoring='f1…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组合爆炸警告——先粗格后细格两轮收敛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进阶：搜索结果 DataFrame排序看趋势（深度4与5同分选浅的）；搜索空间按上轮结果收缩——迭代调参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11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网格搜索：一张图看懂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c584c525abcba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追问：组合爆炸警告——先粗格后细格两轮收敛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一句话：GridSearchCV穷举组合+交叉验证——调参变可复现实验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何时用：答辩被问'参数怎么来的'——网格表即证据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本章聚焦：Bagging vs Boosti… · 早停与学习率 · 调参工时账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网格搜索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from sklearn.model_selection 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曲线记录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res = []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能跑通XGBoost基…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能跑通XGBoost基线与网格搜索——应用：见工单starter与…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能在2小时内完成限时调优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能在2小时内完成限时调优——应用：见工单starter与教师参考实现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能绘制参数收益曲线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能绘制参数收益曲线——应用：见工单starter与教师参考实现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W12-07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13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网格搜索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from sklearn.model_selection import GridSearchCV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grid = {"n_estimators": [100, 300], "max_depth": [3, 5], "learning_rate": [.05, .1]}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gs = GridSearchCV(XGBClassifier(eval_metric="logloss"), grid, cv=5).fit(X_tr, y_tr)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print(gs.best_params_, gs.best_score_)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14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曲线记录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res = []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for n in [50, 100, 200, 300, 500]: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f = f1_score(y_te, XGBClassifier(n_estimators=n).fit(X_tr, y_tr).predict(X_te))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res.append((n, round(f, 3)))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15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fit报JSON错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新版需eval_metric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构造时传入eval_metric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搜索跑不完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网格乘cv过大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先粗后细两轮搜索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验证好测试差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cv过拟合网格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留独立测试集终评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本章聚焦：Bagging vs Boosti… · 早停与学习率 · 调参工时账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W12-07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17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工单 M2-2 · XGBoost参数调优（上）：基础实现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能跑通XGBoost基线与网格搜索——应用：见工单starter与教师参考实现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能在2小时内完成限时调优——应用：见工单starter与教师参考实现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能绘制参数收益曲线——应用：见工单starter与教师参考实现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367588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367588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" y="3657600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能写工时收益结论——应用：见工单starter与教师参考实现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F1≥0.72（2h内） / 曲线留痕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0A6A6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F1≥0.88 / 工时-收益最优点论证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先看终点（本课目标预览）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18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M2-2 参数调优与工时账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模型: RandomForest(回退)   搜索空间: max_depth[3, 4, 5] × n_estimators[…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GridSearch(穷举)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最优参数: {'max_depth': 3, 'n_estimators': 50}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交叉验证 best_cv=0.884   测试 macro-F1=0.725   耗时 1.35s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RandomSearch(预算)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最优参数: {'n_estimators': 100, 'max_depth': 3}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交叉验证 best_cv=0.878   测试 macro-F1=0.725   耗时 0.80s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结论: 小搜索空间穷举可穷尽更稳；大空间随机预算以极小精度代价换大幅工时 → 工时账写进工单。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本工单的工程化项目 · 第三种代码形态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19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本工单的工程化项目 · 第三种代码形态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工程化项目/m22_tuning_cost/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-m pytest -q    # 全量测试应全绿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src/tuning_cost/  config · core · io_utils · report · pipeline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tests/      正常 / 边界 / 异常三档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课末对照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20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M2-2 参数调优与工时账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模型: RandomForest(回退)   搜索空间: max_depth[3, 4, 5] × n_estimators[…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GridSearch(穷举)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最优参数: {'max_depth': 3, 'n_estimators': 50}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交叉验证 best_cv=0.884   测试 macro-F1=0.725   耗时 1.35s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RandomSearch(预算)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最优参数: {'n_estimators': 100, 'max_depth': 3}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交叉验证 best_cv=0.878   测试 macro-F1=0.725   耗时 0.80s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结论: 小搜索空间穷举可穷尽更稳；大空间随机预算以极小精度代价换大幅工时 → 工时账写进工单。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21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30分钟方案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2093668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209366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达标：F1≥0.88或快速方案论证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只调3个关键参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对比全网格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给出快速recipe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曲线与最优点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717675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717675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达标：曲线完整拐点论证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逐档记录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画参数F1曲线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标注拐点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00A6A6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网格搜索达标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582112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582112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达标：F1≥0.72限时内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定3参数网格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GridSearchCV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cv=5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D2E8C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默认参数基线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334008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33400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达标：基线可复现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XGBClassifier默认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fit和score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记录基线F1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22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XGBoost参数调优：备选方案决策矩阵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备选方案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3359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可行性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1503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达标概率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29647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工时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77791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方案A：按工单主线（starter起步）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1647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9791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7935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适中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6079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推荐主干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方案B：自选技术路线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1647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9791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47935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6079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A层可选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4123944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方案C：直接改现成项目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51647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低（无过程分）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9791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7935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96079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不建议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8" y="5285232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385816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D2E8C"/>
                </a:solidFill>
                <a:latin typeface="Microsoft YaHei"/>
                <a:ea typeface="Microsoft YaHei"/>
              </a:rPr>
              <a:t>决策纪律：组内打分3分钟，结论与理由写入工单决策记录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23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W7课前测①：本课工单M2-2的及格线是什么？（答：F1≥0.72（2h内））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862072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944" y="2990088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2990088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3300984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W7课前测②：'集成思想'用一句话说说你的理解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3867912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D2E8C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F1≥0.72（2h内） / 曲线留痕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F1≥0.88 / 工时-收益最优点论证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24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71b338fc655894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集成两流派：Bagging并行投票、Boosting串行纠…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XGB核心超参：树数量/学习率/深度三角——互相牵制不能孤立调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网格搜索：GridSearchCV穷举组合+交叉验证——…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①工单M2-2收尾跑绿并上传 ②错题本记1条 ③预习微课+导学单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25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工单M2-2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学号_姓名_W12.py + 运行截图（含文件名）+ 工单决策记录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XGBoost参数调优（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第一个神经网络。王主任路过看你屏幕：'这堆圈圈连线，比我闺女画的还乱。'林工笑：'乱中有序——每个圈都在学。'工单M2-3a：MLP读懂振动频谱，看清过拟合长什么样。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D2E8C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工单M2-2跑绿并上传学习平台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下次课 → XGBoost参数调优（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W12-07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XGBoost参数调优（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