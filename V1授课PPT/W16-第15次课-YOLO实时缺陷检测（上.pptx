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83" r:id="rId34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81" r:id="rId32"/>
    <p:sldId id="282" r:id="rId33"/>
    <p:sldId id="280" r:id="rId31"/>
    <p:sldId id="274" r:id="rId25"/>
    <p:sldId id="275" r:id="rId26"/>
    <p:sldId id="276" r:id="rId27"/>
    <p:sldId id="277" r:id="rId28"/>
    <p:sldId id="278" r:id="rId29"/>
    <p:sldId id="279" r:id="rId30"/>
    <p:sldId id="284" r:id="rId35"/>
    <p:sldId id="285" r:id="rId3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22.xml"/><Relationship Id="rId26" Type="http://schemas.openxmlformats.org/officeDocument/2006/relationships/slide" Target="slides/slide23.xml"/><Relationship Id="rId27" Type="http://schemas.openxmlformats.org/officeDocument/2006/relationships/slide" Target="slides/slide24.xml"/><Relationship Id="rId28" Type="http://schemas.openxmlformats.org/officeDocument/2006/relationships/slide" Target="slides/slide25.xml"/><Relationship Id="rId29" Type="http://schemas.openxmlformats.org/officeDocument/2006/relationships/slide" Target="slides/slide26.xml"/><Relationship Id="rId30" Type="http://schemas.openxmlformats.org/officeDocument/2006/relationships/slide" Target="slides/slide27.xml"/><Relationship Id="rId31" Type="http://schemas.openxmlformats.org/officeDocument/2006/relationships/slide" Target="slides/slide21.xml"/><Relationship Id="rId32" Type="http://schemas.openxmlformats.org/officeDocument/2006/relationships/slide" Target="slides/slide19.xml"/><Relationship Id="rId33" Type="http://schemas.openxmlformats.org/officeDocument/2006/relationships/slide" Target="slides/slide20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41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W11_场景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75120" y="1535192"/>
            <a:ext cx="5029200" cy="3787616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640080" y="777240"/>
            <a:ext cx="3322076" cy="289559"/>
          </a:xfrm>
          <a:prstGeom prst="roundRect">
            <a:avLst>
              <a:gd name="adj" fmla="val 50000"/>
            </a:avLst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777240"/>
            <a:ext cx="3322076" cy="289559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Microsoft YaHei"/>
                <a:ea typeface="Microsoft YaHei"/>
              </a:rPr>
              <a:t>AI应用基础（48课时版） · 12周·48课时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481328"/>
            <a:ext cx="5943600" cy="45720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00A6A6"/>
                </a:solidFill>
                <a:latin typeface="Microsoft YaHei"/>
                <a:ea typeface="Microsoft YaHei"/>
              </a:rPr>
              <a:t>W16 · 第15次课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029968"/>
            <a:ext cx="5852160" cy="91440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0000"/>
              </a:lnSpc>
            </a:pPr>
            <a:r>
              <a:rPr sz="3000" b="1">
                <a:solidFill>
                  <a:srgbClr val="FFFFFF"/>
                </a:solidFill>
                <a:latin typeface="Microsoft YaHei"/>
                <a:ea typeface="Microsoft YaHei"/>
              </a:rPr>
              <a:t>YOLO实时缺陷检测（上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3931920"/>
            <a:ext cx="1038517" cy="277495"/>
          </a:xfrm>
          <a:prstGeom prst="roundRect">
            <a:avLst>
              <a:gd name="adj" fmla="val 50000"/>
            </a:avLst>
          </a:prstGeom>
          <a:solidFill>
            <a:srgbClr val="3D2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3931920"/>
            <a:ext cx="1038517" cy="27749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150" b="1">
                <a:solidFill>
                  <a:srgbClr val="FFFFFF"/>
                </a:solidFill>
                <a:latin typeface="Microsoft YaHei"/>
                <a:ea typeface="Microsoft YaHei"/>
              </a:rPr>
              <a:t>工单 M3-2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815757" y="3931920"/>
            <a:ext cx="2862214" cy="277495"/>
          </a:xfrm>
          <a:prstGeom prst="roundRect">
            <a:avLst>
              <a:gd name="adj" fmla="val 50000"/>
            </a:avLst>
          </a:prstGeom>
          <a:solidFill>
            <a:srgbClr val="3A4A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815757" y="3931920"/>
            <a:ext cx="2862214" cy="27749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150" b="1">
                <a:solidFill>
                  <a:srgbClr val="FFFFFF"/>
                </a:solidFill>
                <a:latin typeface="Microsoft YaHei"/>
                <a:ea typeface="Microsoft YaHei"/>
              </a:rPr>
              <a:t>YOLO实时缺陷检测（上）：基础实现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4443984"/>
            <a:ext cx="3287748" cy="253365"/>
          </a:xfrm>
          <a:prstGeom prst="roundRect">
            <a:avLst>
              <a:gd name="adj" fmla="val 50000"/>
            </a:avLst>
          </a:prstGeom>
          <a:solidFill>
            <a:srgbClr val="3141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" y="4443984"/>
            <a:ext cx="3287748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本节（上）：基础实现 · 概念打底 + D/C层保底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4956048"/>
            <a:ext cx="5669280" cy="9601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0">
                <a:solidFill>
                  <a:srgbClr val="C9D4E4"/>
                </a:solidFill>
                <a:latin typeface="Microsoft YaHei"/>
                <a:ea typeface="Microsoft YaHei"/>
              </a:rPr>
              <a:t>产线节拍又升了。老周批了CPU算力：'实时检测，速度与精度你自己权衡。'工单M3-2：YOLO缺陷检测，阈值、输入尺寸与FPS的三方博弈。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5989320"/>
            <a:ext cx="10881360" cy="36576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8C99B5"/>
                </a:solidFill>
                <a:latin typeface="Microsoft YaHei"/>
                <a:ea typeface="Microsoft YaHei"/>
              </a:rPr>
              <a:t>重庆两江智造集团 · 双创中心302实训室 · V1重制版（easyslides规范）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"/>
          </a:xfrm>
          <a:prstGeom prst="rect">
            <a:avLst/>
          </a:prstGeom>
          <a:solidFill>
            <a:srgbClr val="3D2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18872"/>
            <a:ext cx="676656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3D2E8C"/>
                </a:solidFill>
                <a:latin typeface="Microsoft YaHei"/>
                <a:ea typeface="Microsoft YaHei"/>
              </a:rPr>
              <a:t>课程定位</a:t>
            </a:r>
          </a:p>
        </p:txBody>
      </p:sp>
      <p:sp>
        <p:nvSpPr>
          <p:cNvPr id="4" name="Rectangle 3"/>
          <p:cNvSpPr/>
          <p:nvPr/>
        </p:nvSpPr>
        <p:spPr>
          <a:xfrm>
            <a:off x="475488" y="6473952"/>
            <a:ext cx="11240719" cy="9525"/>
          </a:xfrm>
          <a:prstGeom prst="rect">
            <a:avLst/>
          </a:prstGeom>
          <a:solidFill>
            <a:srgbClr val="EAE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75488" y="6455664"/>
            <a:ext cx="8229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5F5A7D"/>
                </a:solidFill>
                <a:latin typeface="Microsoft YaHei"/>
                <a:ea typeface="Microsoft YaHei"/>
              </a:rPr>
              <a:t>AI应用基础（48课时版） · V1 · W16-15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44607" y="6455664"/>
            <a:ext cx="1371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0">
                <a:solidFill>
                  <a:srgbClr val="5F5A7D"/>
                </a:solidFill>
                <a:latin typeface="Microsoft YaHei"/>
                <a:ea typeface="Microsoft YaHei"/>
              </a:rPr>
              <a:t>2 / 27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5488" y="274320"/>
            <a:ext cx="1142039" cy="253365"/>
          </a:xfrm>
          <a:prstGeom prst="roundRect">
            <a:avLst>
              <a:gd name="adj" fmla="val 50000"/>
            </a:avLst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5488" y="274320"/>
            <a:ext cx="1142039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COURSE MAP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5488" y="585216"/>
            <a:ext cx="11240719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231D3D"/>
                </a:solidFill>
                <a:latin typeface="Microsoft YaHei"/>
                <a:ea typeface="Microsoft YaHei"/>
              </a:rPr>
              <a:t>这门课站在哪：定位与出路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" y="1060704"/>
            <a:ext cx="11240719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5F5A7D"/>
                </a:solidFill>
                <a:latin typeface="Microsoft YaHei"/>
                <a:ea typeface="Microsoft YaHei"/>
              </a:rPr>
              <a:t>四年后你手里的证书与岗位，都从这门课出发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75488" y="1097280"/>
            <a:ext cx="1234440" cy="30480"/>
          </a:xfrm>
          <a:prstGeom prst="rect">
            <a:avLst/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75488" y="1371600"/>
            <a:ext cx="5506059" cy="19202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75488" y="1371600"/>
            <a:ext cx="64008" cy="1920240"/>
          </a:xfrm>
          <a:prstGeom prst="rect">
            <a:avLst/>
          </a:prstGeom>
          <a:solidFill>
            <a:srgbClr val="3D2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1520" y="1517904"/>
            <a:ext cx="5048859" cy="36576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3D2E8C"/>
                </a:solidFill>
                <a:latin typeface="Microsoft YaHei"/>
                <a:ea typeface="Microsoft YaHei"/>
              </a:rPr>
              <a:t>课程性质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1938528"/>
            <a:ext cx="4993995" cy="11887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231D3D"/>
                </a:solidFill>
                <a:latin typeface="Microsoft YaHei"/>
                <a:ea typeface="Microsoft YaHei"/>
              </a:rPr>
              <a:t>专业核心课扩展版：数据→ML→DL→视觉→大模型→智能体全谱系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10147" y="1371600"/>
            <a:ext cx="5506059" cy="19202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210147" y="1371600"/>
            <a:ext cx="64008" cy="1920240"/>
          </a:xfrm>
          <a:prstGeom prst="rect">
            <a:avLst/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66179" y="1517904"/>
            <a:ext cx="5048859" cy="36576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3D2E8C"/>
                </a:solidFill>
                <a:latin typeface="Microsoft YaHei"/>
                <a:ea typeface="Microsoft YaHei"/>
              </a:rPr>
              <a:t>面向岗位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66179" y="1938528"/>
            <a:ext cx="4993995" cy="11887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231D3D"/>
                </a:solidFill>
                <a:latin typeface="Microsoft YaHei"/>
                <a:ea typeface="Microsoft YaHei"/>
              </a:rPr>
              <a:t>AI应用工程师 / 工业视觉开发 / 工业互联网数据分析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75488" y="3456432"/>
            <a:ext cx="5506059" cy="19202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75488" y="3456432"/>
            <a:ext cx="64008" cy="1920240"/>
          </a:xfrm>
          <a:prstGeom prst="rect">
            <a:avLst/>
          </a:prstGeom>
          <a:solidFill>
            <a:srgbClr val="3D2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31520" y="3602736"/>
            <a:ext cx="5048859" cy="36576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3D2E8C"/>
                </a:solidFill>
                <a:latin typeface="Microsoft YaHei"/>
                <a:ea typeface="Microsoft YaHei"/>
              </a:rPr>
              <a:t>对接证书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1520" y="4023360"/>
            <a:ext cx="4993995" cy="11887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231D3D"/>
                </a:solidFill>
                <a:latin typeface="Microsoft YaHei"/>
                <a:ea typeface="Microsoft YaHei"/>
              </a:rPr>
              <a:t>1+X AI应用实践（初级=M1-M3 / 中级=M4 / 高级=M5）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210147" y="3456432"/>
            <a:ext cx="5506059" cy="19202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210147" y="3456432"/>
            <a:ext cx="64008" cy="1920240"/>
          </a:xfrm>
          <a:prstGeom prst="rect">
            <a:avLst/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66179" y="3602736"/>
            <a:ext cx="5048859" cy="36576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3D2E8C"/>
                </a:solidFill>
                <a:latin typeface="Microsoft YaHei"/>
                <a:ea typeface="Microsoft YaHei"/>
              </a:rPr>
              <a:t>课程衔接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66179" y="4023360"/>
            <a:ext cx="4993995" cy="11887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231D3D"/>
                </a:solidFill>
                <a:latin typeface="Microsoft YaHei"/>
                <a:ea typeface="Microsoft YaHei"/>
              </a:rPr>
              <a:t>前：零基础并行开设 → 本课第12周、第10-20周12周×4课时 → 后：项目实战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75488" y="5468112"/>
            <a:ext cx="11240719" cy="896112"/>
          </a:xfrm>
          <a:prstGeom prst="roundRect">
            <a:avLst>
              <a:gd name="adj" fmla="val 5500"/>
            </a:avLst>
          </a:prstGeom>
          <a:solidFill>
            <a:srgbClr val="EAE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94944" y="5559552"/>
            <a:ext cx="54864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3D2E8C"/>
                </a:solidFill>
                <a:latin typeface="Microsoft YaHei"/>
                <a:ea typeface="Microsoft YaHei"/>
              </a:rPr>
              <a:t>本课程路线图（当前周高亮）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94944" y="5888736"/>
            <a:ext cx="863574" cy="365760"/>
          </a:xfrm>
          <a:prstGeom prst="roundRect">
            <a:avLst>
              <a:gd name="adj" fmla="val 18000"/>
            </a:avLst>
          </a:prstGeom>
          <a:solidFill>
            <a:srgbClr val="3D2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94944" y="5888736"/>
            <a:ext cx="863574" cy="36576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95000"/>
              </a:lnSpc>
            </a:pPr>
            <a:r>
              <a:rPr sz="950" b="1">
                <a:solidFill>
                  <a:srgbClr val="FFFFFF"/>
                </a:solidFill>
                <a:latin typeface="Microsoft YaHei"/>
                <a:ea typeface="Microsoft YaHei"/>
              </a:rPr>
              <a:t>W4</a:t>
            </a:r>
            <a:r>
              <a:rPr sz="800" b="0">
                <a:solidFill>
                  <a:srgbClr val="D8E1EC"/>
                </a:solidFill>
                <a:latin typeface="Microsoft YaHei"/>
                <a:ea typeface="Microsoft YaHei"/>
              </a:rPr>
              <a:t>
工单M1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595094" y="5888736"/>
            <a:ext cx="863574" cy="365760"/>
          </a:xfrm>
          <a:prstGeom prst="roundRect">
            <a:avLst>
              <a:gd name="adj" fmla="val 18000"/>
            </a:avLst>
          </a:prstGeom>
          <a:solidFill>
            <a:srgbClr val="3D2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595094" y="5888736"/>
            <a:ext cx="863574" cy="36576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95000"/>
              </a:lnSpc>
            </a:pPr>
            <a:r>
              <a:rPr sz="950" b="1">
                <a:solidFill>
                  <a:srgbClr val="FFFFFF"/>
                </a:solidFill>
                <a:latin typeface="Microsoft YaHei"/>
                <a:ea typeface="Microsoft YaHei"/>
              </a:rPr>
              <a:t>W5</a:t>
            </a:r>
            <a:r>
              <a:rPr sz="800" b="0">
                <a:solidFill>
                  <a:srgbClr val="D8E1EC"/>
                </a:solidFill>
                <a:latin typeface="Microsoft YaHei"/>
                <a:ea typeface="Microsoft YaHei"/>
              </a:rPr>
              <a:t>
工单M1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2495245" y="5888736"/>
            <a:ext cx="863574" cy="365760"/>
          </a:xfrm>
          <a:prstGeom prst="roundRect">
            <a:avLst>
              <a:gd name="adj" fmla="val 18000"/>
            </a:avLst>
          </a:prstGeom>
          <a:solidFill>
            <a:srgbClr val="3D2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2495245" y="5888736"/>
            <a:ext cx="863574" cy="36576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95000"/>
              </a:lnSpc>
            </a:pPr>
            <a:r>
              <a:rPr sz="950" b="1">
                <a:solidFill>
                  <a:srgbClr val="FFFFFF"/>
                </a:solidFill>
                <a:latin typeface="Microsoft YaHei"/>
                <a:ea typeface="Microsoft YaHei"/>
              </a:rPr>
              <a:t>W6</a:t>
            </a:r>
            <a:r>
              <a:rPr sz="800" b="0">
                <a:solidFill>
                  <a:srgbClr val="D8E1EC"/>
                </a:solidFill>
                <a:latin typeface="Microsoft YaHei"/>
                <a:ea typeface="Microsoft YaHei"/>
              </a:rPr>
              <a:t>
逻辑回归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3395395" y="5888736"/>
            <a:ext cx="863574" cy="365760"/>
          </a:xfrm>
          <a:prstGeom prst="roundRect">
            <a:avLst>
              <a:gd name="adj" fmla="val 18000"/>
            </a:avLst>
          </a:prstGeom>
          <a:solidFill>
            <a:srgbClr val="3D2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395395" y="5888736"/>
            <a:ext cx="863574" cy="36576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95000"/>
              </a:lnSpc>
            </a:pPr>
            <a:r>
              <a:rPr sz="950" b="1">
                <a:solidFill>
                  <a:srgbClr val="FFFFFF"/>
                </a:solidFill>
                <a:latin typeface="Microsoft YaHei"/>
                <a:ea typeface="Microsoft YaHei"/>
              </a:rPr>
              <a:t>W7</a:t>
            </a:r>
            <a:r>
              <a:rPr sz="800" b="0">
                <a:solidFill>
                  <a:srgbClr val="D8E1EC"/>
                </a:solidFill>
                <a:latin typeface="Microsoft YaHei"/>
                <a:ea typeface="Microsoft YaHei"/>
              </a:rPr>
              <a:t>
工单M2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4295546" y="5888736"/>
            <a:ext cx="863574" cy="365760"/>
          </a:xfrm>
          <a:prstGeom prst="roundRect">
            <a:avLst>
              <a:gd name="adj" fmla="val 18000"/>
            </a:avLst>
          </a:prstGeom>
          <a:solidFill>
            <a:srgbClr val="3D2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295546" y="5888736"/>
            <a:ext cx="863574" cy="36576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95000"/>
              </a:lnSpc>
            </a:pPr>
            <a:r>
              <a:rPr sz="950" b="1">
                <a:solidFill>
                  <a:srgbClr val="FFFFFF"/>
                </a:solidFill>
                <a:latin typeface="Microsoft YaHei"/>
                <a:ea typeface="Microsoft YaHei"/>
              </a:rPr>
              <a:t>W8</a:t>
            </a:r>
            <a:r>
              <a:rPr sz="800" b="0">
                <a:solidFill>
                  <a:srgbClr val="D8E1EC"/>
                </a:solidFill>
                <a:latin typeface="Microsoft YaHei"/>
                <a:ea typeface="Microsoft YaHei"/>
              </a:rPr>
              <a:t>
工单M2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5195696" y="5888736"/>
            <a:ext cx="863574" cy="365760"/>
          </a:xfrm>
          <a:prstGeom prst="roundRect">
            <a:avLst>
              <a:gd name="adj" fmla="val 18000"/>
            </a:avLst>
          </a:prstGeom>
          <a:solidFill>
            <a:srgbClr val="3D2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195696" y="5888736"/>
            <a:ext cx="863574" cy="36576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95000"/>
              </a:lnSpc>
            </a:pPr>
            <a:r>
              <a:rPr sz="950" b="1">
                <a:solidFill>
                  <a:srgbClr val="FFFFFF"/>
                </a:solidFill>
                <a:latin typeface="Microsoft YaHei"/>
                <a:ea typeface="Microsoft YaHei"/>
              </a:rPr>
              <a:t>W9</a:t>
            </a:r>
            <a:r>
              <a:rPr sz="800" b="0">
                <a:solidFill>
                  <a:srgbClr val="D8E1EC"/>
                </a:solidFill>
                <a:latin typeface="Microsoft YaHei"/>
                <a:ea typeface="Microsoft YaHei"/>
              </a:rPr>
              <a:t>
工单M2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6095847" y="5888736"/>
            <a:ext cx="863574" cy="365760"/>
          </a:xfrm>
          <a:prstGeom prst="roundRect">
            <a:avLst>
              <a:gd name="adj" fmla="val 18000"/>
            </a:avLst>
          </a:prstGeom>
          <a:solidFill>
            <a:srgbClr val="3D2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095847" y="5888736"/>
            <a:ext cx="863574" cy="36576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95000"/>
              </a:lnSpc>
            </a:pPr>
            <a:r>
              <a:rPr sz="950" b="1">
                <a:solidFill>
                  <a:srgbClr val="FFFFFF"/>
                </a:solidFill>
                <a:latin typeface="Microsoft YaHei"/>
                <a:ea typeface="Microsoft YaHei"/>
              </a:rPr>
              <a:t>W15</a:t>
            </a:r>
            <a:r>
              <a:rPr sz="800" b="0">
                <a:solidFill>
                  <a:srgbClr val="D8E1EC"/>
                </a:solidFill>
                <a:latin typeface="Microsoft YaHei"/>
                <a:ea typeface="Microsoft YaHei"/>
              </a:rPr>
              <a:t>
工单M3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6995998" y="5888736"/>
            <a:ext cx="863574" cy="365760"/>
          </a:xfrm>
          <a:prstGeom prst="roundRect">
            <a:avLst>
              <a:gd name="adj" fmla="val 18000"/>
            </a:avLst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995998" y="5888736"/>
            <a:ext cx="863574" cy="36576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95000"/>
              </a:lnSpc>
            </a:pPr>
            <a:r>
              <a:rPr sz="950" b="1">
                <a:solidFill>
                  <a:srgbClr val="FFFFFF"/>
                </a:solidFill>
                <a:latin typeface="Microsoft YaHei"/>
                <a:ea typeface="Microsoft YaHei"/>
              </a:rPr>
              <a:t>W16</a:t>
            </a:r>
            <a:r>
              <a:rPr sz="800" b="0">
                <a:solidFill>
                  <a:srgbClr val="F0E6D8"/>
                </a:solidFill>
                <a:latin typeface="Microsoft YaHei"/>
                <a:ea typeface="Microsoft YaHei"/>
              </a:rPr>
              <a:t>
工单M3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7896148" y="5888736"/>
            <a:ext cx="863574" cy="365760"/>
          </a:xfrm>
          <a:prstGeom prst="roundRect">
            <a:avLst>
              <a:gd name="adj" fmla="val 18000"/>
            </a:avLst>
          </a:prstGeom>
          <a:solidFill>
            <a:srgbClr val="3D2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7896148" y="5888736"/>
            <a:ext cx="863574" cy="36576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95000"/>
              </a:lnSpc>
            </a:pPr>
            <a:r>
              <a:rPr sz="950" b="1">
                <a:solidFill>
                  <a:srgbClr val="FFFFFF"/>
                </a:solidFill>
                <a:latin typeface="Microsoft YaHei"/>
                <a:ea typeface="Microsoft YaHei"/>
              </a:rPr>
              <a:t>W17</a:t>
            </a:r>
            <a:r>
              <a:rPr sz="800" b="0">
                <a:solidFill>
                  <a:srgbClr val="D8E1EC"/>
                </a:solidFill>
                <a:latin typeface="Microsoft YaHei"/>
                <a:ea typeface="Microsoft YaHei"/>
              </a:rPr>
              <a:t>
工单M4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8796299" y="5888736"/>
            <a:ext cx="863574" cy="365760"/>
          </a:xfrm>
          <a:prstGeom prst="roundRect">
            <a:avLst>
              <a:gd name="adj" fmla="val 18000"/>
            </a:avLst>
          </a:prstGeom>
          <a:solidFill>
            <a:srgbClr val="3D2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8796299" y="5888736"/>
            <a:ext cx="863574" cy="36576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95000"/>
              </a:lnSpc>
            </a:pPr>
            <a:r>
              <a:rPr sz="950" b="1">
                <a:solidFill>
                  <a:srgbClr val="FFFFFF"/>
                </a:solidFill>
                <a:latin typeface="Microsoft YaHei"/>
                <a:ea typeface="Microsoft YaHei"/>
              </a:rPr>
              <a:t>W18</a:t>
            </a:r>
            <a:r>
              <a:rPr sz="800" b="0">
                <a:solidFill>
                  <a:srgbClr val="D8E1EC"/>
                </a:solidFill>
                <a:latin typeface="Microsoft YaHei"/>
                <a:ea typeface="Microsoft YaHei"/>
              </a:rPr>
              <a:t>
工单M4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9696449" y="5888736"/>
            <a:ext cx="863574" cy="365760"/>
          </a:xfrm>
          <a:prstGeom prst="roundRect">
            <a:avLst>
              <a:gd name="adj" fmla="val 18000"/>
            </a:avLst>
          </a:prstGeom>
          <a:solidFill>
            <a:srgbClr val="3D2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9696449" y="5888736"/>
            <a:ext cx="863574" cy="36576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95000"/>
              </a:lnSpc>
            </a:pPr>
            <a:r>
              <a:rPr sz="950" b="1">
                <a:solidFill>
                  <a:srgbClr val="FFFFFF"/>
                </a:solidFill>
                <a:latin typeface="Microsoft YaHei"/>
                <a:ea typeface="Microsoft YaHei"/>
              </a:rPr>
              <a:t>W19</a:t>
            </a:r>
            <a:r>
              <a:rPr sz="800" b="0">
                <a:solidFill>
                  <a:srgbClr val="D8E1EC"/>
                </a:solidFill>
                <a:latin typeface="Microsoft YaHei"/>
                <a:ea typeface="Microsoft YaHei"/>
              </a:rPr>
              <a:t>
工单M5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10596600" y="5888736"/>
            <a:ext cx="863574" cy="365760"/>
          </a:xfrm>
          <a:prstGeom prst="roundRect">
            <a:avLst>
              <a:gd name="adj" fmla="val 18000"/>
            </a:avLst>
          </a:prstGeom>
          <a:solidFill>
            <a:srgbClr val="3D2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10596600" y="5888736"/>
            <a:ext cx="863574" cy="36576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95000"/>
              </a:lnSpc>
            </a:pPr>
            <a:r>
              <a:rPr sz="950" b="1">
                <a:solidFill>
                  <a:srgbClr val="FFFFFF"/>
                </a:solidFill>
                <a:latin typeface="Microsoft YaHei"/>
                <a:ea typeface="Microsoft YaHei"/>
              </a:rPr>
              <a:t>W20</a:t>
            </a:r>
            <a:r>
              <a:rPr sz="800" b="0">
                <a:solidFill>
                  <a:srgbClr val="D8E1EC"/>
                </a:solidFill>
                <a:latin typeface="Microsoft YaHei"/>
                <a:ea typeface="Microsoft YaHei"/>
              </a:rPr>
              <a:t>
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"/>
          </a:xfrm>
          <a:prstGeom prst="rect">
            <a:avLst/>
          </a:prstGeom>
          <a:solidFill>
            <a:srgbClr val="3D2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18872"/>
            <a:ext cx="676656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3D2E8C"/>
                </a:solidFill>
                <a:latin typeface="Microsoft YaHei"/>
                <a:ea typeface="Microsoft YaHei"/>
              </a:rPr>
              <a:t>剧情情境</a:t>
            </a:r>
          </a:p>
        </p:txBody>
      </p:sp>
      <p:sp>
        <p:nvSpPr>
          <p:cNvPr id="4" name="Rectangle 3"/>
          <p:cNvSpPr/>
          <p:nvPr/>
        </p:nvSpPr>
        <p:spPr>
          <a:xfrm>
            <a:off x="475488" y="6473952"/>
            <a:ext cx="11240719" cy="9525"/>
          </a:xfrm>
          <a:prstGeom prst="rect">
            <a:avLst/>
          </a:prstGeom>
          <a:solidFill>
            <a:srgbClr val="EAE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75488" y="6455664"/>
            <a:ext cx="8229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5F5A7D"/>
                </a:solidFill>
                <a:latin typeface="Microsoft YaHei"/>
                <a:ea typeface="Microsoft YaHei"/>
              </a:rPr>
              <a:t>AI应用基础（48课时版） · V1 · W16-15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44607" y="6455664"/>
            <a:ext cx="1371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0">
                <a:solidFill>
                  <a:srgbClr val="5F5A7D"/>
                </a:solidFill>
                <a:latin typeface="Microsoft YaHei"/>
                <a:ea typeface="Microsoft YaHei"/>
              </a:rPr>
              <a:t>3 / 27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5488" y="274320"/>
            <a:ext cx="1738541" cy="253365"/>
          </a:xfrm>
          <a:prstGeom prst="roundRect">
            <a:avLst>
              <a:gd name="adj" fmla="val 50000"/>
            </a:avLst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5488" y="274320"/>
            <a:ext cx="1738541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SCENARIO · 两江智造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5488" y="585216"/>
            <a:ext cx="11240719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231D3D"/>
                </a:solidFill>
                <a:latin typeface="Microsoft YaHei"/>
                <a:ea typeface="Microsoft YaHei"/>
              </a:rPr>
              <a:t>车间今天发生了什么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" y="1060704"/>
            <a:ext cx="11240719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5F5A7D"/>
                </a:solidFill>
                <a:latin typeface="Microsoft YaHei"/>
                <a:ea typeface="Microsoft YaHei"/>
              </a:rPr>
              <a:t>连续剧情 · 你（小郑）的第15次出场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75488" y="1097280"/>
            <a:ext cx="1234440" cy="30480"/>
          </a:xfrm>
          <a:prstGeom prst="rect">
            <a:avLst/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48056" y="1657636"/>
            <a:ext cx="4261104" cy="3222688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12700">
            <a:solidFill>
              <a:srgbClr val="D5DB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W11_场景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5488" y="1685068"/>
            <a:ext cx="4206240" cy="3167824"/>
          </a:xfrm>
          <a:prstGeom prst="rect">
            <a:avLst/>
          </a:prstGeom>
        </p:spPr>
      </p:pic>
      <p:sp>
        <p:nvSpPr>
          <p:cNvPr id="14" name="Rounded Rectangle 13"/>
          <p:cNvSpPr/>
          <p:nvPr/>
        </p:nvSpPr>
        <p:spPr>
          <a:xfrm>
            <a:off x="4910328" y="1417320"/>
            <a:ext cx="6805879" cy="24231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910328" y="1417320"/>
            <a:ext cx="6805879" cy="91440"/>
          </a:xfrm>
          <a:prstGeom prst="rect">
            <a:avLst/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184648" y="1691640"/>
            <a:ext cx="6257239" cy="192024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30000"/>
              </a:lnSpc>
            </a:pPr>
            <a:r>
              <a:rPr sz="1450" b="0">
                <a:solidFill>
                  <a:srgbClr val="231D3D"/>
                </a:solidFill>
                <a:latin typeface="Microsoft YaHei"/>
                <a:ea typeface="Microsoft YaHei"/>
              </a:rPr>
              <a:t>产线节拍又升了。老周批了CPU算力：'实时检测，速度与精度你自己权衡。'工单M3-2：YOLO缺陷检测，阈值、输入尺寸与FPS的三方博弈。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910328" y="4005072"/>
            <a:ext cx="6805879" cy="1600200"/>
          </a:xfrm>
          <a:prstGeom prst="roundRect">
            <a:avLst>
              <a:gd name="adj" fmla="val 5500"/>
            </a:avLst>
          </a:prstGeom>
          <a:solidFill>
            <a:srgbClr val="EAE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5138928" y="4160520"/>
            <a:ext cx="960120" cy="241300"/>
          </a:xfrm>
          <a:prstGeom prst="roundRect">
            <a:avLst>
              <a:gd name="adj" fmla="val 50000"/>
            </a:avLst>
          </a:prstGeom>
          <a:solidFill>
            <a:srgbClr val="3D2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138928" y="4160520"/>
            <a:ext cx="960120" cy="2413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Microsoft YaHei"/>
                <a:ea typeface="Microsoft YaHei"/>
              </a:rPr>
              <a:t>本课工单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63640" y="4133088"/>
            <a:ext cx="5205679" cy="36576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231D3D"/>
                </a:solidFill>
                <a:latin typeface="Microsoft YaHei"/>
                <a:ea typeface="Microsoft YaHei"/>
              </a:rPr>
              <a:t>M3-2 · YOLO实时缺陷检测（上）：基础实现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138928" y="4636008"/>
            <a:ext cx="960120" cy="241300"/>
          </a:xfrm>
          <a:prstGeom prst="roundRect">
            <a:avLst>
              <a:gd name="adj" fmla="val 50000"/>
            </a:avLst>
          </a:prstGeom>
          <a:solidFill>
            <a:srgbClr val="3D2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138928" y="4636008"/>
            <a:ext cx="960120" cy="2413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Microsoft YaHei"/>
                <a:ea typeface="Microsoft YaHei"/>
              </a:rPr>
              <a:t>技能目标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63640" y="4608576"/>
            <a:ext cx="5205679" cy="36576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231D3D"/>
                </a:solidFill>
                <a:latin typeface="Microsoft YaHei"/>
                <a:ea typeface="Microsoft YaHei"/>
              </a:rPr>
              <a:t>能部署CPU预训练YOLO推理——应用：见工单starter与教师参考实现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138928" y="5111496"/>
            <a:ext cx="960120" cy="241300"/>
          </a:xfrm>
          <a:prstGeom prst="roundRect">
            <a:avLst>
              <a:gd name="adj" fmla="val 50000"/>
            </a:avLst>
          </a:prstGeom>
          <a:solidFill>
            <a:srgbClr val="3D2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138928" y="5111496"/>
            <a:ext cx="960120" cy="2413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Microsoft YaHei"/>
                <a:ea typeface="Microsoft YaHei"/>
              </a:rPr>
              <a:t>技能目标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63640" y="5084064"/>
            <a:ext cx="5205679" cy="36576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231D3D"/>
                </a:solidFill>
                <a:latin typeface="Microsoft YaHei"/>
                <a:ea typeface="Microsoft YaHei"/>
              </a:rPr>
              <a:t>能调阈值与尺寸并记录mAP和FPS——应用：见工单starter与教师参考实现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138928" y="5303520"/>
            <a:ext cx="1280160" cy="27432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5F5A7D"/>
                </a:solidFill>
                <a:latin typeface="Microsoft YaHei"/>
                <a:ea typeface="Microsoft YaHei"/>
              </a:rPr>
              <a:t>出场人物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208776" y="5266944"/>
            <a:ext cx="580136" cy="241300"/>
          </a:xfrm>
          <a:prstGeom prst="roundRect">
            <a:avLst>
              <a:gd name="adj" fmla="val 50000"/>
            </a:avLst>
          </a:prstGeom>
          <a:solidFill>
            <a:srgbClr val="3A4A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208776" y="5266944"/>
            <a:ext cx="580136" cy="2413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Microsoft YaHei"/>
                <a:ea typeface="Microsoft YaHei"/>
              </a:rPr>
              <a:t>老周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898640" y="5266944"/>
            <a:ext cx="580136" cy="241300"/>
          </a:xfrm>
          <a:prstGeom prst="roundRect">
            <a:avLst>
              <a:gd name="adj" fmla="val 50000"/>
            </a:avLst>
          </a:prstGeom>
          <a:solidFill>
            <a:srgbClr val="3A4A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898640" y="5266944"/>
            <a:ext cx="580136" cy="2413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Microsoft YaHei"/>
                <a:ea typeface="Microsoft YaHei"/>
              </a:rPr>
              <a:t>林工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7588504" y="5266944"/>
            <a:ext cx="580136" cy="241300"/>
          </a:xfrm>
          <a:prstGeom prst="roundRect">
            <a:avLst>
              <a:gd name="adj" fmla="val 50000"/>
            </a:avLst>
          </a:prstGeom>
          <a:solidFill>
            <a:srgbClr val="3A4A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588504" y="5266944"/>
            <a:ext cx="580136" cy="2413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Microsoft YaHei"/>
                <a:ea typeface="Microsoft YaHei"/>
              </a:rPr>
              <a:t>小郑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"/>
          </a:xfrm>
          <a:prstGeom prst="rect">
            <a:avLst/>
          </a:prstGeom>
          <a:solidFill>
            <a:srgbClr val="3D2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18872"/>
            <a:ext cx="676656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3D2E8C"/>
                </a:solidFill>
                <a:latin typeface="Microsoft YaHei"/>
                <a:ea typeface="Microsoft YaHei"/>
              </a:rPr>
              <a:t>学习目标</a:t>
            </a:r>
          </a:p>
        </p:txBody>
      </p:sp>
      <p:sp>
        <p:nvSpPr>
          <p:cNvPr id="4" name="Rectangle 3"/>
          <p:cNvSpPr/>
          <p:nvPr/>
        </p:nvSpPr>
        <p:spPr>
          <a:xfrm>
            <a:off x="475488" y="6473952"/>
            <a:ext cx="11240719" cy="9525"/>
          </a:xfrm>
          <a:prstGeom prst="rect">
            <a:avLst/>
          </a:prstGeom>
          <a:solidFill>
            <a:srgbClr val="EAE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75488" y="6455664"/>
            <a:ext cx="8229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5F5A7D"/>
                </a:solidFill>
                <a:latin typeface="Microsoft YaHei"/>
                <a:ea typeface="Microsoft YaHei"/>
              </a:rPr>
              <a:t>AI应用基础（48课时版） · V1 · W16-15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44607" y="6455664"/>
            <a:ext cx="1371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0">
                <a:solidFill>
                  <a:srgbClr val="5F5A7D"/>
                </a:solidFill>
                <a:latin typeface="Microsoft YaHei"/>
                <a:ea typeface="Microsoft YaHei"/>
              </a:rPr>
              <a:t>4 / 27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5488" y="274320"/>
            <a:ext cx="1260774" cy="253365"/>
          </a:xfrm>
          <a:prstGeom prst="roundRect">
            <a:avLst>
              <a:gd name="adj" fmla="val 50000"/>
            </a:avLst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5488" y="274320"/>
            <a:ext cx="1260774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GOALS &amp; FLOW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5488" y="585216"/>
            <a:ext cx="11240719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231D3D"/>
                </a:solidFill>
                <a:latin typeface="Microsoft YaHei"/>
                <a:ea typeface="Microsoft YaHei"/>
              </a:rPr>
              <a:t>这节课结束时，你能做到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" y="1060704"/>
            <a:ext cx="11240719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5F5A7D"/>
                </a:solidFill>
                <a:latin typeface="Microsoft YaHei"/>
                <a:ea typeface="Microsoft YaHei"/>
              </a:rPr>
              <a:t>目标可测量：及格线/优秀线写在工单上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75488" y="1097280"/>
            <a:ext cx="1234440" cy="30480"/>
          </a:xfrm>
          <a:prstGeom prst="rect">
            <a:avLst/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75488" y="1389888"/>
            <a:ext cx="3612794" cy="221284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75488" y="1389888"/>
            <a:ext cx="3612794" cy="82296"/>
          </a:xfrm>
          <a:prstGeom prst="rect">
            <a:avLst/>
          </a:prstGeom>
          <a:solidFill>
            <a:srgbClr val="3D2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94944" y="1554480"/>
            <a:ext cx="3173882" cy="36576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3D2E8C"/>
                </a:solidFill>
                <a:latin typeface="Microsoft YaHei"/>
                <a:ea typeface="Microsoft YaHei"/>
              </a:rPr>
              <a:t>目标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4944" y="1956816"/>
            <a:ext cx="3173882" cy="11887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4000"/>
              </a:lnSpc>
            </a:pPr>
            <a:r>
              <a:rPr sz="1300" b="0">
                <a:solidFill>
                  <a:srgbClr val="231D3D"/>
                </a:solidFill>
                <a:latin typeface="Microsoft YaHei"/>
                <a:ea typeface="Microsoft YaHei"/>
              </a:rPr>
              <a:t>能部署CPU实时检测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3163824"/>
            <a:ext cx="3283610" cy="365760"/>
          </a:xfrm>
          <a:prstGeom prst="roundRect">
            <a:avLst>
              <a:gd name="adj" fmla="val 22000"/>
            </a:avLst>
          </a:prstGeom>
          <a:solidFill>
            <a:srgbClr val="EAE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49808" y="3163824"/>
            <a:ext cx="3064154" cy="36576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F5A7D"/>
                </a:solidFill>
                <a:latin typeface="Microsoft YaHei"/>
                <a:ea typeface="Microsoft YaHei"/>
              </a:rPr>
              <a:t>检验：口头复述+快答2题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289450" y="1389888"/>
            <a:ext cx="3612794" cy="221284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289450" y="1389888"/>
            <a:ext cx="3612794" cy="82296"/>
          </a:xfrm>
          <a:prstGeom prst="rect">
            <a:avLst/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08906" y="1554480"/>
            <a:ext cx="3173882" cy="36576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3D2E8C"/>
                </a:solidFill>
                <a:latin typeface="Microsoft YaHei"/>
                <a:ea typeface="Microsoft YaHei"/>
              </a:rPr>
              <a:t>目标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08906" y="1956816"/>
            <a:ext cx="3173882" cy="11887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4000"/>
              </a:lnSpc>
            </a:pPr>
            <a:r>
              <a:rPr sz="1300" b="0">
                <a:solidFill>
                  <a:srgbClr val="231D3D"/>
                </a:solidFill>
                <a:latin typeface="Microsoft YaHei"/>
                <a:ea typeface="Microsoft YaHei"/>
              </a:rPr>
              <a:t>量化速度-精度取舍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454042" y="3163824"/>
            <a:ext cx="3283610" cy="365760"/>
          </a:xfrm>
          <a:prstGeom prst="roundRect">
            <a:avLst>
              <a:gd name="adj" fmla="val 22000"/>
            </a:avLst>
          </a:prstGeom>
          <a:solidFill>
            <a:srgbClr val="EAE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563770" y="3163824"/>
            <a:ext cx="3064154" cy="36576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F5A7D"/>
                </a:solidFill>
                <a:latin typeface="Microsoft YaHei"/>
                <a:ea typeface="Microsoft YaHei"/>
              </a:rPr>
              <a:t>检验：工单运行通过+截图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103412" y="1389888"/>
            <a:ext cx="3612794" cy="221284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8103412" y="1389888"/>
            <a:ext cx="3612794" cy="82296"/>
          </a:xfrm>
          <a:prstGeom prst="rect">
            <a:avLst/>
          </a:prstGeom>
          <a:solidFill>
            <a:srgbClr val="3A4A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322868" y="1554480"/>
            <a:ext cx="3173882" cy="36576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3D2E8C"/>
                </a:solidFill>
                <a:latin typeface="Microsoft YaHei"/>
                <a:ea typeface="Microsoft YaHei"/>
              </a:rPr>
              <a:t>能力目标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322868" y="1956816"/>
            <a:ext cx="3173882" cy="11887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4000"/>
              </a:lnSpc>
            </a:pPr>
            <a:r>
              <a:rPr sz="1300" b="0">
                <a:solidFill>
                  <a:srgbClr val="231D3D"/>
                </a:solidFill>
                <a:latin typeface="Microsoft YaHei"/>
                <a:ea typeface="Microsoft YaHei"/>
              </a:rPr>
              <a:t>完成本课工单并当堂通过检查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268004" y="3163824"/>
            <a:ext cx="3283610" cy="365760"/>
          </a:xfrm>
          <a:prstGeom prst="roundRect">
            <a:avLst>
              <a:gd name="adj" fmla="val 22000"/>
            </a:avLst>
          </a:prstGeom>
          <a:solidFill>
            <a:srgbClr val="EAE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377732" y="3163824"/>
            <a:ext cx="3064154" cy="36576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F5A7D"/>
                </a:solidFill>
                <a:latin typeface="Microsoft YaHei"/>
                <a:ea typeface="Microsoft YaHei"/>
              </a:rPr>
              <a:t>检验：同桌互查代码规范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75488" y="3950208"/>
            <a:ext cx="11240719" cy="1591056"/>
          </a:xfrm>
          <a:prstGeom prst="roundRect">
            <a:avLst>
              <a:gd name="adj" fmla="val 5500"/>
            </a:avLst>
          </a:prstGeom>
          <a:solidFill>
            <a:srgbClr val="EAE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49808" y="4078224"/>
            <a:ext cx="5486400" cy="36576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3D2E8C"/>
                </a:solidFill>
                <a:latin typeface="Microsoft YaHei"/>
                <a:ea typeface="Microsoft YaHei"/>
              </a:rPr>
              <a:t>课堂节奏（80分钟）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749808" y="4535424"/>
            <a:ext cx="1511706" cy="241300"/>
          </a:xfrm>
          <a:prstGeom prst="roundRect">
            <a:avLst>
              <a:gd name="adj" fmla="val 50000"/>
            </a:avLst>
          </a:prstGeom>
          <a:solidFill>
            <a:srgbClr val="3D2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49808" y="4535424"/>
            <a:ext cx="1511706" cy="2413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Microsoft YaHei"/>
                <a:ea typeface="Microsoft YaHei"/>
              </a:rPr>
              <a:t>1.回顾预习卡与微课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2888223" y="4535424"/>
            <a:ext cx="1780946" cy="241300"/>
          </a:xfrm>
          <a:prstGeom prst="roundRect">
            <a:avLst>
              <a:gd name="adj" fmla="val 50000"/>
            </a:avLst>
          </a:prstGeom>
          <a:solidFill>
            <a:srgbClr val="3A4A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2888223" y="4535424"/>
            <a:ext cx="1780946" cy="2413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Microsoft YaHei"/>
                <a:ea typeface="Microsoft YaHei"/>
              </a:rPr>
              <a:t>2.知识精讲（先例后理）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5026639" y="4535424"/>
            <a:ext cx="1242466" cy="241300"/>
          </a:xfrm>
          <a:prstGeom prst="roundRect">
            <a:avLst>
              <a:gd name="adj" fmla="val 50000"/>
            </a:avLst>
          </a:prstGeom>
          <a:solidFill>
            <a:srgbClr val="3D2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026639" y="4535424"/>
            <a:ext cx="1242466" cy="2413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Microsoft YaHei"/>
                <a:ea typeface="Microsoft YaHei"/>
              </a:rPr>
              <a:t>3.演示代码骨架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7165055" y="4535424"/>
            <a:ext cx="1554784" cy="241300"/>
          </a:xfrm>
          <a:prstGeom prst="roundRect">
            <a:avLst>
              <a:gd name="adj" fmla="val 50000"/>
            </a:avLst>
          </a:prstGeom>
          <a:solidFill>
            <a:srgbClr val="3A4A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7165055" y="4535424"/>
            <a:ext cx="1554784" cy="2413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Microsoft YaHei"/>
                <a:ea typeface="Microsoft YaHei"/>
              </a:rPr>
              <a:t>4.基础实现（D/C层…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9303471" y="4535424"/>
            <a:ext cx="1533245" cy="241300"/>
          </a:xfrm>
          <a:prstGeom prst="roundRect">
            <a:avLst>
              <a:gd name="adj" fmla="val 50000"/>
            </a:avLst>
          </a:prstGeom>
          <a:solidFill>
            <a:srgbClr val="3D2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9303471" y="4535424"/>
            <a:ext cx="1533245" cy="2413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Microsoft YaHei"/>
                <a:ea typeface="Microsoft YaHei"/>
              </a:rPr>
              <a:t>5.小结+布置第2次课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49808" y="5084064"/>
            <a:ext cx="10692079" cy="38404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5F5A7D"/>
                </a:solidFill>
                <a:latin typeface="Microsoft YaHei"/>
                <a:ea typeface="Microsoft YaHei"/>
              </a:rPr>
              <a:t>节奏纪律：讲10分钟必须动手一次；实操环节教师只答疑不代写——卡住先查《报错翻译对照表》，再举手。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41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331720"/>
            <a:ext cx="12191695" cy="1188720"/>
          </a:xfrm>
          <a:prstGeom prst="rect">
            <a:avLst/>
          </a:prstGeom>
          <a:solidFill>
            <a:srgbClr val="3D2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75488" y="822960"/>
            <a:ext cx="2377440" cy="146304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6400" b="1">
                <a:solidFill>
                  <a:srgbClr val="00A6A6"/>
                </a:solidFill>
                <a:latin typeface="Microsoft YaHei"/>
                <a:ea typeface="Microsoft YaHei"/>
              </a:rP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651760" y="2560320"/>
            <a:ext cx="8778240" cy="7315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FFFFFF"/>
                </a:solidFill>
                <a:latin typeface="Microsoft YaHei"/>
                <a:ea typeface="Microsoft YaHei"/>
              </a:rPr>
              <a:t>知识精讲 · 讲透每个概念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651760" y="1572768"/>
            <a:ext cx="8961120" cy="54864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 b="0">
                <a:solidFill>
                  <a:srgbClr val="C9D4E4"/>
                </a:solidFill>
                <a:latin typeface="Microsoft YaHei"/>
                <a:ea typeface="Microsoft YaHei"/>
              </a:rPr>
              <a:t>本章聚焦：锚框与NMS直观 · 输入尺寸影响 · FPS测量口径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651760" y="4059936"/>
            <a:ext cx="8778240" cy="402336"/>
          </a:xfrm>
          <a:prstGeom prst="roundRect">
            <a:avLst>
              <a:gd name="adj" fmla="val 16000"/>
            </a:avLst>
          </a:prstGeom>
          <a:solidFill>
            <a:srgbClr val="3141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788920" y="4059936"/>
            <a:ext cx="45720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A6A6"/>
                </a:solidFill>
                <a:latin typeface="Microsoft YaHei"/>
                <a:ea typeface="Microsoft YaHei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46120" y="4059936"/>
            <a:ext cx="310896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FFFFFF"/>
                </a:solidFill>
                <a:latin typeface="Microsoft YaHei"/>
                <a:ea typeface="Microsoft YaHei"/>
              </a:rPr>
              <a:t>检测=分类+定位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0" y="4059936"/>
            <a:ext cx="484632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AAB6D0"/>
                </a:solidFill>
                <a:latin typeface="Microsoft YaHei"/>
                <a:ea typeface="Microsoft YaHei"/>
              </a:rPr>
              <a:t>不只说'有缺陷'还要框出'在哪'——一次前向出全部框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651760" y="4553712"/>
            <a:ext cx="8778240" cy="402336"/>
          </a:xfrm>
          <a:prstGeom prst="roundRect">
            <a:avLst>
              <a:gd name="adj" fmla="val 16000"/>
            </a:avLst>
          </a:prstGeom>
          <a:solidFill>
            <a:srgbClr val="263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788920" y="4553712"/>
            <a:ext cx="45720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A6A6"/>
                </a:solidFill>
                <a:latin typeface="Microsoft YaHei"/>
                <a:ea typeface="Microsoft YaHei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46120" y="4553712"/>
            <a:ext cx="310896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FFFFFF"/>
                </a:solidFill>
                <a:latin typeface="Microsoft YaHei"/>
                <a:ea typeface="Microsoft YaHei"/>
              </a:rPr>
              <a:t>置信度阈值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0" y="4553712"/>
            <a:ext cx="484632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AAB6D0"/>
                </a:solidFill>
                <a:latin typeface="Microsoft YaHei"/>
                <a:ea typeface="Microsoft YaHei"/>
              </a:rPr>
              <a:t>低阈值召回高误检多、高阈值反之——业务定夺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651760" y="5047488"/>
            <a:ext cx="8778240" cy="402336"/>
          </a:xfrm>
          <a:prstGeom prst="roundRect">
            <a:avLst>
              <a:gd name="adj" fmla="val 16000"/>
            </a:avLst>
          </a:prstGeom>
          <a:solidFill>
            <a:srgbClr val="3141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788920" y="5047488"/>
            <a:ext cx="45720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A6A6"/>
                </a:solidFill>
                <a:latin typeface="Microsoft YaHei"/>
                <a:ea typeface="Microsoft YaHei"/>
              </a:rP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246120" y="5047488"/>
            <a:ext cx="310896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FFFFFF"/>
                </a:solidFill>
                <a:latin typeface="Microsoft YaHei"/>
                <a:ea typeface="Microsoft YaHei"/>
              </a:rPr>
              <a:t>输入尺寸权衡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0" y="5047488"/>
            <a:ext cx="484632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AAB6D0"/>
                </a:solidFill>
                <a:latin typeface="Microsoft YaHei"/>
                <a:ea typeface="Microsoft YaHei"/>
              </a:rPr>
              <a:t>640到320速度翻倍精度让步——像素即算力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2651760" y="5989320"/>
            <a:ext cx="8778240" cy="402336"/>
          </a:xfrm>
          <a:prstGeom prst="roundRect">
            <a:avLst>
              <a:gd name="adj" fmla="val 16000"/>
            </a:avLst>
          </a:prstGeom>
          <a:solidFill>
            <a:srgbClr val="3141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788920" y="5989320"/>
            <a:ext cx="850392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00A6A6"/>
                </a:solidFill>
                <a:latin typeface="Microsoft YaHei"/>
                <a:ea typeface="Microsoft YaHei"/>
              </a:rPr>
              <a:t>本章产出：四要素详解页×3 · 图解页×3 · 可跟打代码页×2 · 工单与分层工单各1份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75488" y="6473952"/>
            <a:ext cx="10515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8C99B5"/>
                </a:solidFill>
                <a:latin typeface="Microsoft YaHei"/>
                <a:ea typeface="Microsoft YaHei"/>
              </a:rPr>
              <a:t>AI应用基础（48课时版） · V1 · W16-15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"/>
          </a:xfrm>
          <a:prstGeom prst="rect">
            <a:avLst/>
          </a:prstGeom>
          <a:solidFill>
            <a:srgbClr val="3D2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18872"/>
            <a:ext cx="676656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3D2E8C"/>
                </a:solidFill>
                <a:latin typeface="Microsoft YaHei"/>
                <a:ea typeface="Microsoft YaHei"/>
              </a:rPr>
              <a:t>知识精讲 · 四要素</a:t>
            </a:r>
          </a:p>
        </p:txBody>
      </p:sp>
      <p:sp>
        <p:nvSpPr>
          <p:cNvPr id="4" name="Rectangle 3"/>
          <p:cNvSpPr/>
          <p:nvPr/>
        </p:nvSpPr>
        <p:spPr>
          <a:xfrm>
            <a:off x="475488" y="6473952"/>
            <a:ext cx="11240719" cy="9525"/>
          </a:xfrm>
          <a:prstGeom prst="rect">
            <a:avLst/>
          </a:prstGeom>
          <a:solidFill>
            <a:srgbClr val="EAE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75488" y="6455664"/>
            <a:ext cx="8229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5F5A7D"/>
                </a:solidFill>
                <a:latin typeface="Microsoft YaHei"/>
                <a:ea typeface="Microsoft YaHei"/>
              </a:rPr>
              <a:t>AI应用基础（48课时版） · V1 · W16-15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44607" y="6455664"/>
            <a:ext cx="1371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0">
                <a:solidFill>
                  <a:srgbClr val="5F5A7D"/>
                </a:solidFill>
                <a:latin typeface="Microsoft YaHei"/>
                <a:ea typeface="Microsoft YaHei"/>
              </a:rPr>
              <a:t>6 / 27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5488" y="274320"/>
            <a:ext cx="1404952" cy="253365"/>
          </a:xfrm>
          <a:prstGeom prst="roundRect">
            <a:avLst>
              <a:gd name="adj" fmla="val 50000"/>
            </a:avLst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5488" y="274320"/>
            <a:ext cx="1404952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KNOWLEDGE B01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5488" y="585216"/>
            <a:ext cx="11240719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231D3D"/>
                </a:solidFill>
                <a:latin typeface="Microsoft YaHei"/>
                <a:ea typeface="Microsoft YaHei"/>
              </a:rPr>
              <a:t>B01 检测=分类+定位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" y="1060704"/>
            <a:ext cx="11240719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5F5A7D"/>
                </a:solidFill>
                <a:latin typeface="Microsoft YaHei"/>
                <a:ea typeface="Microsoft YaHei"/>
              </a:rPr>
              <a:t>定义 → 场景 → 实例 → 误区：一次讲透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75488" y="1097280"/>
            <a:ext cx="1234440" cy="30480"/>
          </a:xfrm>
          <a:prstGeom prst="rect">
            <a:avLst/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75488" y="1371600"/>
            <a:ext cx="5510631" cy="23957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75488" y="1371600"/>
            <a:ext cx="64008" cy="2395728"/>
          </a:xfrm>
          <a:prstGeom prst="rect">
            <a:avLst/>
          </a:prstGeom>
          <a:solidFill>
            <a:srgbClr val="3D2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694944" y="1517904"/>
            <a:ext cx="1051560" cy="253365"/>
          </a:xfrm>
          <a:prstGeom prst="roundRect">
            <a:avLst>
              <a:gd name="adj" fmla="val 50000"/>
            </a:avLst>
          </a:prstGeom>
          <a:solidFill>
            <a:srgbClr val="3D2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94944" y="1517904"/>
            <a:ext cx="1051560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定义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3232" y="1938528"/>
            <a:ext cx="5035143" cy="166420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4000"/>
              </a:lnSpc>
            </a:pPr>
            <a:r>
              <a:rPr sz="1300" b="1">
                <a:solidFill>
                  <a:srgbClr val="231D3D"/>
                </a:solidFill>
                <a:latin typeface="Microsoft YaHei"/>
                <a:ea typeface="Microsoft YaHei"/>
              </a:rPr>
              <a:t>不只说'有缺陷'还要框出'在哪'——一次前向出全部框</a:t>
            </a:r>
          </a:p>
          <a:p>
            <a:pPr algn="l">
              <a:lnSpc>
                <a:spcPct val="124000"/>
              </a:lnSpc>
            </a:pPr>
            <a:r>
              <a:rPr sz="1100" b="0">
                <a:solidFill>
                  <a:srgbClr val="5F5A7D"/>
                </a:solidFill>
                <a:latin typeface="Microsoft YaHei"/>
                <a:ea typeface="Microsoft YaHei"/>
              </a:rPr>
              <a:t>教材版：  检测=分类+定位：YOLO一次前向出全部候选框——应用：见工单starter与教师参考实现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05575" y="1371600"/>
            <a:ext cx="5510631" cy="23957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205575" y="1371600"/>
            <a:ext cx="64008" cy="2395728"/>
          </a:xfrm>
          <a:prstGeom prst="rect">
            <a:avLst/>
          </a:prstGeom>
          <a:solidFill>
            <a:srgbClr val="3A4A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6425031" y="1517904"/>
            <a:ext cx="1051560" cy="253365"/>
          </a:xfrm>
          <a:prstGeom prst="roundRect">
            <a:avLst>
              <a:gd name="adj" fmla="val 50000"/>
            </a:avLst>
          </a:prstGeom>
          <a:solidFill>
            <a:srgbClr val="3A4A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25031" y="1517904"/>
            <a:ext cx="1051560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使用场景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43319" y="1938528"/>
            <a:ext cx="5035143" cy="166420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4000"/>
              </a:lnSpc>
            </a:pPr>
            <a:r>
              <a:rPr sz="1300" b="1">
                <a:solidFill>
                  <a:srgbClr val="231D3D"/>
                </a:solidFill>
                <a:latin typeface="Microsoft YaHei"/>
                <a:ea typeface="Microsoft YaHei"/>
              </a:rPr>
              <a:t>质检要定位缺陷位置指导返修</a:t>
            </a:r>
          </a:p>
          <a:p>
            <a:pPr algn="l">
              <a:lnSpc>
                <a:spcPct val="124000"/>
              </a:lnSpc>
            </a:pPr>
            <a:r>
              <a:rPr sz="1100" b="0">
                <a:solidFill>
                  <a:srgbClr val="5F5A7D"/>
                </a:solidFill>
                <a:latin typeface="Microsoft YaHei"/>
                <a:ea typeface="Microsoft YaHei"/>
              </a:rPr>
              <a:t>现场还原：产线节拍又升了。老周批了CPU算力：'实时检测，速度与精度你自己权衡。'工单M3-2：YOLO缺陷检测，阈值、输入尺寸与FPS的三方博弈。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75488" y="3931920"/>
            <a:ext cx="5510631" cy="23957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75488" y="3931920"/>
            <a:ext cx="64008" cy="2395728"/>
          </a:xfrm>
          <a:prstGeom prst="rect">
            <a:avLst/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694944" y="4078224"/>
            <a:ext cx="1051560" cy="253365"/>
          </a:xfrm>
          <a:prstGeom prst="roundRect">
            <a:avLst>
              <a:gd name="adj" fmla="val 50000"/>
            </a:avLst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94944" y="4078224"/>
            <a:ext cx="1051560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应用实例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3232" y="4498848"/>
            <a:ext cx="5035143" cy="166420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4000"/>
              </a:lnSpc>
            </a:pPr>
            <a:r>
              <a:rPr sz="1550" b="0">
                <a:solidFill>
                  <a:srgbClr val="231D3D"/>
                </a:solidFill>
                <a:latin typeface="Consolas"/>
                <a:ea typeface="Microsoft YaHei"/>
              </a:rPr>
              <a:t>yolo.predict(img) 返回boxes+scores+classes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205575" y="3931920"/>
            <a:ext cx="5510631" cy="23957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205575" y="3931920"/>
            <a:ext cx="64008" cy="2395728"/>
          </a:xfrm>
          <a:prstGeom prst="rect">
            <a:avLst/>
          </a:prstGeom>
          <a:solidFill>
            <a:srgbClr val="B977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6425031" y="4078224"/>
            <a:ext cx="1051560" cy="253365"/>
          </a:xfrm>
          <a:prstGeom prst="roundRect">
            <a:avLst>
              <a:gd name="adj" fmla="val 50000"/>
            </a:avLst>
          </a:prstGeom>
          <a:solidFill>
            <a:srgbClr val="B977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25031" y="4078224"/>
            <a:ext cx="1051560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扩展与误区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43319" y="4498848"/>
            <a:ext cx="5035143" cy="166420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4000"/>
              </a:lnSpc>
            </a:pPr>
            <a:r>
              <a:rPr sz="1300" b="1">
                <a:solidFill>
                  <a:srgbClr val="231D3D"/>
                </a:solidFill>
                <a:latin typeface="Microsoft YaHei"/>
                <a:ea typeface="Microsoft YaHei"/>
              </a:rPr>
              <a:t>分类只能答有/无——要位置就得检测</a:t>
            </a:r>
          </a:p>
          <a:p>
            <a:pPr algn="l">
              <a:lnSpc>
                <a:spcPct val="124000"/>
              </a:lnSpc>
            </a:pPr>
            <a:r>
              <a:rPr sz="1100" b="0">
                <a:solidFill>
                  <a:srgbClr val="5F5A7D"/>
                </a:solidFill>
                <a:latin typeface="Microsoft YaHei"/>
                <a:ea typeface="Microsoft YaHei"/>
              </a:rPr>
              <a:t>高频报错：  FPS波动大：首帧含warmup → 先跑3帧预热再计时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"/>
          </a:xfrm>
          <a:prstGeom prst="rect">
            <a:avLst/>
          </a:prstGeom>
          <a:solidFill>
            <a:srgbClr val="3D2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18872"/>
            <a:ext cx="676656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3D2E8C"/>
                </a:solidFill>
                <a:latin typeface="Microsoft YaHei"/>
                <a:ea typeface="Microsoft YaHei"/>
              </a:rPr>
              <a:t>知识精讲 · 图解</a:t>
            </a:r>
          </a:p>
        </p:txBody>
      </p:sp>
      <p:sp>
        <p:nvSpPr>
          <p:cNvPr id="4" name="Rectangle 3"/>
          <p:cNvSpPr/>
          <p:nvPr/>
        </p:nvSpPr>
        <p:spPr>
          <a:xfrm>
            <a:off x="475488" y="6473952"/>
            <a:ext cx="11240719" cy="9525"/>
          </a:xfrm>
          <a:prstGeom prst="rect">
            <a:avLst/>
          </a:prstGeom>
          <a:solidFill>
            <a:srgbClr val="EAE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75488" y="6455664"/>
            <a:ext cx="8229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5F5A7D"/>
                </a:solidFill>
                <a:latin typeface="Microsoft YaHei"/>
                <a:ea typeface="Microsoft YaHei"/>
              </a:rPr>
              <a:t>AI应用基础（48课时版） · V1 · W16-15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44607" y="6455664"/>
            <a:ext cx="1371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0">
                <a:solidFill>
                  <a:srgbClr val="5F5A7D"/>
                </a:solidFill>
                <a:latin typeface="Microsoft YaHei"/>
                <a:ea typeface="Microsoft YaHei"/>
              </a:rPr>
              <a:t>7 / 27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5488" y="274320"/>
            <a:ext cx="1260774" cy="253365"/>
          </a:xfrm>
          <a:prstGeom prst="roundRect">
            <a:avLst>
              <a:gd name="adj" fmla="val 50000"/>
            </a:avLst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5488" y="274320"/>
            <a:ext cx="1260774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VISUAL · B01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5488" y="585216"/>
            <a:ext cx="11240719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231D3D"/>
                </a:solidFill>
                <a:latin typeface="Microsoft YaHei"/>
                <a:ea typeface="Microsoft YaHei"/>
              </a:rPr>
              <a:t>检测=分类+定位：一张图看懂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" y="1060704"/>
            <a:ext cx="11240719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5F5A7D"/>
                </a:solidFill>
                <a:latin typeface="Microsoft YaHei"/>
                <a:ea typeface="Microsoft YaHei"/>
              </a:rPr>
              <a:t>图优先：先看图再回头读代码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75488" y="1097280"/>
            <a:ext cx="1234440" cy="30480"/>
          </a:xfrm>
          <a:prstGeom prst="rect">
            <a:avLst/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580092" y="1362456"/>
            <a:ext cx="7014551" cy="3758184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12700">
            <a:solidFill>
              <a:srgbClr val="D5DB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fe46ddf9b138f66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7524" y="1389888"/>
            <a:ext cx="6959687" cy="370332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927848" y="1463040"/>
            <a:ext cx="3788359" cy="41148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3D2E8C"/>
                </a:solidFill>
                <a:latin typeface="Microsoft YaHei"/>
                <a:ea typeface="Microsoft YaHei"/>
              </a:rPr>
              <a:t>四个观察点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927848" y="1920240"/>
            <a:ext cx="3788359" cy="733806"/>
          </a:xfrm>
          <a:prstGeom prst="roundRect">
            <a:avLst>
              <a:gd name="adj" fmla="val 5500"/>
            </a:avLst>
          </a:prstGeom>
          <a:solidFill>
            <a:srgbClr val="EAE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8074152" y="2029968"/>
            <a:ext cx="310896" cy="241300"/>
          </a:xfrm>
          <a:prstGeom prst="roundRect">
            <a:avLst>
              <a:gd name="adj" fmla="val 50000"/>
            </a:avLst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74152" y="2029968"/>
            <a:ext cx="310896" cy="2413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Microsoft YaHei"/>
                <a:ea typeface="Microsoft YaHei"/>
              </a:rPr>
              <a:t>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58200" y="2011680"/>
            <a:ext cx="3056839" cy="587502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6000"/>
              </a:lnSpc>
            </a:pPr>
            <a:r>
              <a:rPr sz="1200" b="0">
                <a:solidFill>
                  <a:srgbClr val="231D3D"/>
                </a:solidFill>
                <a:latin typeface="Microsoft YaHei"/>
                <a:ea typeface="Microsoft YaHei"/>
              </a:rPr>
              <a:t>一张图纸可造多台设备（实例化）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927848" y="2736342"/>
            <a:ext cx="3788359" cy="733806"/>
          </a:xfrm>
          <a:prstGeom prst="roundRect">
            <a:avLst>
              <a:gd name="adj" fmla="val 5500"/>
            </a:avLst>
          </a:prstGeom>
          <a:solidFill>
            <a:srgbClr val="EAE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8074152" y="2846070"/>
            <a:ext cx="310896" cy="241300"/>
          </a:xfrm>
          <a:prstGeom prst="roundRect">
            <a:avLst>
              <a:gd name="adj" fmla="val 50000"/>
            </a:avLst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074152" y="2846070"/>
            <a:ext cx="310896" cy="2413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Microsoft YaHei"/>
                <a:ea typeface="Microsoft YaHei"/>
              </a:rPr>
              <a:t>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458200" y="2827782"/>
            <a:ext cx="3056839" cy="587502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6000"/>
              </a:lnSpc>
            </a:pPr>
            <a:r>
              <a:rPr sz="1200" b="0">
                <a:solidFill>
                  <a:srgbClr val="231D3D"/>
                </a:solidFill>
                <a:latin typeface="Microsoft YaHei"/>
                <a:ea typeface="Microsoft YaHei"/>
              </a:rPr>
              <a:t>属性=铭牌；方法=操作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927848" y="3552444"/>
            <a:ext cx="3788359" cy="733806"/>
          </a:xfrm>
          <a:prstGeom prst="roundRect">
            <a:avLst>
              <a:gd name="adj" fmla="val 5500"/>
            </a:avLst>
          </a:prstGeom>
          <a:solidFill>
            <a:srgbClr val="EAE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8074152" y="3662172"/>
            <a:ext cx="310896" cy="241300"/>
          </a:xfrm>
          <a:prstGeom prst="roundRect">
            <a:avLst>
              <a:gd name="adj" fmla="val 50000"/>
            </a:avLst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074152" y="3662172"/>
            <a:ext cx="310896" cy="2413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Microsoft YaHei"/>
                <a:ea typeface="Microsoft YaHei"/>
              </a:rPr>
              <a:t>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458200" y="3643884"/>
            <a:ext cx="3056839" cy="587502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6000"/>
              </a:lnSpc>
            </a:pPr>
            <a:r>
              <a:rPr sz="1200" b="0">
                <a:solidFill>
                  <a:srgbClr val="231D3D"/>
                </a:solidFill>
                <a:latin typeface="Microsoft YaHei"/>
                <a:ea typeface="Microsoft YaHei"/>
              </a:rPr>
              <a:t>追问：分类只能答有/无——要位置就得检测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75488" y="5230368"/>
            <a:ext cx="7223760" cy="89611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76656" y="5330952"/>
            <a:ext cx="6858000" cy="7315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2000"/>
              </a:lnSpc>
            </a:pPr>
            <a:r>
              <a:rPr sz="1200" b="1">
                <a:solidFill>
                  <a:srgbClr val="231D3D"/>
                </a:solidFill>
                <a:latin typeface="Microsoft YaHei"/>
                <a:ea typeface="Microsoft YaHei"/>
              </a:rPr>
              <a:t>一句话：不只说'有缺陷'还要框出'在哪'——一次前向出全部框</a:t>
            </a:r>
            <a:r>
              <a:rPr sz="1100" b="0">
                <a:solidFill>
                  <a:srgbClr val="5F5A7D"/>
                </a:solidFill>
                <a:latin typeface="Microsoft YaHei"/>
                <a:ea typeface="Microsoft YaHei"/>
              </a:rPr>
              <a:t>
何时用：质检要定位缺陷位置指导返修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"/>
          </a:xfrm>
          <a:prstGeom prst="rect">
            <a:avLst/>
          </a:prstGeom>
          <a:solidFill>
            <a:srgbClr val="3D2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18872"/>
            <a:ext cx="676656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3D2E8C"/>
                </a:solidFill>
                <a:latin typeface="Microsoft YaHei"/>
                <a:ea typeface="Microsoft YaHei"/>
              </a:rPr>
              <a:t>知识精讲 · 四要素</a:t>
            </a:r>
          </a:p>
        </p:txBody>
      </p:sp>
      <p:sp>
        <p:nvSpPr>
          <p:cNvPr id="4" name="Rectangle 3"/>
          <p:cNvSpPr/>
          <p:nvPr/>
        </p:nvSpPr>
        <p:spPr>
          <a:xfrm>
            <a:off x="475488" y="6473952"/>
            <a:ext cx="11240719" cy="9525"/>
          </a:xfrm>
          <a:prstGeom prst="rect">
            <a:avLst/>
          </a:prstGeom>
          <a:solidFill>
            <a:srgbClr val="EAE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75488" y="6455664"/>
            <a:ext cx="8229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5F5A7D"/>
                </a:solidFill>
                <a:latin typeface="Microsoft YaHei"/>
                <a:ea typeface="Microsoft YaHei"/>
              </a:rPr>
              <a:t>AI应用基础（48课时版） · V1 · W16-15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44607" y="6455664"/>
            <a:ext cx="1371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0">
                <a:solidFill>
                  <a:srgbClr val="5F5A7D"/>
                </a:solidFill>
                <a:latin typeface="Microsoft YaHei"/>
                <a:ea typeface="Microsoft YaHei"/>
              </a:rPr>
              <a:t>8 / 27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5488" y="274320"/>
            <a:ext cx="1404952" cy="253365"/>
          </a:xfrm>
          <a:prstGeom prst="roundRect">
            <a:avLst>
              <a:gd name="adj" fmla="val 50000"/>
            </a:avLst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5488" y="274320"/>
            <a:ext cx="1404952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KNOWLEDGE B02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5488" y="585216"/>
            <a:ext cx="11240719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231D3D"/>
                </a:solidFill>
                <a:latin typeface="Microsoft YaHei"/>
                <a:ea typeface="Microsoft YaHei"/>
              </a:rPr>
              <a:t>B02 置信度阈值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" y="1060704"/>
            <a:ext cx="11240719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5F5A7D"/>
                </a:solidFill>
                <a:latin typeface="Microsoft YaHei"/>
                <a:ea typeface="Microsoft YaHei"/>
              </a:rPr>
              <a:t>定义 → 场景 → 实例 → 误区：一次讲透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75488" y="1097280"/>
            <a:ext cx="1234440" cy="30480"/>
          </a:xfrm>
          <a:prstGeom prst="rect">
            <a:avLst/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75488" y="1371600"/>
            <a:ext cx="5510631" cy="23957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75488" y="1371600"/>
            <a:ext cx="64008" cy="2395728"/>
          </a:xfrm>
          <a:prstGeom prst="rect">
            <a:avLst/>
          </a:prstGeom>
          <a:solidFill>
            <a:srgbClr val="3D2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694944" y="1517904"/>
            <a:ext cx="1051560" cy="253365"/>
          </a:xfrm>
          <a:prstGeom prst="roundRect">
            <a:avLst>
              <a:gd name="adj" fmla="val 50000"/>
            </a:avLst>
          </a:prstGeom>
          <a:solidFill>
            <a:srgbClr val="3D2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94944" y="1517904"/>
            <a:ext cx="1051560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定义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3232" y="1938528"/>
            <a:ext cx="5035143" cy="166420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4000"/>
              </a:lnSpc>
            </a:pPr>
            <a:r>
              <a:rPr sz="1300" b="1">
                <a:solidFill>
                  <a:srgbClr val="231D3D"/>
                </a:solidFill>
                <a:latin typeface="Microsoft YaHei"/>
                <a:ea typeface="Microsoft YaHei"/>
              </a:rPr>
              <a:t>低阈值召回高误检多、高阈值反之——业务定夺</a:t>
            </a:r>
          </a:p>
          <a:p>
            <a:pPr algn="l">
              <a:lnSpc>
                <a:spcPct val="124000"/>
              </a:lnSpc>
            </a:pPr>
            <a:r>
              <a:rPr sz="1100" b="0">
                <a:solidFill>
                  <a:srgbClr val="5F5A7D"/>
                </a:solidFill>
                <a:latin typeface="Microsoft YaHei"/>
                <a:ea typeface="Microsoft YaHei"/>
              </a:rPr>
              <a:t>教材版：  置信度阈值：低阈值召回高但误检多，业务定夺——应用：见工单starter与教师参考实现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05575" y="1371600"/>
            <a:ext cx="5510631" cy="23957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205575" y="1371600"/>
            <a:ext cx="64008" cy="2395728"/>
          </a:xfrm>
          <a:prstGeom prst="rect">
            <a:avLst/>
          </a:prstGeom>
          <a:solidFill>
            <a:srgbClr val="3A4A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6425031" y="1517904"/>
            <a:ext cx="1051560" cy="253365"/>
          </a:xfrm>
          <a:prstGeom prst="roundRect">
            <a:avLst>
              <a:gd name="adj" fmla="val 50000"/>
            </a:avLst>
          </a:prstGeom>
          <a:solidFill>
            <a:srgbClr val="3A4A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25031" y="1517904"/>
            <a:ext cx="1051560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使用场景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43319" y="1938528"/>
            <a:ext cx="5035143" cy="166420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4000"/>
              </a:lnSpc>
            </a:pPr>
            <a:r>
              <a:rPr sz="1300" b="1">
                <a:solidFill>
                  <a:srgbClr val="231D3D"/>
                </a:solidFill>
                <a:latin typeface="Microsoft YaHei"/>
                <a:ea typeface="Microsoft YaHei"/>
              </a:rPr>
              <a:t>漏检代价高的场景阈值调低宁可多报</a:t>
            </a:r>
          </a:p>
          <a:p>
            <a:pPr algn="l">
              <a:lnSpc>
                <a:spcPct val="124000"/>
              </a:lnSpc>
            </a:pPr>
            <a:r>
              <a:rPr sz="1100" b="0">
                <a:solidFill>
                  <a:srgbClr val="5F5A7D"/>
                </a:solidFill>
                <a:latin typeface="Microsoft YaHei"/>
                <a:ea typeface="Microsoft YaHei"/>
              </a:rPr>
              <a:t>现场还原：产线节拍又升了。老周批了CPU算力：'实时检测，速度与精度你自己权衡。'工单M3-2：YOLO缺陷检测，阈值、输入尺寸与FPS的三方博弈。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75488" y="3931920"/>
            <a:ext cx="5510631" cy="23957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75488" y="3931920"/>
            <a:ext cx="64008" cy="2395728"/>
          </a:xfrm>
          <a:prstGeom prst="rect">
            <a:avLst/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694944" y="4078224"/>
            <a:ext cx="1051560" cy="253365"/>
          </a:xfrm>
          <a:prstGeom prst="roundRect">
            <a:avLst>
              <a:gd name="adj" fmla="val 50000"/>
            </a:avLst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94944" y="4078224"/>
            <a:ext cx="1051560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应用实例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3232" y="4498848"/>
            <a:ext cx="5035143" cy="166420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4000"/>
              </a:lnSpc>
            </a:pPr>
            <a:r>
              <a:rPr sz="1550" b="0">
                <a:solidFill>
                  <a:srgbClr val="231D3D"/>
                </a:solidFill>
                <a:latin typeface="Consolas"/>
                <a:ea typeface="Microsoft YaHei"/>
              </a:rPr>
              <a:t>conf=0.25 起步，按混淆矩阵调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205575" y="3931920"/>
            <a:ext cx="5510631" cy="23957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205575" y="3931920"/>
            <a:ext cx="64008" cy="2395728"/>
          </a:xfrm>
          <a:prstGeom prst="rect">
            <a:avLst/>
          </a:prstGeom>
          <a:solidFill>
            <a:srgbClr val="B977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6425031" y="4078224"/>
            <a:ext cx="1051560" cy="253365"/>
          </a:xfrm>
          <a:prstGeom prst="roundRect">
            <a:avLst>
              <a:gd name="adj" fmla="val 50000"/>
            </a:avLst>
          </a:prstGeom>
          <a:solidFill>
            <a:srgbClr val="B977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25031" y="4078224"/>
            <a:ext cx="1051560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扩展与误区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43319" y="4498848"/>
            <a:ext cx="5035143" cy="166420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4000"/>
              </a:lnSpc>
            </a:pPr>
            <a:r>
              <a:rPr sz="1300" b="1">
                <a:solidFill>
                  <a:srgbClr val="231D3D"/>
                </a:solidFill>
                <a:latin typeface="Microsoft YaHei"/>
                <a:ea typeface="Microsoft YaHei"/>
              </a:rPr>
              <a:t>阈值不是拍的——用PR曲线按业务代价选</a:t>
            </a:r>
          </a:p>
          <a:p>
            <a:pPr algn="l">
              <a:lnSpc>
                <a:spcPct val="124000"/>
              </a:lnSpc>
            </a:pPr>
            <a:r>
              <a:rPr sz="1100" b="0">
                <a:solidFill>
                  <a:srgbClr val="5F5A7D"/>
                </a:solidFill>
                <a:latin typeface="Microsoft YaHei"/>
                <a:ea typeface="Microsoft YaHei"/>
              </a:rPr>
              <a:t>高频报错：  框全叠一起：未做NMS → 按类做非极大值抑制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"/>
          </a:xfrm>
          <a:prstGeom prst="rect">
            <a:avLst/>
          </a:prstGeom>
          <a:solidFill>
            <a:srgbClr val="3D2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18872"/>
            <a:ext cx="676656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3D2E8C"/>
                </a:solidFill>
                <a:latin typeface="Microsoft YaHei"/>
                <a:ea typeface="Microsoft YaHei"/>
              </a:rPr>
              <a:t>知识精讲 · 图解</a:t>
            </a:r>
          </a:p>
        </p:txBody>
      </p:sp>
      <p:sp>
        <p:nvSpPr>
          <p:cNvPr id="4" name="Rectangle 3"/>
          <p:cNvSpPr/>
          <p:nvPr/>
        </p:nvSpPr>
        <p:spPr>
          <a:xfrm>
            <a:off x="475488" y="6473952"/>
            <a:ext cx="11240719" cy="9525"/>
          </a:xfrm>
          <a:prstGeom prst="rect">
            <a:avLst/>
          </a:prstGeom>
          <a:solidFill>
            <a:srgbClr val="EAE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75488" y="6455664"/>
            <a:ext cx="8229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5F5A7D"/>
                </a:solidFill>
                <a:latin typeface="Microsoft YaHei"/>
                <a:ea typeface="Microsoft YaHei"/>
              </a:rPr>
              <a:t>AI应用基础（48课时版） · V1 · W16-15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44607" y="6455664"/>
            <a:ext cx="1371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0">
                <a:solidFill>
                  <a:srgbClr val="5F5A7D"/>
                </a:solidFill>
                <a:latin typeface="Microsoft YaHei"/>
                <a:ea typeface="Microsoft YaHei"/>
              </a:rPr>
              <a:t>9 / 27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5488" y="274320"/>
            <a:ext cx="1260774" cy="253365"/>
          </a:xfrm>
          <a:prstGeom prst="roundRect">
            <a:avLst>
              <a:gd name="adj" fmla="val 50000"/>
            </a:avLst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5488" y="274320"/>
            <a:ext cx="1260774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VISUAL · B02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5488" y="585216"/>
            <a:ext cx="11240719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231D3D"/>
                </a:solidFill>
                <a:latin typeface="Microsoft YaHei"/>
                <a:ea typeface="Microsoft YaHei"/>
              </a:rPr>
              <a:t>置信度阈值：一张图看懂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" y="1060704"/>
            <a:ext cx="11240719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5F5A7D"/>
                </a:solidFill>
                <a:latin typeface="Microsoft YaHei"/>
                <a:ea typeface="Microsoft YaHei"/>
              </a:rPr>
              <a:t>图优先：先看图再回头读代码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75488" y="1097280"/>
            <a:ext cx="1234440" cy="30480"/>
          </a:xfrm>
          <a:prstGeom prst="rect">
            <a:avLst/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92968" y="1362456"/>
            <a:ext cx="7188800" cy="3758184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12700">
            <a:solidFill>
              <a:srgbClr val="D5DB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c3d8b5a4daea637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0400" y="1389888"/>
            <a:ext cx="7133936" cy="370332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927848" y="1463040"/>
            <a:ext cx="3788359" cy="41148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3D2E8C"/>
                </a:solidFill>
                <a:latin typeface="Microsoft YaHei"/>
                <a:ea typeface="Microsoft YaHei"/>
              </a:rPr>
              <a:t>四个观察点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927848" y="1920240"/>
            <a:ext cx="3788359" cy="733806"/>
          </a:xfrm>
          <a:prstGeom prst="roundRect">
            <a:avLst>
              <a:gd name="adj" fmla="val 5500"/>
            </a:avLst>
          </a:prstGeom>
          <a:solidFill>
            <a:srgbClr val="EAE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8074152" y="2029968"/>
            <a:ext cx="310896" cy="241300"/>
          </a:xfrm>
          <a:prstGeom prst="roundRect">
            <a:avLst>
              <a:gd name="adj" fmla="val 50000"/>
            </a:avLst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74152" y="2029968"/>
            <a:ext cx="310896" cy="2413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Microsoft YaHei"/>
                <a:ea typeface="Microsoft YaHei"/>
              </a:rPr>
              <a:t>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58200" y="2011680"/>
            <a:ext cx="3056839" cy="587502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6000"/>
              </a:lnSpc>
            </a:pPr>
            <a:r>
              <a:rPr sz="1200" b="0">
                <a:solidFill>
                  <a:srgbClr val="231D3D"/>
                </a:solidFill>
                <a:latin typeface="Microsoft YaHei"/>
                <a:ea typeface="Microsoft YaHei"/>
              </a:rPr>
              <a:t>elif 顺序就是优先级：先判危险再判警告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927848" y="2736342"/>
            <a:ext cx="3788359" cy="733806"/>
          </a:xfrm>
          <a:prstGeom prst="roundRect">
            <a:avLst>
              <a:gd name="adj" fmla="val 5500"/>
            </a:avLst>
          </a:prstGeom>
          <a:solidFill>
            <a:srgbClr val="EAE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8074152" y="2846070"/>
            <a:ext cx="310896" cy="241300"/>
          </a:xfrm>
          <a:prstGeom prst="roundRect">
            <a:avLst>
              <a:gd name="adj" fmla="val 50000"/>
            </a:avLst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074152" y="2846070"/>
            <a:ext cx="310896" cy="2413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Microsoft YaHei"/>
                <a:ea typeface="Microsoft YaHei"/>
              </a:rPr>
              <a:t>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458200" y="2827782"/>
            <a:ext cx="3056839" cy="587502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6000"/>
              </a:lnSpc>
            </a:pPr>
            <a:r>
              <a:rPr sz="1200" b="0">
                <a:solidFill>
                  <a:srgbClr val="231D3D"/>
                </a:solidFill>
                <a:latin typeface="Microsoft YaHei"/>
                <a:ea typeface="Microsoft YaHei"/>
              </a:rPr>
              <a:t>边界值 79.9/80/80.1 三测法必做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927848" y="3552444"/>
            <a:ext cx="3788359" cy="733806"/>
          </a:xfrm>
          <a:prstGeom prst="roundRect">
            <a:avLst>
              <a:gd name="adj" fmla="val 5500"/>
            </a:avLst>
          </a:prstGeom>
          <a:solidFill>
            <a:srgbClr val="EAE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8074152" y="3662172"/>
            <a:ext cx="310896" cy="241300"/>
          </a:xfrm>
          <a:prstGeom prst="roundRect">
            <a:avLst>
              <a:gd name="adj" fmla="val 50000"/>
            </a:avLst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074152" y="3662172"/>
            <a:ext cx="310896" cy="2413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Microsoft YaHei"/>
                <a:ea typeface="Microsoft YaHei"/>
              </a:rPr>
              <a:t>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458200" y="3643884"/>
            <a:ext cx="3056839" cy="587502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6000"/>
              </a:lnSpc>
            </a:pPr>
            <a:r>
              <a:rPr sz="1200" b="0">
                <a:solidFill>
                  <a:srgbClr val="231D3D"/>
                </a:solidFill>
                <a:latin typeface="Microsoft YaHei"/>
                <a:ea typeface="Microsoft YaHei"/>
              </a:rPr>
              <a:t>追问：阈值不是拍的——用PR曲线按业务代价选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75488" y="5230368"/>
            <a:ext cx="7223760" cy="89611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76656" y="5330952"/>
            <a:ext cx="6858000" cy="7315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2000"/>
              </a:lnSpc>
            </a:pPr>
            <a:r>
              <a:rPr sz="1200" b="1">
                <a:solidFill>
                  <a:srgbClr val="231D3D"/>
                </a:solidFill>
                <a:latin typeface="Microsoft YaHei"/>
                <a:ea typeface="Microsoft YaHei"/>
              </a:rPr>
              <a:t>一句话：低阈值召回高误检多、高阈值反之——业务定夺</a:t>
            </a:r>
            <a:r>
              <a:rPr sz="1100" b="0">
                <a:solidFill>
                  <a:srgbClr val="5F5A7D"/>
                </a:solidFill>
                <a:latin typeface="Microsoft YaHei"/>
                <a:ea typeface="Microsoft YaHei"/>
              </a:rPr>
              <a:t>
何时用：漏检代价高的场景阈值调低宁可多报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"/>
          </a:xfrm>
          <a:prstGeom prst="rect">
            <a:avLst/>
          </a:prstGeom>
          <a:solidFill>
            <a:srgbClr val="3D2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18872"/>
            <a:ext cx="676656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3D2E8C"/>
                </a:solidFill>
                <a:latin typeface="Microsoft YaHei"/>
                <a:ea typeface="Microsoft YaHei"/>
              </a:rPr>
              <a:t>知识精讲 · 四要素</a:t>
            </a:r>
          </a:p>
        </p:txBody>
      </p:sp>
      <p:sp>
        <p:nvSpPr>
          <p:cNvPr id="4" name="Rectangle 3"/>
          <p:cNvSpPr/>
          <p:nvPr/>
        </p:nvSpPr>
        <p:spPr>
          <a:xfrm>
            <a:off x="475488" y="6473952"/>
            <a:ext cx="11240719" cy="9525"/>
          </a:xfrm>
          <a:prstGeom prst="rect">
            <a:avLst/>
          </a:prstGeom>
          <a:solidFill>
            <a:srgbClr val="EAE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75488" y="6455664"/>
            <a:ext cx="8229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5F5A7D"/>
                </a:solidFill>
                <a:latin typeface="Microsoft YaHei"/>
                <a:ea typeface="Microsoft YaHei"/>
              </a:rPr>
              <a:t>AI应用基础（48课时版） · V1 · W16-15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44607" y="6455664"/>
            <a:ext cx="1371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0">
                <a:solidFill>
                  <a:srgbClr val="5F5A7D"/>
                </a:solidFill>
                <a:latin typeface="Microsoft YaHei"/>
                <a:ea typeface="Microsoft YaHei"/>
              </a:rPr>
              <a:t>10 / 27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5488" y="274320"/>
            <a:ext cx="1404952" cy="253365"/>
          </a:xfrm>
          <a:prstGeom prst="roundRect">
            <a:avLst>
              <a:gd name="adj" fmla="val 50000"/>
            </a:avLst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5488" y="274320"/>
            <a:ext cx="1404952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KNOWLEDGE B03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5488" y="585216"/>
            <a:ext cx="11240719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231D3D"/>
                </a:solidFill>
                <a:latin typeface="Microsoft YaHei"/>
                <a:ea typeface="Microsoft YaHei"/>
              </a:rPr>
              <a:t>B03 输入尺寸权衡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" y="1060704"/>
            <a:ext cx="11240719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5F5A7D"/>
                </a:solidFill>
                <a:latin typeface="Microsoft YaHei"/>
                <a:ea typeface="Microsoft YaHei"/>
              </a:rPr>
              <a:t>定义 → 场景 → 实例 → 误区：一次讲透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75488" y="1097280"/>
            <a:ext cx="1234440" cy="30480"/>
          </a:xfrm>
          <a:prstGeom prst="rect">
            <a:avLst/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75488" y="1371600"/>
            <a:ext cx="5510631" cy="23957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75488" y="1371600"/>
            <a:ext cx="64008" cy="2395728"/>
          </a:xfrm>
          <a:prstGeom prst="rect">
            <a:avLst/>
          </a:prstGeom>
          <a:solidFill>
            <a:srgbClr val="3D2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694944" y="1517904"/>
            <a:ext cx="1051560" cy="253365"/>
          </a:xfrm>
          <a:prstGeom prst="roundRect">
            <a:avLst>
              <a:gd name="adj" fmla="val 50000"/>
            </a:avLst>
          </a:prstGeom>
          <a:solidFill>
            <a:srgbClr val="3D2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94944" y="1517904"/>
            <a:ext cx="1051560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定义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3232" y="1938528"/>
            <a:ext cx="5035143" cy="166420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4000"/>
              </a:lnSpc>
            </a:pPr>
            <a:r>
              <a:rPr sz="1300" b="1">
                <a:solidFill>
                  <a:srgbClr val="231D3D"/>
                </a:solidFill>
                <a:latin typeface="Microsoft YaHei"/>
                <a:ea typeface="Microsoft YaHei"/>
              </a:rPr>
              <a:t>640到320速度翻倍精度让步——像素即算力</a:t>
            </a:r>
          </a:p>
          <a:p>
            <a:pPr algn="l">
              <a:lnSpc>
                <a:spcPct val="124000"/>
              </a:lnSpc>
            </a:pPr>
            <a:r>
              <a:rPr sz="1100" b="0">
                <a:solidFill>
                  <a:srgbClr val="5F5A7D"/>
                </a:solidFill>
                <a:latin typeface="Microsoft YaHei"/>
                <a:ea typeface="Microsoft YaHei"/>
              </a:rPr>
              <a:t>教材版：  输入尺寸：640到320，速度翻倍精度让步——应用：见工单starter与教师参考实现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05575" y="1371600"/>
            <a:ext cx="5510631" cy="23957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205575" y="1371600"/>
            <a:ext cx="64008" cy="2395728"/>
          </a:xfrm>
          <a:prstGeom prst="rect">
            <a:avLst/>
          </a:prstGeom>
          <a:solidFill>
            <a:srgbClr val="3A4A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6425031" y="1517904"/>
            <a:ext cx="1051560" cy="253365"/>
          </a:xfrm>
          <a:prstGeom prst="roundRect">
            <a:avLst>
              <a:gd name="adj" fmla="val 50000"/>
            </a:avLst>
          </a:prstGeom>
          <a:solidFill>
            <a:srgbClr val="3A4A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25031" y="1517904"/>
            <a:ext cx="1051560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使用场景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43319" y="1938528"/>
            <a:ext cx="5035143" cy="166420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4000"/>
              </a:lnSpc>
            </a:pPr>
            <a:r>
              <a:rPr sz="1300" b="1">
                <a:solidFill>
                  <a:srgbClr val="231D3D"/>
                </a:solidFill>
                <a:latin typeface="Microsoft YaHei"/>
                <a:ea typeface="Microsoft YaHei"/>
              </a:rPr>
              <a:t>边缘盒子算力有限时的第一调节旋钮</a:t>
            </a:r>
          </a:p>
          <a:p>
            <a:pPr algn="l">
              <a:lnSpc>
                <a:spcPct val="124000"/>
              </a:lnSpc>
            </a:pPr>
            <a:r>
              <a:rPr sz="1100" b="0">
                <a:solidFill>
                  <a:srgbClr val="5F5A7D"/>
                </a:solidFill>
                <a:latin typeface="Microsoft YaHei"/>
                <a:ea typeface="Microsoft YaHei"/>
              </a:rPr>
              <a:t>现场还原：产线节拍又升了。老周批了CPU算力：'实时检测，速度与精度你自己权衡。'工单M3-2：YOLO缺陷检测，阈值、输入尺寸与FPS的三方博弈。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75488" y="3931920"/>
            <a:ext cx="5510631" cy="23957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75488" y="3931920"/>
            <a:ext cx="64008" cy="2395728"/>
          </a:xfrm>
          <a:prstGeom prst="rect">
            <a:avLst/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694944" y="4078224"/>
            <a:ext cx="1051560" cy="253365"/>
          </a:xfrm>
          <a:prstGeom prst="roundRect">
            <a:avLst>
              <a:gd name="adj" fmla="val 50000"/>
            </a:avLst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94944" y="4078224"/>
            <a:ext cx="1051560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应用实例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3232" y="4498848"/>
            <a:ext cx="5035143" cy="166420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4000"/>
              </a:lnSpc>
            </a:pPr>
            <a:r>
              <a:rPr sz="1550" b="0">
                <a:solidFill>
                  <a:srgbClr val="231D3D"/>
                </a:solidFill>
                <a:latin typeface="Consolas"/>
                <a:ea typeface="Microsoft YaHei"/>
              </a:rPr>
              <a:t>imgsz=320 推理时间约减半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205575" y="3931920"/>
            <a:ext cx="5510631" cy="23957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205575" y="3931920"/>
            <a:ext cx="64008" cy="2395728"/>
          </a:xfrm>
          <a:prstGeom prst="rect">
            <a:avLst/>
          </a:prstGeom>
          <a:solidFill>
            <a:srgbClr val="B977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6425031" y="4078224"/>
            <a:ext cx="1051560" cy="253365"/>
          </a:xfrm>
          <a:prstGeom prst="roundRect">
            <a:avLst>
              <a:gd name="adj" fmla="val 50000"/>
            </a:avLst>
          </a:prstGeom>
          <a:solidFill>
            <a:srgbClr val="B977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25031" y="4078224"/>
            <a:ext cx="1051560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扩展与误区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43319" y="4498848"/>
            <a:ext cx="5035143" cy="166420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4000"/>
              </a:lnSpc>
            </a:pPr>
            <a:r>
              <a:rPr sz="1300" b="1">
                <a:solidFill>
                  <a:srgbClr val="231D3D"/>
                </a:solidFill>
                <a:latin typeface="Microsoft YaHei"/>
                <a:ea typeface="Microsoft YaHei"/>
              </a:rPr>
              <a:t>小目标缩图会看不见——先看缺陷最小尺寸</a:t>
            </a:r>
          </a:p>
          <a:p>
            <a:pPr algn="l">
              <a:lnSpc>
                <a:spcPct val="124000"/>
              </a:lnSpc>
            </a:pPr>
            <a:r>
              <a:rPr sz="1100" b="0">
                <a:solidFill>
                  <a:srgbClr val="5F5A7D"/>
                </a:solidFill>
                <a:latin typeface="Microsoft YaHei"/>
                <a:ea typeface="Microsoft YaHei"/>
              </a:rPr>
              <a:t>高频报错：  mAP对不上：测试集口径不同 → 统一测试集与IoU0.5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"/>
          </a:xfrm>
          <a:prstGeom prst="rect">
            <a:avLst/>
          </a:prstGeom>
          <a:solidFill>
            <a:srgbClr val="3D2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18872"/>
            <a:ext cx="676656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3D2E8C"/>
                </a:solidFill>
                <a:latin typeface="Microsoft YaHei"/>
                <a:ea typeface="Microsoft YaHei"/>
              </a:rPr>
              <a:t>知识精讲 · 图解</a:t>
            </a:r>
          </a:p>
        </p:txBody>
      </p:sp>
      <p:sp>
        <p:nvSpPr>
          <p:cNvPr id="4" name="Rectangle 3"/>
          <p:cNvSpPr/>
          <p:nvPr/>
        </p:nvSpPr>
        <p:spPr>
          <a:xfrm>
            <a:off x="475488" y="6473952"/>
            <a:ext cx="11240719" cy="9525"/>
          </a:xfrm>
          <a:prstGeom prst="rect">
            <a:avLst/>
          </a:prstGeom>
          <a:solidFill>
            <a:srgbClr val="EAE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75488" y="6455664"/>
            <a:ext cx="8229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5F5A7D"/>
                </a:solidFill>
                <a:latin typeface="Microsoft YaHei"/>
                <a:ea typeface="Microsoft YaHei"/>
              </a:rPr>
              <a:t>AI应用基础（48课时版） · V1 · W16-15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44607" y="6455664"/>
            <a:ext cx="1371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0">
                <a:solidFill>
                  <a:srgbClr val="5F5A7D"/>
                </a:solidFill>
                <a:latin typeface="Microsoft YaHei"/>
                <a:ea typeface="Microsoft YaHei"/>
              </a:rPr>
              <a:t>11 / 27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5488" y="274320"/>
            <a:ext cx="1260774" cy="253365"/>
          </a:xfrm>
          <a:prstGeom prst="roundRect">
            <a:avLst>
              <a:gd name="adj" fmla="val 50000"/>
            </a:avLst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5488" y="274320"/>
            <a:ext cx="1260774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VISUAL · B03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5488" y="585216"/>
            <a:ext cx="11240719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231D3D"/>
                </a:solidFill>
                <a:latin typeface="Microsoft YaHei"/>
                <a:ea typeface="Microsoft YaHei"/>
              </a:rPr>
              <a:t>输入尺寸权衡：一张图看懂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" y="1060704"/>
            <a:ext cx="11240719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5F5A7D"/>
                </a:solidFill>
                <a:latin typeface="Microsoft YaHei"/>
                <a:ea typeface="Microsoft YaHei"/>
              </a:rPr>
              <a:t>图优先：先看图再回头读代码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75488" y="1097280"/>
            <a:ext cx="1234440" cy="30480"/>
          </a:xfrm>
          <a:prstGeom prst="rect">
            <a:avLst/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48056" y="1899701"/>
            <a:ext cx="7278624" cy="2683694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12700">
            <a:solidFill>
              <a:srgbClr val="D5DB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ee2e264ef42f1fd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5488" y="1927133"/>
            <a:ext cx="7223760" cy="262883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927848" y="1463040"/>
            <a:ext cx="3788359" cy="41148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3D2E8C"/>
                </a:solidFill>
                <a:latin typeface="Microsoft YaHei"/>
                <a:ea typeface="Microsoft YaHei"/>
              </a:rPr>
              <a:t>四个观察点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927848" y="1920240"/>
            <a:ext cx="3788359" cy="733806"/>
          </a:xfrm>
          <a:prstGeom prst="roundRect">
            <a:avLst>
              <a:gd name="adj" fmla="val 5500"/>
            </a:avLst>
          </a:prstGeom>
          <a:solidFill>
            <a:srgbClr val="EAE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8074152" y="2029968"/>
            <a:ext cx="310896" cy="241300"/>
          </a:xfrm>
          <a:prstGeom prst="roundRect">
            <a:avLst>
              <a:gd name="adj" fmla="val 50000"/>
            </a:avLst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74152" y="2029968"/>
            <a:ext cx="310896" cy="2413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Microsoft YaHei"/>
                <a:ea typeface="Microsoft YaHei"/>
              </a:rPr>
              <a:t>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58200" y="2011680"/>
            <a:ext cx="3056839" cy="587502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6000"/>
              </a:lnSpc>
            </a:pPr>
            <a:r>
              <a:rPr sz="1200" b="0">
                <a:solidFill>
                  <a:srgbClr val="231D3D"/>
                </a:solidFill>
                <a:latin typeface="Microsoft YaHei"/>
                <a:ea typeface="Microsoft YaHei"/>
              </a:rPr>
              <a:t>先想清楚数据从哪来到哪去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927848" y="2736342"/>
            <a:ext cx="3788359" cy="733806"/>
          </a:xfrm>
          <a:prstGeom prst="roundRect">
            <a:avLst>
              <a:gd name="adj" fmla="val 5500"/>
            </a:avLst>
          </a:prstGeom>
          <a:solidFill>
            <a:srgbClr val="EAE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8074152" y="2846070"/>
            <a:ext cx="310896" cy="241300"/>
          </a:xfrm>
          <a:prstGeom prst="roundRect">
            <a:avLst>
              <a:gd name="adj" fmla="val 50000"/>
            </a:avLst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074152" y="2846070"/>
            <a:ext cx="310896" cy="2413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Microsoft YaHei"/>
                <a:ea typeface="Microsoft YaHei"/>
              </a:rPr>
              <a:t>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458200" y="2827782"/>
            <a:ext cx="3056839" cy="587502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6000"/>
              </a:lnSpc>
            </a:pPr>
            <a:r>
              <a:rPr sz="1200" b="0">
                <a:solidFill>
                  <a:srgbClr val="231D3D"/>
                </a:solidFill>
                <a:latin typeface="Microsoft YaHei"/>
                <a:ea typeface="Microsoft YaHei"/>
              </a:rPr>
              <a:t>每一步只做一件事，错了好定位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927848" y="3552444"/>
            <a:ext cx="3788359" cy="733806"/>
          </a:xfrm>
          <a:prstGeom prst="roundRect">
            <a:avLst>
              <a:gd name="adj" fmla="val 5500"/>
            </a:avLst>
          </a:prstGeom>
          <a:solidFill>
            <a:srgbClr val="EAE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8074152" y="3662172"/>
            <a:ext cx="310896" cy="241300"/>
          </a:xfrm>
          <a:prstGeom prst="roundRect">
            <a:avLst>
              <a:gd name="adj" fmla="val 50000"/>
            </a:avLst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074152" y="3662172"/>
            <a:ext cx="310896" cy="2413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Microsoft YaHei"/>
                <a:ea typeface="Microsoft YaHei"/>
              </a:rPr>
              <a:t>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458200" y="3643884"/>
            <a:ext cx="3056839" cy="587502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6000"/>
              </a:lnSpc>
            </a:pPr>
            <a:r>
              <a:rPr sz="1200" b="0">
                <a:solidFill>
                  <a:srgbClr val="231D3D"/>
                </a:solidFill>
                <a:latin typeface="Microsoft YaHei"/>
                <a:ea typeface="Microsoft YaHei"/>
              </a:rPr>
              <a:t>追问：小目标缩图会看不见——先看缺陷最小尺寸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75488" y="5230368"/>
            <a:ext cx="7223760" cy="89611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76656" y="5330952"/>
            <a:ext cx="6858000" cy="7315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2000"/>
              </a:lnSpc>
            </a:pPr>
            <a:r>
              <a:rPr sz="1200" b="1">
                <a:solidFill>
                  <a:srgbClr val="231D3D"/>
                </a:solidFill>
                <a:latin typeface="Microsoft YaHei"/>
                <a:ea typeface="Microsoft YaHei"/>
              </a:rPr>
              <a:t>一句话：640到320速度翻倍精度让步——像素即算力</a:t>
            </a:r>
            <a:r>
              <a:rPr sz="1100" b="0">
                <a:solidFill>
                  <a:srgbClr val="5F5A7D"/>
                </a:solidFill>
                <a:latin typeface="Microsoft YaHei"/>
                <a:ea typeface="Microsoft YaHei"/>
              </a:rPr>
              <a:t>
何时用：边缘盒子算力有限时的第一调节旋钮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41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331720"/>
            <a:ext cx="12191695" cy="1188720"/>
          </a:xfrm>
          <a:prstGeom prst="rect">
            <a:avLst/>
          </a:prstGeom>
          <a:solidFill>
            <a:srgbClr val="3D2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75488" y="822960"/>
            <a:ext cx="2377440" cy="146304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6400" b="1">
                <a:solidFill>
                  <a:srgbClr val="00A6A6"/>
                </a:solidFill>
                <a:latin typeface="Microsoft YaHei"/>
                <a:ea typeface="Microsoft YaHei"/>
              </a:rPr>
              <a:t>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651760" y="2560320"/>
            <a:ext cx="8778240" cy="7315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FFFFFF"/>
                </a:solidFill>
                <a:latin typeface="Microsoft YaHei"/>
                <a:ea typeface="Microsoft YaHei"/>
              </a:rPr>
              <a:t>技能实操 · 代码跑起来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651760" y="1572768"/>
            <a:ext cx="8961120" cy="54864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 b="0">
                <a:solidFill>
                  <a:srgbClr val="C9D4E4"/>
                </a:solidFill>
                <a:latin typeface="Microsoft YaHei"/>
                <a:ea typeface="Microsoft YaHei"/>
              </a:rPr>
              <a:t>本章聚焦：锚框与NMS直观 · 输入尺寸影响 · FPS测量口径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651760" y="3840480"/>
            <a:ext cx="8778240" cy="402336"/>
          </a:xfrm>
          <a:prstGeom prst="roundRect">
            <a:avLst>
              <a:gd name="adj" fmla="val 16000"/>
            </a:avLst>
          </a:prstGeom>
          <a:solidFill>
            <a:srgbClr val="3141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788920" y="3840480"/>
            <a:ext cx="45720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A6A6"/>
                </a:solidFill>
                <a:latin typeface="Microsoft YaHei"/>
                <a:ea typeface="Microsoft YaHei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46120" y="3840480"/>
            <a:ext cx="310896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FFFFFF"/>
                </a:solidFill>
                <a:latin typeface="Microsoft YaHei"/>
                <a:ea typeface="Microsoft YaHei"/>
              </a:rPr>
              <a:t>ONNX推理口径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0" y="3840480"/>
            <a:ext cx="484632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AAB6D0"/>
                </a:solidFill>
                <a:latin typeface="Microsoft YaHei"/>
                <a:ea typeface="Microsoft YaHei"/>
              </a:rPr>
              <a:t>import onnxruntime as ort, ti…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651760" y="4334256"/>
            <a:ext cx="8778240" cy="402336"/>
          </a:xfrm>
          <a:prstGeom prst="roundRect">
            <a:avLst>
              <a:gd name="adj" fmla="val 16000"/>
            </a:avLst>
          </a:prstGeom>
          <a:solidFill>
            <a:srgbClr val="263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788920" y="4334256"/>
            <a:ext cx="45720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A6A6"/>
                </a:solidFill>
                <a:latin typeface="Microsoft YaHei"/>
                <a:ea typeface="Microsoft YaHei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46120" y="4334256"/>
            <a:ext cx="310896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FFFFFF"/>
                </a:solidFill>
                <a:latin typeface="Microsoft YaHei"/>
                <a:ea typeface="Microsoft YaHei"/>
              </a:rPr>
              <a:t>阈值过滤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0" y="4334256"/>
            <a:ext cx="484632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AAB6D0"/>
                </a:solidFill>
                <a:latin typeface="Microsoft YaHei"/>
                <a:ea typeface="Microsoft YaHei"/>
              </a:rPr>
              <a:t>conf = out[4:].max(0)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651760" y="4828032"/>
            <a:ext cx="8778240" cy="402336"/>
          </a:xfrm>
          <a:prstGeom prst="roundRect">
            <a:avLst>
              <a:gd name="adj" fmla="val 16000"/>
            </a:avLst>
          </a:prstGeom>
          <a:solidFill>
            <a:srgbClr val="3141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788920" y="4828032"/>
            <a:ext cx="45720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A6A6"/>
                </a:solidFill>
                <a:latin typeface="Microsoft YaHei"/>
                <a:ea typeface="Microsoft YaHei"/>
              </a:rP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246120" y="4828032"/>
            <a:ext cx="310896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FFFFFF"/>
                </a:solidFill>
                <a:latin typeface="Microsoft YaHei"/>
                <a:ea typeface="Microsoft YaHei"/>
              </a:rPr>
              <a:t>技能 · 能部署CPU预训练YO…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0" y="4828032"/>
            <a:ext cx="484632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AAB6D0"/>
                </a:solidFill>
                <a:latin typeface="Microsoft YaHei"/>
                <a:ea typeface="Microsoft YaHei"/>
              </a:rPr>
              <a:t>能部署CPU预训练YOLO推理——应用：见工单starter与教师…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2651760" y="5321808"/>
            <a:ext cx="8778240" cy="402336"/>
          </a:xfrm>
          <a:prstGeom prst="roundRect">
            <a:avLst>
              <a:gd name="adj" fmla="val 16000"/>
            </a:avLst>
          </a:prstGeom>
          <a:solidFill>
            <a:srgbClr val="263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788920" y="5321808"/>
            <a:ext cx="45720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A6A6"/>
                </a:solidFill>
                <a:latin typeface="Microsoft YaHei"/>
                <a:ea typeface="Microsoft YaHei"/>
              </a:rPr>
              <a:t>04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246120" y="5321808"/>
            <a:ext cx="310896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FFFFFF"/>
                </a:solidFill>
                <a:latin typeface="Microsoft YaHei"/>
                <a:ea typeface="Microsoft YaHei"/>
              </a:rPr>
              <a:t>技能 · 能调阈值与尺寸并记录m…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0" y="5321808"/>
            <a:ext cx="484632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AAB6D0"/>
                </a:solidFill>
                <a:latin typeface="Microsoft YaHei"/>
                <a:ea typeface="Microsoft YaHei"/>
              </a:rPr>
              <a:t>能调阈值与尺寸并记录mAP和FPS——应用：见工单starter与…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2651760" y="5815584"/>
            <a:ext cx="8778240" cy="402336"/>
          </a:xfrm>
          <a:prstGeom prst="roundRect">
            <a:avLst>
              <a:gd name="adj" fmla="val 16000"/>
            </a:avLst>
          </a:prstGeom>
          <a:solidFill>
            <a:srgbClr val="3141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2788920" y="5815584"/>
            <a:ext cx="45720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A6A6"/>
                </a:solidFill>
                <a:latin typeface="Microsoft YaHei"/>
                <a:ea typeface="Microsoft YaHei"/>
              </a:rPr>
              <a:t>05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246120" y="5815584"/>
            <a:ext cx="310896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FFFFFF"/>
                </a:solidFill>
                <a:latin typeface="Microsoft YaHei"/>
                <a:ea typeface="Microsoft YaHei"/>
              </a:rPr>
              <a:t>技能 · 能产出三方权衡报告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00800" y="5815584"/>
            <a:ext cx="484632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AAB6D0"/>
                </a:solidFill>
                <a:latin typeface="Microsoft YaHei"/>
                <a:ea typeface="Microsoft YaHei"/>
              </a:rPr>
              <a:t>能产出三方权衡报告——应用：见工单starter与教师参考实现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2651760" y="5989320"/>
            <a:ext cx="8778240" cy="402336"/>
          </a:xfrm>
          <a:prstGeom prst="roundRect">
            <a:avLst>
              <a:gd name="adj" fmla="val 16000"/>
            </a:avLst>
          </a:prstGeom>
          <a:solidFill>
            <a:srgbClr val="3141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2788920" y="5989320"/>
            <a:ext cx="850392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00A6A6"/>
                </a:solidFill>
                <a:latin typeface="Microsoft YaHei"/>
                <a:ea typeface="Microsoft YaHei"/>
              </a:rPr>
              <a:t>本章产出：四要素详解页×5 · 图解页×3 · 可跟打代码页×2 · 工单与分层工单各1份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75488" y="6473952"/>
            <a:ext cx="10515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8C99B5"/>
                </a:solidFill>
                <a:latin typeface="Microsoft YaHei"/>
                <a:ea typeface="Microsoft YaHei"/>
              </a:rPr>
              <a:t>AI应用基础（48课时版） · V1 · W16-15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"/>
          </a:xfrm>
          <a:prstGeom prst="rect">
            <a:avLst/>
          </a:prstGeom>
          <a:solidFill>
            <a:srgbClr val="3D2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18872"/>
            <a:ext cx="676656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3D2E8C"/>
                </a:solidFill>
                <a:latin typeface="Microsoft YaHei"/>
                <a:ea typeface="Microsoft YaHei"/>
              </a:rPr>
              <a:t>技能实操 · 可执行代码</a:t>
            </a:r>
          </a:p>
        </p:txBody>
      </p:sp>
      <p:sp>
        <p:nvSpPr>
          <p:cNvPr id="4" name="Rectangle 3"/>
          <p:cNvSpPr/>
          <p:nvPr/>
        </p:nvSpPr>
        <p:spPr>
          <a:xfrm>
            <a:off x="475488" y="6473952"/>
            <a:ext cx="11240719" cy="9525"/>
          </a:xfrm>
          <a:prstGeom prst="rect">
            <a:avLst/>
          </a:prstGeom>
          <a:solidFill>
            <a:srgbClr val="EAE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75488" y="6455664"/>
            <a:ext cx="8229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5F5A7D"/>
                </a:solidFill>
                <a:latin typeface="Microsoft YaHei"/>
                <a:ea typeface="Microsoft YaHei"/>
              </a:rPr>
              <a:t>AI应用基础（48课时版） · V1 · W16-15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44607" y="6455664"/>
            <a:ext cx="1371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0">
                <a:solidFill>
                  <a:srgbClr val="5F5A7D"/>
                </a:solidFill>
                <a:latin typeface="Microsoft YaHei"/>
                <a:ea typeface="Microsoft YaHei"/>
              </a:rPr>
              <a:t>13 / 27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5488" y="274320"/>
            <a:ext cx="966764" cy="253365"/>
          </a:xfrm>
          <a:prstGeom prst="roundRect">
            <a:avLst>
              <a:gd name="adj" fmla="val 50000"/>
            </a:avLst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5488" y="274320"/>
            <a:ext cx="966764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CODE LAB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5488" y="585216"/>
            <a:ext cx="11240719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231D3D"/>
                </a:solidFill>
                <a:latin typeface="Microsoft YaHei"/>
                <a:ea typeface="Microsoft YaHei"/>
              </a:rPr>
              <a:t>ONNX推理口径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" y="1060704"/>
            <a:ext cx="11240719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5F5A7D"/>
                </a:solidFill>
                <a:latin typeface="Microsoft YaHei"/>
                <a:ea typeface="Microsoft YaHei"/>
              </a:rPr>
              <a:t>代码节选 · 依赖工单/starter 上下文（课堂跟打 starter 看完整运行）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75488" y="1097280"/>
            <a:ext cx="1234440" cy="30480"/>
          </a:xfrm>
          <a:prstGeom prst="rect">
            <a:avLst/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75488" y="1371600"/>
            <a:ext cx="11021263" cy="4754880"/>
          </a:xfrm>
          <a:prstGeom prst="roundRect">
            <a:avLst>
              <a:gd name="adj" fmla="val 4500"/>
            </a:avLst>
          </a:prstGeom>
          <a:solidFill>
            <a:srgbClr val="1410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03504" y="1453896"/>
            <a:ext cx="2103120" cy="237744"/>
          </a:xfrm>
          <a:prstGeom prst="roundRect">
            <a:avLst>
              <a:gd name="adj" fmla="val 50000"/>
            </a:avLst>
          </a:prstGeom>
          <a:solidFill>
            <a:srgbClr val="3D2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03504" y="1453896"/>
            <a:ext cx="2103120" cy="23774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>
                <a:solidFill>
                  <a:srgbClr val="FFFFFF"/>
                </a:solidFill>
                <a:latin typeface="Microsoft YaHei"/>
                <a:ea typeface="Microsoft YaHei"/>
              </a:rPr>
              <a:t> 代码节选 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1792" y="1764792"/>
            <a:ext cx="10728655" cy="427024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6000"/>
              </a:lnSpc>
            </a:pPr>
            <a:r>
              <a:rPr sz="1200" b="0">
                <a:solidFill>
                  <a:srgbClr val="DDD9F0"/>
                </a:solidFill>
                <a:latin typeface="Consolas"/>
                <a:ea typeface="Microsoft YaHei"/>
              </a:rPr>
              <a:t>import onnxruntime as ort, time</a:t>
            </a:r>
          </a:p>
          <a:p>
            <a:pPr algn="l">
              <a:lnSpc>
                <a:spcPct val="106000"/>
              </a:lnSpc>
            </a:pPr>
            <a:r>
              <a:rPr sz="1200" b="0">
                <a:solidFill>
                  <a:srgbClr val="DDD9F0"/>
                </a:solidFill>
                <a:latin typeface="Consolas"/>
                <a:ea typeface="Microsoft YaHei"/>
              </a:rPr>
              <a:t>sess = ort.InferenceSession("yolo.onnx")</a:t>
            </a:r>
          </a:p>
          <a:p>
            <a:pPr algn="l">
              <a:lnSpc>
                <a:spcPct val="106000"/>
              </a:lnSpc>
            </a:pPr>
            <a:r>
              <a:rPr sz="1200" b="0">
                <a:solidFill>
                  <a:srgbClr val="DDD9F0"/>
                </a:solidFill>
                <a:latin typeface="Consolas"/>
                <a:ea typeface="Microsoft YaHei"/>
              </a:rPr>
              <a:t>t0 = time.perf_counter()</a:t>
            </a:r>
          </a:p>
          <a:p>
            <a:pPr algn="l">
              <a:lnSpc>
                <a:spcPct val="106000"/>
              </a:lnSpc>
            </a:pPr>
            <a:r>
              <a:rPr sz="1200" b="0">
                <a:solidFill>
                  <a:srgbClr val="DDD9F0"/>
                </a:solidFill>
                <a:latin typeface="Consolas"/>
                <a:ea typeface="Microsoft YaHei"/>
              </a:rPr>
              <a:t>out = sess.run(None, {"images": x})[0]</a:t>
            </a:r>
          </a:p>
          <a:p>
            <a:pPr algn="l">
              <a:lnSpc>
                <a:spcPct val="106000"/>
              </a:lnSpc>
            </a:pPr>
            <a:r>
              <a:rPr sz="1200" b="0">
                <a:solidFill>
                  <a:srgbClr val="DDD9F0"/>
                </a:solidFill>
                <a:latin typeface="Consolas"/>
                <a:ea typeface="Microsoft YaHei"/>
              </a:rPr>
              <a:t>print("FPS≈", 1 / (time.perf_counter() - t0))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75488" y="5349240"/>
            <a:ext cx="11240719" cy="777240"/>
          </a:xfrm>
          <a:prstGeom prst="roundRect">
            <a:avLst>
              <a:gd name="adj" fmla="val 5500"/>
            </a:avLst>
          </a:prstGeom>
          <a:solidFill>
            <a:srgbClr val="FDF6E9"/>
          </a:solidFill>
          <a:ln w="9525">
            <a:solidFill>
              <a:srgbClr val="E5C97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04088" y="5477256"/>
            <a:ext cx="10783519" cy="54864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8A6D1D"/>
                </a:solidFill>
                <a:latin typeface="Microsoft YaHei"/>
                <a:ea typeface="Microsoft YaHei"/>
              </a:rPr>
              <a:t>本段引用工单上下文变量（starter 已备好）——跟打 starter 后取消注释对应行即可复现。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"/>
          </a:xfrm>
          <a:prstGeom prst="rect">
            <a:avLst/>
          </a:prstGeom>
          <a:solidFill>
            <a:srgbClr val="3D2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18872"/>
            <a:ext cx="676656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3D2E8C"/>
                </a:solidFill>
                <a:latin typeface="Microsoft YaHei"/>
                <a:ea typeface="Microsoft YaHei"/>
              </a:rPr>
              <a:t>技能实操 · 可执行代码</a:t>
            </a:r>
          </a:p>
        </p:txBody>
      </p:sp>
      <p:sp>
        <p:nvSpPr>
          <p:cNvPr id="4" name="Rectangle 3"/>
          <p:cNvSpPr/>
          <p:nvPr/>
        </p:nvSpPr>
        <p:spPr>
          <a:xfrm>
            <a:off x="475488" y="6473952"/>
            <a:ext cx="11240719" cy="9525"/>
          </a:xfrm>
          <a:prstGeom prst="rect">
            <a:avLst/>
          </a:prstGeom>
          <a:solidFill>
            <a:srgbClr val="EAE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75488" y="6455664"/>
            <a:ext cx="8229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5F5A7D"/>
                </a:solidFill>
                <a:latin typeface="Microsoft YaHei"/>
                <a:ea typeface="Microsoft YaHei"/>
              </a:rPr>
              <a:t>AI应用基础（48课时版） · V1 · W16-15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44607" y="6455664"/>
            <a:ext cx="1371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0">
                <a:solidFill>
                  <a:srgbClr val="5F5A7D"/>
                </a:solidFill>
                <a:latin typeface="Microsoft YaHei"/>
                <a:ea typeface="Microsoft YaHei"/>
              </a:rPr>
              <a:t>14 / 27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5488" y="274320"/>
            <a:ext cx="966764" cy="253365"/>
          </a:xfrm>
          <a:prstGeom prst="roundRect">
            <a:avLst>
              <a:gd name="adj" fmla="val 50000"/>
            </a:avLst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5488" y="274320"/>
            <a:ext cx="966764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CODE LAB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5488" y="585216"/>
            <a:ext cx="11240719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231D3D"/>
                </a:solidFill>
                <a:latin typeface="Microsoft YaHei"/>
                <a:ea typeface="Microsoft YaHei"/>
              </a:rPr>
              <a:t>阈值过滤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" y="1060704"/>
            <a:ext cx="11240719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5F5A7D"/>
                </a:solidFill>
                <a:latin typeface="Microsoft YaHei"/>
                <a:ea typeface="Microsoft YaHei"/>
              </a:rPr>
              <a:t>代码节选 · 依赖工单/starter 上下文（课堂跟打 starter 看完整运行）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75488" y="1097280"/>
            <a:ext cx="1234440" cy="30480"/>
          </a:xfrm>
          <a:prstGeom prst="rect">
            <a:avLst/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75488" y="1371600"/>
            <a:ext cx="11021263" cy="4754880"/>
          </a:xfrm>
          <a:prstGeom prst="roundRect">
            <a:avLst>
              <a:gd name="adj" fmla="val 4500"/>
            </a:avLst>
          </a:prstGeom>
          <a:solidFill>
            <a:srgbClr val="1410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03504" y="1453896"/>
            <a:ext cx="2103120" cy="237744"/>
          </a:xfrm>
          <a:prstGeom prst="roundRect">
            <a:avLst>
              <a:gd name="adj" fmla="val 50000"/>
            </a:avLst>
          </a:prstGeom>
          <a:solidFill>
            <a:srgbClr val="3D2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03504" y="1453896"/>
            <a:ext cx="2103120" cy="23774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>
                <a:solidFill>
                  <a:srgbClr val="FFFFFF"/>
                </a:solidFill>
                <a:latin typeface="Microsoft YaHei"/>
                <a:ea typeface="Microsoft YaHei"/>
              </a:rPr>
              <a:t> 代码节选 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1792" y="1764792"/>
            <a:ext cx="10728655" cy="427024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6000"/>
              </a:lnSpc>
            </a:pPr>
            <a:r>
              <a:rPr sz="1200" b="0">
                <a:solidFill>
                  <a:srgbClr val="DDD9F0"/>
                </a:solidFill>
                <a:latin typeface="Consolas"/>
                <a:ea typeface="Microsoft YaHei"/>
              </a:rPr>
              <a:t>conf = out[4:].max(0)</a:t>
            </a:r>
          </a:p>
          <a:p>
            <a:pPr algn="l">
              <a:lnSpc>
                <a:spcPct val="106000"/>
              </a:lnSpc>
            </a:pPr>
            <a:r>
              <a:rPr sz="1200" b="0">
                <a:solidFill>
                  <a:srgbClr val="DDD9F0"/>
                </a:solidFill>
                <a:latin typeface="Consolas"/>
                <a:ea typeface="Microsoft YaHei"/>
              </a:rPr>
              <a:t>keep = conf &gt; 0.4</a:t>
            </a:r>
          </a:p>
          <a:p>
            <a:pPr algn="l">
              <a:lnSpc>
                <a:spcPct val="106000"/>
              </a:lnSpc>
            </a:pPr>
            <a:r>
              <a:rPr sz="1200" b="0">
                <a:solidFill>
                  <a:srgbClr val="DDD9F0"/>
                </a:solidFill>
                <a:latin typeface="Consolas"/>
                <a:ea typeface="Microsoft YaHei"/>
              </a:rPr>
              <a:t>boxes = xywh[keep]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75488" y="5349240"/>
            <a:ext cx="11240719" cy="777240"/>
          </a:xfrm>
          <a:prstGeom prst="roundRect">
            <a:avLst>
              <a:gd name="adj" fmla="val 5500"/>
            </a:avLst>
          </a:prstGeom>
          <a:solidFill>
            <a:srgbClr val="FDF6E9"/>
          </a:solidFill>
          <a:ln w="9525">
            <a:solidFill>
              <a:srgbClr val="E5C97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04088" y="5477256"/>
            <a:ext cx="10783519" cy="54864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8A6D1D"/>
                </a:solidFill>
                <a:latin typeface="Microsoft YaHei"/>
                <a:ea typeface="Microsoft YaHei"/>
              </a:rPr>
              <a:t>本段引用工单上下文变量（starter 已备好）——跟打 starter 后取消注释对应行即可复现。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"/>
          </a:xfrm>
          <a:prstGeom prst="rect">
            <a:avLst/>
          </a:prstGeom>
          <a:solidFill>
            <a:srgbClr val="3D2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18872"/>
            <a:ext cx="676656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3D2E8C"/>
                </a:solidFill>
                <a:latin typeface="Microsoft YaHei"/>
                <a:ea typeface="Microsoft YaHei"/>
              </a:rPr>
              <a:t>避坑指南</a:t>
            </a:r>
          </a:p>
        </p:txBody>
      </p:sp>
      <p:sp>
        <p:nvSpPr>
          <p:cNvPr id="4" name="Rectangle 3"/>
          <p:cNvSpPr/>
          <p:nvPr/>
        </p:nvSpPr>
        <p:spPr>
          <a:xfrm>
            <a:off x="475488" y="6473952"/>
            <a:ext cx="11240719" cy="9525"/>
          </a:xfrm>
          <a:prstGeom prst="rect">
            <a:avLst/>
          </a:prstGeom>
          <a:solidFill>
            <a:srgbClr val="EAE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75488" y="6455664"/>
            <a:ext cx="8229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5F5A7D"/>
                </a:solidFill>
                <a:latin typeface="Microsoft YaHei"/>
                <a:ea typeface="Microsoft YaHei"/>
              </a:rPr>
              <a:t>AI应用基础（48课时版） · V1 · W16-15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44607" y="6455664"/>
            <a:ext cx="1371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0">
                <a:solidFill>
                  <a:srgbClr val="5F5A7D"/>
                </a:solidFill>
                <a:latin typeface="Microsoft YaHei"/>
                <a:ea typeface="Microsoft YaHei"/>
              </a:rPr>
              <a:t>15 / 27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5488" y="274320"/>
            <a:ext cx="1475628" cy="253365"/>
          </a:xfrm>
          <a:prstGeom prst="roundRect">
            <a:avLst>
              <a:gd name="adj" fmla="val 50000"/>
            </a:avLst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5488" y="274320"/>
            <a:ext cx="1475628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DEBUG · 常见报错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5488" y="585216"/>
            <a:ext cx="11240719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231D3D"/>
                </a:solidFill>
                <a:latin typeface="Microsoft YaHei"/>
                <a:ea typeface="Microsoft YaHei"/>
              </a:rPr>
              <a:t>报错翻译：程序'说'了什么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" y="1060704"/>
            <a:ext cx="11240719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5F5A7D"/>
                </a:solidFill>
                <a:latin typeface="Microsoft YaHei"/>
                <a:ea typeface="Microsoft YaHei"/>
              </a:rPr>
              <a:t>报错是程序在说话——先读最后一行，再往上找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75488" y="1097280"/>
            <a:ext cx="1234440" cy="30480"/>
          </a:xfrm>
          <a:prstGeom prst="rect">
            <a:avLst/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75488" y="1389888"/>
            <a:ext cx="11240719" cy="457200"/>
          </a:xfrm>
          <a:prstGeom prst="roundRect">
            <a:avLst>
              <a:gd name="adj" fmla="val 5500"/>
            </a:avLst>
          </a:prstGeom>
          <a:solidFill>
            <a:srgbClr val="3D2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12648" y="1463040"/>
            <a:ext cx="2788920" cy="329184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FFFFFF"/>
                </a:solidFill>
                <a:latin typeface="Microsoft YaHei"/>
                <a:ea typeface="Microsoft YaHei"/>
              </a:rPr>
              <a:t>报错/现象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38728" y="1463040"/>
            <a:ext cx="3749039" cy="329184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FFFFFF"/>
                </a:solidFill>
                <a:latin typeface="Microsoft YaHei"/>
                <a:ea typeface="Microsoft YaHei"/>
              </a:rPr>
              <a:t>为什么会这样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424928" y="1463040"/>
            <a:ext cx="3977639" cy="329184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FFFFFF"/>
                </a:solidFill>
                <a:latin typeface="Microsoft YaHei"/>
                <a:ea typeface="Microsoft YaHei"/>
              </a:rPr>
              <a:t>怎么修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75488" y="1847088"/>
            <a:ext cx="11240719" cy="9601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E3E8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12648" y="1938528"/>
            <a:ext cx="2697480" cy="81381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C0392B"/>
                </a:solidFill>
                <a:latin typeface="Microsoft YaHei"/>
                <a:ea typeface="Microsoft YaHei"/>
              </a:rPr>
              <a:t>FPS波动大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538728" y="1938528"/>
            <a:ext cx="3657599" cy="81381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231D3D"/>
                </a:solidFill>
                <a:latin typeface="Microsoft YaHei"/>
                <a:ea typeface="Microsoft YaHei"/>
              </a:rPr>
              <a:t>首帧含warmup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24928" y="1938528"/>
            <a:ext cx="3886199" cy="81381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231D3D"/>
                </a:solidFill>
                <a:latin typeface="Microsoft YaHei"/>
                <a:ea typeface="Microsoft YaHei"/>
              </a:rPr>
              <a:t>先跑3帧预热再计时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75488" y="2880360"/>
            <a:ext cx="11240719" cy="960120"/>
          </a:xfrm>
          <a:prstGeom prst="roundRect">
            <a:avLst>
              <a:gd name="adj" fmla="val 5500"/>
            </a:avLst>
          </a:prstGeom>
          <a:solidFill>
            <a:srgbClr val="F5F4FB"/>
          </a:solidFill>
          <a:ln w="9525">
            <a:solidFill>
              <a:srgbClr val="E3E8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12648" y="2971800"/>
            <a:ext cx="2697480" cy="81381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C0392B"/>
                </a:solidFill>
                <a:latin typeface="Microsoft YaHei"/>
                <a:ea typeface="Microsoft YaHei"/>
              </a:rPr>
              <a:t>框全叠一起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538728" y="2971800"/>
            <a:ext cx="3657599" cy="81381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231D3D"/>
                </a:solidFill>
                <a:latin typeface="Microsoft YaHei"/>
                <a:ea typeface="Microsoft YaHei"/>
              </a:rPr>
              <a:t>未做NMS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424928" y="2971800"/>
            <a:ext cx="3886199" cy="81381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231D3D"/>
                </a:solidFill>
                <a:latin typeface="Microsoft YaHei"/>
                <a:ea typeface="Microsoft YaHei"/>
              </a:rPr>
              <a:t>按类做非极大值抑制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75488" y="3913632"/>
            <a:ext cx="11240719" cy="9601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E3E8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12648" y="4005072"/>
            <a:ext cx="2697480" cy="81381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C0392B"/>
                </a:solidFill>
                <a:latin typeface="Microsoft YaHei"/>
                <a:ea typeface="Microsoft YaHei"/>
              </a:rPr>
              <a:t>mAP对不上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538728" y="4005072"/>
            <a:ext cx="3657599" cy="81381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231D3D"/>
                </a:solidFill>
                <a:latin typeface="Microsoft YaHei"/>
                <a:ea typeface="Microsoft YaHei"/>
              </a:rPr>
              <a:t>测试集口径不同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424928" y="4005072"/>
            <a:ext cx="3886199" cy="81381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231D3D"/>
                </a:solidFill>
                <a:latin typeface="Microsoft YaHei"/>
                <a:ea typeface="Microsoft YaHei"/>
              </a:rPr>
              <a:t>统一测试集与IoU0.5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75488" y="4992624"/>
            <a:ext cx="11240719" cy="713232"/>
          </a:xfrm>
          <a:prstGeom prst="roundRect">
            <a:avLst>
              <a:gd name="adj" fmla="val 5500"/>
            </a:avLst>
          </a:prstGeom>
          <a:solidFill>
            <a:srgbClr val="EAE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04088" y="5102352"/>
            <a:ext cx="3566160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3D2E8C"/>
                </a:solidFill>
                <a:latin typeface="Microsoft YaHei"/>
                <a:ea typeface="Microsoft YaHei"/>
              </a:rPr>
              <a:t>① 读最后一行  </a:t>
            </a:r>
            <a:r>
              <a:rPr sz="1050" b="0">
                <a:solidFill>
                  <a:srgbClr val="5F5A7D"/>
                </a:solidFill>
                <a:latin typeface="Microsoft YaHei"/>
                <a:ea typeface="Microsoft YaHei"/>
              </a:rPr>
              <a:t>报错类型+行号都在这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361688" y="5102352"/>
            <a:ext cx="3566160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3D2E8C"/>
                </a:solidFill>
                <a:latin typeface="Microsoft YaHei"/>
                <a:ea typeface="Microsoft YaHei"/>
              </a:rPr>
              <a:t>② 定位变量  </a:t>
            </a:r>
            <a:r>
              <a:rPr sz="1050" b="0">
                <a:solidFill>
                  <a:srgbClr val="5F5A7D"/>
                </a:solidFill>
                <a:latin typeface="Microsoft YaHei"/>
                <a:ea typeface="Microsoft YaHei"/>
              </a:rPr>
              <a:t>NameError=没定义/拼错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019288" y="5102352"/>
            <a:ext cx="3566160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3D2E8C"/>
                </a:solidFill>
                <a:latin typeface="Microsoft YaHei"/>
                <a:ea typeface="Microsoft YaHei"/>
              </a:rPr>
              <a:t>③ 最小复现  </a:t>
            </a:r>
            <a:r>
              <a:rPr sz="1050" b="0">
                <a:solidFill>
                  <a:srgbClr val="5F5A7D"/>
                </a:solidFill>
                <a:latin typeface="Microsoft YaHei"/>
                <a:ea typeface="Microsoft YaHei"/>
              </a:rPr>
              <a:t>注释一半再跑，二分找错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"/>
          </a:xfrm>
          <a:prstGeom prst="rect">
            <a:avLst/>
          </a:prstGeom>
          <a:solidFill>
            <a:srgbClr val="3D2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18872"/>
            <a:ext cx="676656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3D2E8C"/>
                </a:solidFill>
                <a:latin typeface="Microsoft YaHei"/>
                <a:ea typeface="Microsoft YaHei"/>
              </a:rPr>
              <a:t>知识窗 · 考点拓展</a:t>
            </a:r>
          </a:p>
        </p:txBody>
      </p:sp>
      <p:sp>
        <p:nvSpPr>
          <p:cNvPr id="4" name="Rectangle 3"/>
          <p:cNvSpPr/>
          <p:nvPr/>
        </p:nvSpPr>
        <p:spPr>
          <a:xfrm>
            <a:off x="475488" y="6473952"/>
            <a:ext cx="11240719" cy="9525"/>
          </a:xfrm>
          <a:prstGeom prst="rect">
            <a:avLst/>
          </a:prstGeom>
          <a:solidFill>
            <a:srgbClr val="EAE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75488" y="6455664"/>
            <a:ext cx="8229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5F5A7D"/>
                </a:solidFill>
                <a:latin typeface="Microsoft YaHei"/>
                <a:ea typeface="Microsoft YaHei"/>
              </a:rPr>
              <a:t>AI应用基础（48课时版） · V1 · W16-15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44607" y="6455664"/>
            <a:ext cx="1371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0">
                <a:solidFill>
                  <a:srgbClr val="5F5A7D"/>
                </a:solidFill>
                <a:latin typeface="Microsoft YaHei"/>
                <a:ea typeface="Microsoft YaHei"/>
              </a:rPr>
              <a:t>16 / 27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5488" y="274320"/>
            <a:ext cx="1337104" cy="253365"/>
          </a:xfrm>
          <a:prstGeom prst="roundRect">
            <a:avLst>
              <a:gd name="adj" fmla="val 50000"/>
            </a:avLst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5488" y="274320"/>
            <a:ext cx="1337104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WINDOW · W-MN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5488" y="585216"/>
            <a:ext cx="11240719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231D3D"/>
                </a:solidFill>
                <a:latin typeface="Microsoft YaHei"/>
                <a:ea typeface="Microsoft YaHei"/>
              </a:rPr>
              <a:t>MNIST基准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" y="1060704"/>
            <a:ext cx="11240719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5F5A7D"/>
                </a:solidFill>
                <a:latin typeface="Microsoft YaHei"/>
                <a:ea typeface="Microsoft YaHei"/>
              </a:rPr>
              <a:t>1+X考点对照知识窗：原理入门 + 自学路径（主线之外的一扇窗）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75488" y="1097280"/>
            <a:ext cx="1234440" cy="30480"/>
          </a:xfrm>
          <a:prstGeom prst="rect">
            <a:avLst/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75488" y="1371600"/>
            <a:ext cx="5510631" cy="23957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75488" y="1371600"/>
            <a:ext cx="64008" cy="2395728"/>
          </a:xfrm>
          <a:prstGeom prst="rect">
            <a:avLst/>
          </a:prstGeom>
          <a:solidFill>
            <a:srgbClr val="3D2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694944" y="1517904"/>
            <a:ext cx="1051560" cy="253365"/>
          </a:xfrm>
          <a:prstGeom prst="roundRect">
            <a:avLst>
              <a:gd name="adj" fmla="val 50000"/>
            </a:avLst>
          </a:prstGeom>
          <a:solidFill>
            <a:srgbClr val="3D2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94944" y="1517904"/>
            <a:ext cx="1051560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是什么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3232" y="1938528"/>
            <a:ext cx="5035143" cy="166420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6000"/>
              </a:lnSpc>
            </a:pPr>
            <a:r>
              <a:rPr sz="1350" b="0">
                <a:solidFill>
                  <a:srgbClr val="231D3D"/>
                </a:solidFill>
                <a:latin typeface="Microsoft YaHei"/>
                <a:ea typeface="Microsoft YaHei"/>
              </a:rPr>
              <a:t>MNIST手写数字基准：深度学习的'Hello World'——6万张28×28灰度图分0-9，业界用它验证一切新架构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05575" y="1371600"/>
            <a:ext cx="5510631" cy="23957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205575" y="1371600"/>
            <a:ext cx="64008" cy="2395728"/>
          </a:xfrm>
          <a:prstGeom prst="rect">
            <a:avLst/>
          </a:prstGeom>
          <a:solidFill>
            <a:srgbClr val="3A4A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6425031" y="1517904"/>
            <a:ext cx="1051560" cy="253365"/>
          </a:xfrm>
          <a:prstGeom prst="roundRect">
            <a:avLst>
              <a:gd name="adj" fmla="val 50000"/>
            </a:avLst>
          </a:prstGeom>
          <a:solidFill>
            <a:srgbClr val="3A4A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25031" y="1517904"/>
            <a:ext cx="1051560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何时用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43319" y="1938528"/>
            <a:ext cx="5035143" cy="166420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6000"/>
              </a:lnSpc>
            </a:pPr>
            <a:r>
              <a:rPr sz="1350" b="0">
                <a:solidFill>
                  <a:srgbClr val="231D3D"/>
                </a:solidFill>
                <a:latin typeface="Microsoft YaHei"/>
                <a:ea typeface="Microsoft YaHei"/>
              </a:rPr>
              <a:t>入门练习/论文对照基线用；工业课用振动频谱替代（同是分类任务，数据换成车间真数据）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75488" y="3931920"/>
            <a:ext cx="5510631" cy="23957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75488" y="3931920"/>
            <a:ext cx="64008" cy="2395728"/>
          </a:xfrm>
          <a:prstGeom prst="rect">
            <a:avLst/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694944" y="4078224"/>
            <a:ext cx="1051560" cy="253365"/>
          </a:xfrm>
          <a:prstGeom prst="roundRect">
            <a:avLst>
              <a:gd name="adj" fmla="val 50000"/>
            </a:avLst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94944" y="4078224"/>
            <a:ext cx="1051560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最小示例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3232" y="4498848"/>
            <a:ext cx="5035143" cy="166420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6000"/>
              </a:lnSpc>
            </a:pPr>
            <a:r>
              <a:rPr sz="1350" b="0">
                <a:solidFill>
                  <a:srgbClr val="231D3D"/>
                </a:solidFill>
                <a:latin typeface="Microsoft YaHei"/>
                <a:ea typeface="Microsoft YaHei"/>
              </a:rPr>
              <a:t>(x_train,y_train),(x_test,y_test)=keras.datasets.mnist.load_data() 一行下载数据——网络结构与本课MLP完全同构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205575" y="3931920"/>
            <a:ext cx="5510631" cy="23957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205575" y="3931920"/>
            <a:ext cx="64008" cy="2395728"/>
          </a:xfrm>
          <a:prstGeom prst="rect">
            <a:avLst/>
          </a:prstGeom>
          <a:solidFill>
            <a:srgbClr val="B977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6425031" y="4078224"/>
            <a:ext cx="1051560" cy="253365"/>
          </a:xfrm>
          <a:prstGeom prst="roundRect">
            <a:avLst>
              <a:gd name="adj" fmla="val 50000"/>
            </a:avLst>
          </a:prstGeom>
          <a:solidFill>
            <a:srgbClr val="B977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25031" y="4078224"/>
            <a:ext cx="1051560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进阶方向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43319" y="4498848"/>
            <a:ext cx="5035143" cy="166420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6000"/>
              </a:lnSpc>
            </a:pPr>
            <a:r>
              <a:rPr sz="1350" b="0">
                <a:solidFill>
                  <a:srgbClr val="231D3D"/>
                </a:solidFill>
                <a:latin typeface="Microsoft YaHei"/>
                <a:ea typeface="Microsoft YaHei"/>
              </a:rPr>
              <a:t>MNIST上准确率&gt;98%说明网络健康，工业数据不到90%是数据难不是你菜——基准思维：先易后难定位问题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41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331720"/>
            <a:ext cx="12191695" cy="1188720"/>
          </a:xfrm>
          <a:prstGeom prst="rect">
            <a:avLst/>
          </a:prstGeom>
          <a:solidFill>
            <a:srgbClr val="3D2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75488" y="822960"/>
            <a:ext cx="2377440" cy="146304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6400" b="1">
                <a:solidFill>
                  <a:srgbClr val="00A6A6"/>
                </a:solidFill>
                <a:latin typeface="Microsoft YaHei"/>
                <a:ea typeface="Microsoft YaHei"/>
              </a:rPr>
              <a:t>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651760" y="2560320"/>
            <a:ext cx="8778240" cy="7315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FFFFFF"/>
                </a:solidFill>
                <a:latin typeface="Microsoft YaHei"/>
                <a:ea typeface="Microsoft YaHei"/>
              </a:rPr>
              <a:t>工单实战 · 按单交付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651760" y="1572768"/>
            <a:ext cx="8961120" cy="54864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 b="0">
                <a:solidFill>
                  <a:srgbClr val="C9D4E4"/>
                </a:solidFill>
                <a:latin typeface="Microsoft YaHei"/>
                <a:ea typeface="Microsoft YaHei"/>
              </a:rPr>
              <a:t>本章聚焦：锚框与NMS直观 · 输入尺寸影响 · FPS测量口径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651760" y="4059936"/>
            <a:ext cx="8778240" cy="402336"/>
          </a:xfrm>
          <a:prstGeom prst="roundRect">
            <a:avLst>
              <a:gd name="adj" fmla="val 16000"/>
            </a:avLst>
          </a:prstGeom>
          <a:solidFill>
            <a:srgbClr val="3141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788920" y="4059936"/>
            <a:ext cx="45720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A6A6"/>
                </a:solidFill>
                <a:latin typeface="Microsoft YaHei"/>
                <a:ea typeface="Microsoft YaHei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46120" y="4059936"/>
            <a:ext cx="310896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FFFFFF"/>
                </a:solidFill>
                <a:latin typeface="Microsoft YaHei"/>
                <a:ea typeface="Microsoft YaHei"/>
              </a:rPr>
              <a:t>交付清单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0" y="4059936"/>
            <a:ext cx="484632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AAB6D0"/>
                </a:solidFill>
                <a:latin typeface="Microsoft YaHei"/>
                <a:ea typeface="Microsoft YaHei"/>
              </a:rPr>
              <a:t>按工单步骤逐项打勾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651760" y="4553712"/>
            <a:ext cx="8778240" cy="402336"/>
          </a:xfrm>
          <a:prstGeom prst="roundRect">
            <a:avLst>
              <a:gd name="adj" fmla="val 16000"/>
            </a:avLst>
          </a:prstGeom>
          <a:solidFill>
            <a:srgbClr val="263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788920" y="4553712"/>
            <a:ext cx="45720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A6A6"/>
                </a:solidFill>
                <a:latin typeface="Microsoft YaHei"/>
                <a:ea typeface="Microsoft YaHei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46120" y="4553712"/>
            <a:ext cx="310896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FFFFFF"/>
                </a:solidFill>
                <a:latin typeface="Microsoft YaHei"/>
                <a:ea typeface="Microsoft YaHei"/>
              </a:rPr>
              <a:t>及格/优秀线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0" y="4553712"/>
            <a:ext cx="484632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AAB6D0"/>
                </a:solidFill>
                <a:latin typeface="Microsoft YaHei"/>
                <a:ea typeface="Microsoft YaHei"/>
              </a:rPr>
              <a:t>D/C保底 · B/A冲刺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651760" y="5047488"/>
            <a:ext cx="8778240" cy="402336"/>
          </a:xfrm>
          <a:prstGeom prst="roundRect">
            <a:avLst>
              <a:gd name="adj" fmla="val 16000"/>
            </a:avLst>
          </a:prstGeom>
          <a:solidFill>
            <a:srgbClr val="3141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788920" y="5047488"/>
            <a:ext cx="45720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A6A6"/>
                </a:solidFill>
                <a:latin typeface="Microsoft YaHei"/>
                <a:ea typeface="Microsoft YaHei"/>
              </a:rP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246120" y="5047488"/>
            <a:ext cx="310896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FFFFFF"/>
                </a:solidFill>
                <a:latin typeface="Microsoft YaHei"/>
                <a:ea typeface="Microsoft YaHei"/>
              </a:rPr>
              <a:t>A/B/C/D分层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0" y="5047488"/>
            <a:ext cx="484632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AAB6D0"/>
                </a:solidFill>
                <a:latin typeface="Microsoft YaHei"/>
                <a:ea typeface="Microsoft YaHei"/>
              </a:rPr>
              <a:t>按当前水平选起点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2651760" y="5989320"/>
            <a:ext cx="8778240" cy="402336"/>
          </a:xfrm>
          <a:prstGeom prst="roundRect">
            <a:avLst>
              <a:gd name="adj" fmla="val 16000"/>
            </a:avLst>
          </a:prstGeom>
          <a:solidFill>
            <a:srgbClr val="3141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788920" y="5989320"/>
            <a:ext cx="850392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00A6A6"/>
                </a:solidFill>
                <a:latin typeface="Microsoft YaHei"/>
                <a:ea typeface="Microsoft YaHei"/>
              </a:rPr>
              <a:t>本章产出：四要素详解页×3 · 图解页×3 · 可跟打代码页×2 · 工单与分层工单各1份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75488" y="6473952"/>
            <a:ext cx="10515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8C99B5"/>
                </a:solidFill>
                <a:latin typeface="Microsoft YaHei"/>
                <a:ea typeface="Microsoft YaHei"/>
              </a:rPr>
              <a:t>AI应用基础（48课时版） · V1 · W16-15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"/>
          </a:xfrm>
          <a:prstGeom prst="rect">
            <a:avLst/>
          </a:prstGeom>
          <a:solidFill>
            <a:srgbClr val="3D2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18872"/>
            <a:ext cx="676656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3D2E8C"/>
                </a:solidFill>
                <a:latin typeface="Microsoft YaHei"/>
                <a:ea typeface="Microsoft YaHei"/>
              </a:rPr>
              <a:t>工单实战</a:t>
            </a:r>
          </a:p>
        </p:txBody>
      </p:sp>
      <p:sp>
        <p:nvSpPr>
          <p:cNvPr id="4" name="Rectangle 3"/>
          <p:cNvSpPr/>
          <p:nvPr/>
        </p:nvSpPr>
        <p:spPr>
          <a:xfrm>
            <a:off x="475488" y="6473952"/>
            <a:ext cx="11240719" cy="9525"/>
          </a:xfrm>
          <a:prstGeom prst="rect">
            <a:avLst/>
          </a:prstGeom>
          <a:solidFill>
            <a:srgbClr val="EAE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75488" y="6455664"/>
            <a:ext cx="8229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5F5A7D"/>
                </a:solidFill>
                <a:latin typeface="Microsoft YaHei"/>
                <a:ea typeface="Microsoft YaHei"/>
              </a:rPr>
              <a:t>AI应用基础（48课时版） · V1 · W16-15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44607" y="6455664"/>
            <a:ext cx="1371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0">
                <a:solidFill>
                  <a:srgbClr val="5F5A7D"/>
                </a:solidFill>
                <a:latin typeface="Microsoft YaHei"/>
                <a:ea typeface="Microsoft YaHei"/>
              </a:rPr>
              <a:t>18 / 27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5488" y="274320"/>
            <a:ext cx="1142039" cy="253365"/>
          </a:xfrm>
          <a:prstGeom prst="roundRect">
            <a:avLst>
              <a:gd name="adj" fmla="val 50000"/>
            </a:avLst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5488" y="274320"/>
            <a:ext cx="1142039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WORK ORDER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5488" y="585216"/>
            <a:ext cx="11240719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231D3D"/>
                </a:solidFill>
                <a:latin typeface="Microsoft YaHei"/>
                <a:ea typeface="Microsoft YaHei"/>
              </a:rPr>
              <a:t>工单 M3-2 · YOLO实时缺陷检测（上）：基础实现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" y="1060704"/>
            <a:ext cx="11240719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5F5A7D"/>
                </a:solidFill>
                <a:latin typeface="Microsoft YaHei"/>
                <a:ea typeface="Microsoft YaHei"/>
              </a:rPr>
              <a:t>按单交付：及格线保底，优秀线冲刺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75488" y="1097280"/>
            <a:ext cx="1234440" cy="30480"/>
          </a:xfrm>
          <a:prstGeom prst="rect">
            <a:avLst/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75488" y="1371600"/>
            <a:ext cx="6583680" cy="47091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49808" y="1499616"/>
            <a:ext cx="6035040" cy="36576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3D2E8C"/>
                </a:solidFill>
                <a:latin typeface="Microsoft YaHei"/>
                <a:ea typeface="Microsoft YaHei"/>
              </a:rPr>
              <a:t>交付清单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49808" y="1920240"/>
            <a:ext cx="310896" cy="241300"/>
          </a:xfrm>
          <a:prstGeom prst="roundRect">
            <a:avLst>
              <a:gd name="adj" fmla="val 50000"/>
            </a:avLst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49808" y="1920240"/>
            <a:ext cx="310896" cy="2413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Microsoft YaHei"/>
                <a:ea typeface="Microsoft YaHei"/>
              </a:rPr>
              <a:t>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25296" y="1901952"/>
            <a:ext cx="5669280" cy="530352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8000"/>
              </a:lnSpc>
            </a:pPr>
            <a:r>
              <a:rPr sz="1300" b="0">
                <a:solidFill>
                  <a:srgbClr val="231D3D"/>
                </a:solidFill>
                <a:latin typeface="Microsoft YaHei"/>
                <a:ea typeface="Microsoft YaHei"/>
              </a:rPr>
              <a:t>能部署CPU预训练YOLO推理——应用：见工单starter与教师参考实现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49808" y="2505456"/>
            <a:ext cx="310896" cy="241300"/>
          </a:xfrm>
          <a:prstGeom prst="roundRect">
            <a:avLst>
              <a:gd name="adj" fmla="val 50000"/>
            </a:avLst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49808" y="2505456"/>
            <a:ext cx="310896" cy="2413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Microsoft YaHei"/>
                <a:ea typeface="Microsoft YaHei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25296" y="2487168"/>
            <a:ext cx="5669280" cy="530352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8000"/>
              </a:lnSpc>
            </a:pPr>
            <a:r>
              <a:rPr sz="1300" b="0">
                <a:solidFill>
                  <a:srgbClr val="231D3D"/>
                </a:solidFill>
                <a:latin typeface="Microsoft YaHei"/>
                <a:ea typeface="Microsoft YaHei"/>
              </a:rPr>
              <a:t>能调阈值与尺寸并记录mAP和FPS——应用：见工单starter与教师参考实现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49808" y="3090672"/>
            <a:ext cx="310896" cy="241300"/>
          </a:xfrm>
          <a:prstGeom prst="roundRect">
            <a:avLst>
              <a:gd name="adj" fmla="val 50000"/>
            </a:avLst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49808" y="3090672"/>
            <a:ext cx="310896" cy="2413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Microsoft YaHei"/>
                <a:ea typeface="Microsoft YaHei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225296" y="3072384"/>
            <a:ext cx="5669280" cy="530352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8000"/>
              </a:lnSpc>
            </a:pPr>
            <a:r>
              <a:rPr sz="1300" b="0">
                <a:solidFill>
                  <a:srgbClr val="231D3D"/>
                </a:solidFill>
                <a:latin typeface="Microsoft YaHei"/>
                <a:ea typeface="Microsoft YaHei"/>
              </a:rPr>
              <a:t>能产出三方权衡报告——应用：见工单starter与教师参考实现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49808" y="3675888"/>
            <a:ext cx="310896" cy="241300"/>
          </a:xfrm>
          <a:prstGeom prst="roundRect">
            <a:avLst>
              <a:gd name="adj" fmla="val 50000"/>
            </a:avLst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49808" y="3675888"/>
            <a:ext cx="310896" cy="2413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Microsoft YaHei"/>
                <a:ea typeface="Microsoft YaHei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225296" y="3657600"/>
            <a:ext cx="5669280" cy="530352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8000"/>
              </a:lnSpc>
            </a:pPr>
            <a:r>
              <a:rPr sz="1300" b="0">
                <a:solidFill>
                  <a:srgbClr val="231D3D"/>
                </a:solidFill>
                <a:latin typeface="Microsoft YaHei"/>
                <a:ea typeface="Microsoft YaHei"/>
              </a:rPr>
              <a:t>能做产线节拍适配建议——应用：见工单starter与教师参考实现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49808" y="4526280"/>
            <a:ext cx="6035040" cy="1389888"/>
          </a:xfrm>
          <a:prstGeom prst="roundRect">
            <a:avLst>
              <a:gd name="adj" fmla="val 5500"/>
            </a:avLst>
          </a:prstGeom>
          <a:solidFill>
            <a:srgbClr val="EAE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50976" y="4617720"/>
            <a:ext cx="5669280" cy="329184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3D2E8C"/>
                </a:solidFill>
                <a:latin typeface="Microsoft YaHei"/>
                <a:ea typeface="Microsoft YaHei"/>
              </a:rPr>
              <a:t>验收清单（教师按此打分）</a:t>
            </a:r>
          </a:p>
        </p:txBody>
      </p:sp>
      <p:sp>
        <p:nvSpPr>
          <p:cNvPr id="28" name="Rectangle 27"/>
          <p:cNvSpPr/>
          <p:nvPr/>
        </p:nvSpPr>
        <p:spPr>
          <a:xfrm>
            <a:off x="950976" y="4992624"/>
            <a:ext cx="146304" cy="146304"/>
          </a:xfrm>
          <a:prstGeom prst="rect">
            <a:avLst/>
          </a:prstGeom>
          <a:noFill/>
          <a:ln w="15240">
            <a:solidFill>
              <a:srgbClr val="3D2E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188720" y="4928616"/>
            <a:ext cx="5486400" cy="29260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231D3D"/>
                </a:solidFill>
                <a:latin typeface="Microsoft YaHei"/>
                <a:ea typeface="Microsoft YaHei"/>
              </a:rPr>
              <a:t>程序运行无报错，输出与示例一致</a:t>
            </a:r>
          </a:p>
        </p:txBody>
      </p:sp>
      <p:sp>
        <p:nvSpPr>
          <p:cNvPr id="30" name="Rectangle 29"/>
          <p:cNvSpPr/>
          <p:nvPr/>
        </p:nvSpPr>
        <p:spPr>
          <a:xfrm>
            <a:off x="950976" y="5303520"/>
            <a:ext cx="146304" cy="146304"/>
          </a:xfrm>
          <a:prstGeom prst="rect">
            <a:avLst/>
          </a:prstGeom>
          <a:noFill/>
          <a:ln w="15240">
            <a:solidFill>
              <a:srgbClr val="3D2E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188720" y="5239512"/>
            <a:ext cx="5486400" cy="29260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231D3D"/>
                </a:solidFill>
                <a:latin typeface="Microsoft YaHei"/>
                <a:ea typeface="Microsoft YaHei"/>
              </a:rPr>
              <a:t>截图含完整运行结果与文件名</a:t>
            </a:r>
          </a:p>
        </p:txBody>
      </p:sp>
      <p:sp>
        <p:nvSpPr>
          <p:cNvPr id="32" name="Rectangle 31"/>
          <p:cNvSpPr/>
          <p:nvPr/>
        </p:nvSpPr>
        <p:spPr>
          <a:xfrm>
            <a:off x="950976" y="5614416"/>
            <a:ext cx="146304" cy="146304"/>
          </a:xfrm>
          <a:prstGeom prst="rect">
            <a:avLst/>
          </a:prstGeom>
          <a:noFill/>
          <a:ln w="15240">
            <a:solidFill>
              <a:srgbClr val="3D2E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188720" y="5550408"/>
            <a:ext cx="5486400" cy="29260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231D3D"/>
                </a:solidFill>
                <a:latin typeface="Microsoft YaHei"/>
                <a:ea typeface="Microsoft YaHei"/>
              </a:rPr>
              <a:t>变量命名规范率达标（snake_case）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7287768" y="1371600"/>
            <a:ext cx="4428439" cy="1691640"/>
          </a:xfrm>
          <a:prstGeom prst="roundRect">
            <a:avLst>
              <a:gd name="adj" fmla="val 5500"/>
            </a:avLst>
          </a:prstGeom>
          <a:solidFill>
            <a:srgbClr val="EAE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525512" y="1499616"/>
            <a:ext cx="3971239" cy="36576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3A4A63"/>
                </a:solidFill>
                <a:latin typeface="Microsoft YaHei"/>
                <a:ea typeface="Microsoft YaHei"/>
              </a:rPr>
              <a:t>及格线 · D/C层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525512" y="1865376"/>
            <a:ext cx="3925519" cy="9601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2000"/>
              </a:lnSpc>
            </a:pPr>
            <a:r>
              <a:rPr sz="1350" b="0">
                <a:solidFill>
                  <a:srgbClr val="231D3D"/>
                </a:solidFill>
                <a:latin typeface="Microsoft YaHei"/>
                <a:ea typeface="Microsoft YaHei"/>
              </a:rPr>
              <a:t>mAP≥0.60+FPS表完整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525512" y="2779776"/>
            <a:ext cx="3971239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F5A7D"/>
                </a:solidFill>
                <a:latin typeface="Microsoft YaHei"/>
                <a:ea typeface="Microsoft YaHei"/>
              </a:rPr>
              <a:t>检查方式：运行+截图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7287768" y="3246119"/>
            <a:ext cx="4428439" cy="1691640"/>
          </a:xfrm>
          <a:prstGeom prst="roundRect">
            <a:avLst>
              <a:gd name="adj" fmla="val 5500"/>
            </a:avLst>
          </a:prstGeom>
          <a:solidFill>
            <a:srgbClr val="EAE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7525512" y="3374135"/>
            <a:ext cx="3971239" cy="36576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00A6A6"/>
                </a:solidFill>
                <a:latin typeface="Microsoft YaHei"/>
                <a:ea typeface="Microsoft YaHei"/>
              </a:rPr>
              <a:t>优秀线 · B/A层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525512" y="3739895"/>
            <a:ext cx="3925519" cy="9601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2000"/>
              </a:lnSpc>
            </a:pPr>
            <a:r>
              <a:rPr sz="1350" b="0">
                <a:solidFill>
                  <a:srgbClr val="231D3D"/>
                </a:solidFill>
                <a:latin typeface="Microsoft YaHei"/>
                <a:ea typeface="Microsoft YaHei"/>
              </a:rPr>
              <a:t>mAP≥0.75 / 给出产线节拍适配方案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525512" y="4654295"/>
            <a:ext cx="3971239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F5A7D"/>
                </a:solidFill>
                <a:latin typeface="Microsoft YaHei"/>
                <a:ea typeface="Microsoft YaHei"/>
              </a:rPr>
              <a:t>检查方式：运行+规范+答辩追问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7287768" y="5138928"/>
            <a:ext cx="4428439" cy="941832"/>
          </a:xfrm>
          <a:prstGeom prst="roundRect">
            <a:avLst>
              <a:gd name="adj" fmla="val 5500"/>
            </a:avLst>
          </a:prstGeom>
          <a:solidFill>
            <a:srgbClr val="241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7525512" y="5257800"/>
            <a:ext cx="3971239" cy="7315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00A6A6"/>
                </a:solidFill>
                <a:latin typeface="Microsoft YaHei"/>
                <a:ea typeface="Microsoft YaHei"/>
              </a:rPr>
              <a:t>提交物</a:t>
            </a:r>
            <a:r>
              <a:rPr sz="1050" b="0">
                <a:solidFill>
                  <a:srgbClr val="D8E1EC"/>
                </a:solidFill>
                <a:latin typeface="Microsoft YaHei"/>
                <a:ea typeface="Microsoft YaHei"/>
              </a:rPr>
              <a:t>
代码文件+运行截图+工单决策记录（上传学习平台）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"/>
          </a:xfrm>
          <a:prstGeom prst="rect">
            <a:avLst/>
          </a:prstGeom>
          <a:solidFill>
            <a:srgbClr val="3D2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18872"/>
            <a:ext cx="676656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3D2E8C"/>
                </a:solidFill>
                <a:latin typeface="Microsoft YaHei"/>
                <a:ea typeface="Microsoft YaHei"/>
              </a:rPr>
              <a:t>工单完成效果图 · 先看终点（本课目标预览）</a:t>
            </a:r>
          </a:p>
        </p:txBody>
      </p:sp>
      <p:sp>
        <p:nvSpPr>
          <p:cNvPr id="4" name="Rectangle 3"/>
          <p:cNvSpPr/>
          <p:nvPr/>
        </p:nvSpPr>
        <p:spPr>
          <a:xfrm>
            <a:off x="475488" y="6473952"/>
            <a:ext cx="11240719" cy="9525"/>
          </a:xfrm>
          <a:prstGeom prst="rect">
            <a:avLst/>
          </a:prstGeom>
          <a:solidFill>
            <a:srgbClr val="EAE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75488" y="6455664"/>
            <a:ext cx="8229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5F5A7D"/>
                </a:solidFill>
                <a:latin typeface="Microsoft YaHei"/>
                <a:ea typeface="Microsoft YaHei"/>
              </a:rPr>
              <a:t>AI应用基础（48课时版） · V1 · W16-15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44607" y="6455664"/>
            <a:ext cx="1371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0">
                <a:solidFill>
                  <a:srgbClr val="5F5A7D"/>
                </a:solidFill>
                <a:latin typeface="Microsoft YaHei"/>
                <a:ea typeface="Microsoft YaHei"/>
              </a:rPr>
              <a:t>19 / 27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5488" y="274320"/>
            <a:ext cx="1463040" cy="256032"/>
          </a:xfrm>
          <a:prstGeom prst="roundRect">
            <a:avLst>
              <a:gd name="adj" fmla="val 6000"/>
            </a:avLst>
          </a:prstGeom>
          <a:solidFill>
            <a:srgbClr val="00A6A6"/>
          </a:solidFill>
          <a:ln w="9525">
            <a:solidFill>
              <a:srgbClr val="00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475488" y="274320"/>
            <a:ext cx="14630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>
                <a:solidFill>
                  <a:srgbClr val="FFFFFF"/>
                </a:solidFill>
              </a:rPr>
              <a:t>DONE SHOT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5488" y="585216"/>
            <a:ext cx="11237976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500" b="1">
                <a:solidFill>
                  <a:srgbClr val="231D3D"/>
                </a:solidFill>
              </a:rPr>
              <a:t>工单完成效果图 · 完成后长这样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" y="1060704"/>
            <a:ext cx="1123797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5F5A7D"/>
                </a:solidFill>
              </a:rPr>
              <a:t>真实运行 · 参考实现——先看清'交付标准答案'，再动手写自己的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75488" y="1371600"/>
            <a:ext cx="11237976" cy="23317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FC8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475488" y="3794760"/>
            <a:ext cx="11237976" cy="1188720"/>
          </a:xfrm>
          <a:prstGeom prst="roundRect">
            <a:avLst>
              <a:gd name="adj" fmla="val 6000"/>
            </a:avLst>
          </a:prstGeom>
          <a:solidFill>
            <a:srgbClr val="EAE7F8"/>
          </a:solidFill>
          <a:ln w="9525">
            <a:solidFill>
              <a:srgbClr val="CFC8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475488" y="5074920"/>
            <a:ext cx="11237976" cy="1234440"/>
          </a:xfrm>
          <a:prstGeom prst="roundRect">
            <a:avLst>
              <a:gd name="adj" fmla="val 6000"/>
            </a:avLst>
          </a:prstGeom>
          <a:solidFill>
            <a:srgbClr val="EAE7F8"/>
          </a:solidFill>
          <a:ln w="9525">
            <a:solidFill>
              <a:srgbClr val="CFC8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749808" y="1517904"/>
            <a:ext cx="10698480" cy="2057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3D2E8C"/>
                </a:solidFill>
              </a:rPr>
              <a:t>① 参考实现真实运行输出（本工单完成态）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231D3D"/>
                </a:solidFill>
              </a:rPr>
              <a:t>=== 工单 M3-2 YOLO实时缺陷检测（零依赖检测器）· 完成态 ===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231D3D"/>
                </a:solidFill>
              </a:rPr>
              <a:t>输入: 64×64 产线图 · 真值框(x,y,w,h) = (30, 40, 8, 8)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231D3D"/>
                </a:solidFill>
              </a:rPr>
              <a:t>检测结果: 框=(32, 40, 8, 8)  缺陷分=0.658  IoU=0.60（目标≥0.5）  FPS≈5300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231D3D"/>
                </a:solidFill>
              </a:rPr>
              <a:t>滑窗尺寸 × 性能取舍表（YOLO调参的本质：感受野 vs 速度 vs 定位精度）: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231D3D"/>
                </a:solidFill>
              </a:rPr>
              <a:t>  win   IoU     FPS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231D3D"/>
                </a:solidFill>
              </a:rPr>
              <a:t>    4   0.25    1295  ×2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231D3D"/>
                </a:solidFill>
              </a:rPr>
              <a:t>   16   0.00   16855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231D3D"/>
                </a:solidFill>
              </a:rPr>
              <a:t>实测最优窗口 win=8（IoU=0.60）—— 窗口过小则单窗信噪比低易误检，过大则定位粗化，存在最优值；FPS 随窗口增大…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231D3D"/>
                </a:solidFill>
              </a:rPr>
              <a:t>真机路径: ultralytics YOLOv8n 离线权重（data/weights/yolov8n.onnx）→ 同口径 …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49808" y="3931920"/>
            <a:ext cx="1069848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3D2E8C"/>
                </a:solidFill>
              </a:rPr>
              <a:t>② 关键自检点（对照工单逐项核对）</a:t>
            </a:r>
          </a:p>
          <a:p>
            <a:pPr algn="l">
              <a:spcBef>
                <a:spcPts val="200"/>
              </a:spcBef>
            </a:pPr>
            <a:r>
              <a:rPr sz="1150" b="0">
                <a:solidFill>
                  <a:srgbClr val="231D3D"/>
                </a:solidFill>
              </a:rPr>
              <a:t>□ 代码从头跑到尾不报错（python xx.py 再跑一遍）</a:t>
            </a:r>
          </a:p>
          <a:p>
            <a:pPr algn="l">
              <a:spcBef>
                <a:spcPts val="100"/>
              </a:spcBef>
            </a:pPr>
            <a:r>
              <a:rPr sz="1150" b="0">
                <a:solidFill>
                  <a:srgbClr val="231D3D"/>
                </a:solidFill>
              </a:rPr>
              <a:t>□ 指标达标：与工单及格线逐项对齐（准确率/F1/耗时）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49808" y="5212080"/>
            <a:ext cx="1069848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3D2E8C"/>
                </a:solidFill>
              </a:rPr>
              <a:t>③ 提交与达标（过程性证据）</a:t>
            </a:r>
          </a:p>
          <a:p>
            <a:pPr algn="l">
              <a:spcBef>
                <a:spcPts val="200"/>
              </a:spcBef>
            </a:pPr>
            <a:r>
              <a:rPr sz="1100" b="0">
                <a:solidFill>
                  <a:srgbClr val="231D3D"/>
                </a:solidFill>
              </a:rPr>
              <a:t>达标线：D≥60 / C≥70 / B≥80 / A≥90　｜　提交：学号_姓名_工单号 + 运行截图 + 决策记录 + Git≥1次commit</a:t>
            </a:r>
          </a:p>
          <a:p>
            <a:pPr algn="l">
              <a:spcBef>
                <a:spcPts val="100"/>
              </a:spcBef>
            </a:pPr>
            <a:r>
              <a:rPr sz="1100" b="0">
                <a:solidFill>
                  <a:srgbClr val="5F5A7D"/>
                </a:solidFill>
              </a:rPr>
              <a:t>复核：自检 → 互检 → 师查（三层质检）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"/>
          </a:xfrm>
          <a:prstGeom prst="rect">
            <a:avLst/>
          </a:prstGeom>
          <a:solidFill>
            <a:srgbClr val="3D2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18872"/>
            <a:ext cx="676656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3D2E8C"/>
                </a:solidFill>
                <a:latin typeface="Microsoft YaHei"/>
                <a:ea typeface="Microsoft YaHei"/>
              </a:rPr>
              <a:t>本工单的工程化项目 · 第三种代码形态</a:t>
            </a:r>
          </a:p>
        </p:txBody>
      </p:sp>
      <p:sp>
        <p:nvSpPr>
          <p:cNvPr id="4" name="Rectangle 3"/>
          <p:cNvSpPr/>
          <p:nvPr/>
        </p:nvSpPr>
        <p:spPr>
          <a:xfrm>
            <a:off x="475488" y="6473952"/>
            <a:ext cx="11240719" cy="9525"/>
          </a:xfrm>
          <a:prstGeom prst="rect">
            <a:avLst/>
          </a:prstGeom>
          <a:solidFill>
            <a:srgbClr val="EAE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75488" y="6455664"/>
            <a:ext cx="8229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5F5A7D"/>
                </a:solidFill>
                <a:latin typeface="Microsoft YaHei"/>
                <a:ea typeface="Microsoft YaHei"/>
              </a:rPr>
              <a:t>AI应用基础（48课时版） · V1 · W16-15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44607" y="6455664"/>
            <a:ext cx="1371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0">
                <a:solidFill>
                  <a:srgbClr val="5F5A7D"/>
                </a:solidFill>
                <a:latin typeface="Microsoft YaHei"/>
                <a:ea typeface="Microsoft YaHei"/>
              </a:rPr>
              <a:t>20 / 27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5488" y="274320"/>
            <a:ext cx="1463040" cy="256032"/>
          </a:xfrm>
          <a:prstGeom prst="roundRect">
            <a:avLst>
              <a:gd name="adj" fmla="val 6000"/>
            </a:avLst>
          </a:prstGeom>
          <a:solidFill>
            <a:srgbClr val="00A6A6"/>
          </a:solidFill>
          <a:ln w="9525">
            <a:solidFill>
              <a:srgbClr val="00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475488" y="274320"/>
            <a:ext cx="14630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>
                <a:solidFill>
                  <a:srgbClr val="FFFFFF"/>
                </a:solidFill>
              </a:rPr>
              <a:t>DONE SHOT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5488" y="585216"/>
            <a:ext cx="11237976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500" b="1">
                <a:solidFill>
                  <a:srgbClr val="231D3D"/>
                </a:solidFill>
              </a:rPr>
              <a:t>本工单的工程化项目 · 第三种代码形态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" y="1060704"/>
            <a:ext cx="1123797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5F5A7D"/>
                </a:solidFill>
              </a:rPr>
              <a:t>真实运行 · 参考实现——先看清'交付标准答案'，再动手写自己的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75488" y="1371600"/>
            <a:ext cx="11237976" cy="23317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FC8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475488" y="3794760"/>
            <a:ext cx="11237976" cy="1188720"/>
          </a:xfrm>
          <a:prstGeom prst="roundRect">
            <a:avLst>
              <a:gd name="adj" fmla="val 6000"/>
            </a:avLst>
          </a:prstGeom>
          <a:solidFill>
            <a:srgbClr val="EAE7F8"/>
          </a:solidFill>
          <a:ln w="9525">
            <a:solidFill>
              <a:srgbClr val="CFC8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475488" y="5074920"/>
            <a:ext cx="11237976" cy="1234440"/>
          </a:xfrm>
          <a:prstGeom prst="roundRect">
            <a:avLst>
              <a:gd name="adj" fmla="val 6000"/>
            </a:avLst>
          </a:prstGeom>
          <a:solidFill>
            <a:srgbClr val="EAE7F8"/>
          </a:solidFill>
          <a:ln w="9525">
            <a:solidFill>
              <a:srgbClr val="CFC8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749808" y="1517904"/>
            <a:ext cx="10698480" cy="2057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3D2E8C"/>
                </a:solidFill>
              </a:rPr>
              <a:t>① 项目位置与一键运行</a:t>
            </a:r>
          </a:p>
          <a:p>
            <a:pPr algn="l"/>
            <a:r>
              <a:rPr sz="1400" b="1">
                <a:solidFill>
                  <a:srgbClr val="3D2E8C"/>
                </a:solidFill>
              </a:rPr>
              <a:t>工程化项目/m32_yolo/</a:t>
            </a:r>
          </a:p>
          <a:p>
            <a:pPr algn="l"/>
            <a:r>
              <a:rPr sz="1400" b="1">
                <a:solidFill>
                  <a:srgbClr val="3D2E8C"/>
                </a:solidFill>
              </a:rPr>
              <a:t>python run.py          # 输出 output/report.txt + result.json</a:t>
            </a:r>
          </a:p>
          <a:p>
            <a:pPr algn="l"/>
            <a:r>
              <a:rPr sz="1400" b="1">
                <a:solidFill>
                  <a:srgbClr val="3D2E8C"/>
                </a:solidFill>
              </a:rPr>
              <a:t>python -m pytest -q    # 全量测试应全绿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49808" y="3931920"/>
            <a:ext cx="1069848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3D2E8C"/>
                </a:solidFill>
              </a:rPr>
              <a:t>② 目录结构（23 个文件）</a:t>
            </a:r>
          </a:p>
          <a:p>
            <a:pPr algn="l"/>
            <a:r>
              <a:rPr sz="1300" b="1">
                <a:solidFill>
                  <a:srgbClr val="3D2E8C"/>
                </a:solidFill>
              </a:rPr>
              <a:t>config/rules.yaml      规则外置：改配置不改代码</a:t>
            </a:r>
          </a:p>
          <a:p>
            <a:pPr algn="l"/>
            <a:r>
              <a:rPr sz="1300" b="1">
                <a:solidFill>
                  <a:srgbClr val="3D2E8C"/>
                </a:solidFill>
              </a:rPr>
              <a:t>src/yolo_detect/  config · core · io_utils · report · pipeline</a:t>
            </a:r>
          </a:p>
          <a:p>
            <a:pPr algn="l"/>
            <a:r>
              <a:rPr sz="1300" b="1">
                <a:solidFill>
                  <a:srgbClr val="3D2E8C"/>
                </a:solidFill>
              </a:rPr>
              <a:t>tests/      正常 / 边界 / 异常三档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49808" y="5212080"/>
            <a:ext cx="1069848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3D2E8C"/>
                </a:solidFill>
              </a:rPr>
              <a:t>③ 国标与 TOGAF 落地</a:t>
            </a:r>
          </a:p>
          <a:p>
            <a:pPr algn="l"/>
            <a:r>
              <a:rPr sz="1300" b="1">
                <a:solidFill>
                  <a:srgbClr val="3D2E8C"/>
                </a:solidFill>
              </a:rPr>
              <a:t>GB/T 9385 需求规格 / 15532 测试 / 8567 文档 / 8566 过程组</a:t>
            </a:r>
          </a:p>
          <a:p>
            <a:pPr algn="l"/>
            <a:r>
              <a:rPr sz="1300" b="1">
                <a:solidFill>
                  <a:srgbClr val="3D2E8C"/>
                </a:solidFill>
              </a:rPr>
              <a:t>TOGAF 四域：业务 · 数据 · 应用 · 技术架构</a:t>
            </a:r>
          </a:p>
          <a:p>
            <a:pPr algn="l"/>
            <a:r>
              <a:rPr sz="1300" b="1">
                <a:solidFill>
                  <a:srgbClr val="3D2E8C"/>
                </a:solidFill>
              </a:rPr>
              <a:t>docs/07 ADR-001 架构决策记录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"/>
          </a:xfrm>
          <a:prstGeom prst="rect">
            <a:avLst/>
          </a:prstGeom>
          <a:solidFill>
            <a:srgbClr val="3D2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18872"/>
            <a:ext cx="676656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3D2E8C"/>
                </a:solidFill>
                <a:latin typeface="Microsoft YaHei"/>
                <a:ea typeface="Microsoft YaHei"/>
              </a:rPr>
              <a:t>工单完成效果图 · 课末对照</a:t>
            </a:r>
          </a:p>
        </p:txBody>
      </p:sp>
      <p:sp>
        <p:nvSpPr>
          <p:cNvPr id="4" name="Rectangle 3"/>
          <p:cNvSpPr/>
          <p:nvPr/>
        </p:nvSpPr>
        <p:spPr>
          <a:xfrm>
            <a:off x="475488" y="6473952"/>
            <a:ext cx="11240719" cy="9525"/>
          </a:xfrm>
          <a:prstGeom prst="rect">
            <a:avLst/>
          </a:prstGeom>
          <a:solidFill>
            <a:srgbClr val="EAE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75488" y="6455664"/>
            <a:ext cx="8229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5F5A7D"/>
                </a:solidFill>
                <a:latin typeface="Microsoft YaHei"/>
                <a:ea typeface="Microsoft YaHei"/>
              </a:rPr>
              <a:t>AI应用基础（48课时版） · V1 · W16-15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44607" y="6455664"/>
            <a:ext cx="1371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0">
                <a:solidFill>
                  <a:srgbClr val="5F5A7D"/>
                </a:solidFill>
                <a:latin typeface="Microsoft YaHei"/>
                <a:ea typeface="Microsoft YaHei"/>
              </a:rPr>
              <a:t>21 / 27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5488" y="274320"/>
            <a:ext cx="1463040" cy="256032"/>
          </a:xfrm>
          <a:prstGeom prst="roundRect">
            <a:avLst>
              <a:gd name="adj" fmla="val 6000"/>
            </a:avLst>
          </a:prstGeom>
          <a:solidFill>
            <a:srgbClr val="00A6A6"/>
          </a:solidFill>
          <a:ln w="9525">
            <a:solidFill>
              <a:srgbClr val="00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475488" y="274320"/>
            <a:ext cx="14630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>
                <a:solidFill>
                  <a:srgbClr val="FFFFFF"/>
                </a:solidFill>
              </a:rPr>
              <a:t>DONE SHOT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5488" y="585216"/>
            <a:ext cx="11237976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500" b="1">
                <a:solidFill>
                  <a:srgbClr val="231D3D"/>
                </a:solidFill>
              </a:rPr>
              <a:t>工单完成效果图 · 完成后长这样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" y="1060704"/>
            <a:ext cx="1123797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5F5A7D"/>
                </a:solidFill>
              </a:rPr>
              <a:t>真实运行 · 参考实现——先看清'交付标准答案'，再动手写自己的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75488" y="1371600"/>
            <a:ext cx="11237976" cy="23317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FC8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475488" y="3794760"/>
            <a:ext cx="11237976" cy="1188720"/>
          </a:xfrm>
          <a:prstGeom prst="roundRect">
            <a:avLst>
              <a:gd name="adj" fmla="val 6000"/>
            </a:avLst>
          </a:prstGeom>
          <a:solidFill>
            <a:srgbClr val="EAE7F8"/>
          </a:solidFill>
          <a:ln w="9525">
            <a:solidFill>
              <a:srgbClr val="CFC8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475488" y="5074920"/>
            <a:ext cx="11237976" cy="1234440"/>
          </a:xfrm>
          <a:prstGeom prst="roundRect">
            <a:avLst>
              <a:gd name="adj" fmla="val 6000"/>
            </a:avLst>
          </a:prstGeom>
          <a:solidFill>
            <a:srgbClr val="EAE7F8"/>
          </a:solidFill>
          <a:ln w="9525">
            <a:solidFill>
              <a:srgbClr val="CFC8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749808" y="1517904"/>
            <a:ext cx="10698480" cy="2057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3D2E8C"/>
                </a:solidFill>
              </a:rPr>
              <a:t>① 参考实现真实运行输出（本工单完成态）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231D3D"/>
                </a:solidFill>
              </a:rPr>
              <a:t>=== 工单 M3-2 YOLO实时缺陷检测（零依赖检测器）· 完成态 ===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231D3D"/>
                </a:solidFill>
              </a:rPr>
              <a:t>输入: 64×64 产线图 · 真值框(x,y,w,h) = (30, 40, 8, 8)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231D3D"/>
                </a:solidFill>
              </a:rPr>
              <a:t>检测结果: 框=(32, 40, 8, 8)  缺陷分=0.658  IoU=0.60（目标≥0.5）  FPS≈5300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231D3D"/>
                </a:solidFill>
              </a:rPr>
              <a:t>滑窗尺寸 × 性能取舍表（YOLO调参的本质：感受野 vs 速度 vs 定位精度）: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231D3D"/>
                </a:solidFill>
              </a:rPr>
              <a:t>  win   IoU     FPS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231D3D"/>
                </a:solidFill>
              </a:rPr>
              <a:t>    4   0.25    1295  ×2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231D3D"/>
                </a:solidFill>
              </a:rPr>
              <a:t>   16   0.00   16855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231D3D"/>
                </a:solidFill>
              </a:rPr>
              <a:t>实测最优窗口 win=8（IoU=0.60）—— 窗口过小则单窗信噪比低易误检，过大则定位粗化，存在最优值；FPS 随窗口增大…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231D3D"/>
                </a:solidFill>
              </a:rPr>
              <a:t>真机路径: ultralytics YOLOv8n 离线权重（data/weights/yolov8n.onnx）→ 同口径 …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49808" y="3931920"/>
            <a:ext cx="1069848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3D2E8C"/>
                </a:solidFill>
              </a:rPr>
              <a:t>② 关键自检点（对照工单逐项核对）</a:t>
            </a:r>
          </a:p>
          <a:p>
            <a:pPr algn="l">
              <a:spcBef>
                <a:spcPts val="200"/>
              </a:spcBef>
            </a:pPr>
            <a:r>
              <a:rPr sz="1150" b="0">
                <a:solidFill>
                  <a:srgbClr val="231D3D"/>
                </a:solidFill>
              </a:rPr>
              <a:t>□ 代码从头跑到尾不报错（python xx.py 再跑一遍）</a:t>
            </a:r>
          </a:p>
          <a:p>
            <a:pPr algn="l">
              <a:spcBef>
                <a:spcPts val="100"/>
              </a:spcBef>
            </a:pPr>
            <a:r>
              <a:rPr sz="1150" b="0">
                <a:solidFill>
                  <a:srgbClr val="231D3D"/>
                </a:solidFill>
              </a:rPr>
              <a:t>□ 指标达标：与工单及格线逐项对齐（准确率/F1/耗时）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49808" y="5212080"/>
            <a:ext cx="1069848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3D2E8C"/>
                </a:solidFill>
              </a:rPr>
              <a:t>③ 提交与达标（过程性证据）</a:t>
            </a:r>
          </a:p>
          <a:p>
            <a:pPr algn="l">
              <a:spcBef>
                <a:spcPts val="200"/>
              </a:spcBef>
            </a:pPr>
            <a:r>
              <a:rPr sz="1100" b="0">
                <a:solidFill>
                  <a:srgbClr val="231D3D"/>
                </a:solidFill>
              </a:rPr>
              <a:t>达标线：D≥60 / C≥70 / B≥80 / A≥90　｜　提交：学号_姓名_工单号 + 运行截图 + 决策记录 + Git≥1次commit</a:t>
            </a:r>
          </a:p>
          <a:p>
            <a:pPr algn="l">
              <a:spcBef>
                <a:spcPts val="100"/>
              </a:spcBef>
            </a:pPr>
            <a:r>
              <a:rPr sz="1100" b="0">
                <a:solidFill>
                  <a:srgbClr val="5F5A7D"/>
                </a:solidFill>
              </a:rPr>
              <a:t>复核：自检 → 互检 → 师查（三层质检）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"/>
          </a:xfrm>
          <a:prstGeom prst="rect">
            <a:avLst/>
          </a:prstGeom>
          <a:solidFill>
            <a:srgbClr val="3D2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18872"/>
            <a:ext cx="676656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3D2E8C"/>
                </a:solidFill>
                <a:latin typeface="Microsoft YaHei"/>
                <a:ea typeface="Microsoft YaHei"/>
              </a:rPr>
              <a:t>分层任务</a:t>
            </a:r>
          </a:p>
        </p:txBody>
      </p:sp>
      <p:sp>
        <p:nvSpPr>
          <p:cNvPr id="4" name="Rectangle 3"/>
          <p:cNvSpPr/>
          <p:nvPr/>
        </p:nvSpPr>
        <p:spPr>
          <a:xfrm>
            <a:off x="475488" y="6473952"/>
            <a:ext cx="11240719" cy="9525"/>
          </a:xfrm>
          <a:prstGeom prst="rect">
            <a:avLst/>
          </a:prstGeom>
          <a:solidFill>
            <a:srgbClr val="EAE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75488" y="6455664"/>
            <a:ext cx="8229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5F5A7D"/>
                </a:solidFill>
                <a:latin typeface="Microsoft YaHei"/>
                <a:ea typeface="Microsoft YaHei"/>
              </a:rPr>
              <a:t>AI应用基础（48课时版） · V1 · W16-15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44607" y="6455664"/>
            <a:ext cx="1371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0">
                <a:solidFill>
                  <a:srgbClr val="5F5A7D"/>
                </a:solidFill>
                <a:latin typeface="Microsoft YaHei"/>
                <a:ea typeface="Microsoft YaHei"/>
              </a:rPr>
              <a:t>22 / 27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5488" y="274320"/>
            <a:ext cx="1458666" cy="253365"/>
          </a:xfrm>
          <a:prstGeom prst="roundRect">
            <a:avLst>
              <a:gd name="adj" fmla="val 50000"/>
            </a:avLst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5488" y="274320"/>
            <a:ext cx="1458666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A/B/C/D LAYERS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5488" y="585216"/>
            <a:ext cx="11240719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231D3D"/>
                </a:solidFill>
                <a:latin typeface="Microsoft YaHei"/>
                <a:ea typeface="Microsoft YaHei"/>
              </a:rPr>
              <a:t>同一工单，四条爬梯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" y="1060704"/>
            <a:ext cx="11240719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5F5A7D"/>
                </a:solidFill>
                <a:latin typeface="Microsoft YaHei"/>
                <a:ea typeface="Microsoft YaHei"/>
              </a:rPr>
              <a:t>按当前水平选起点，D层保底人人可交付，A层给足挑战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75488" y="1097280"/>
            <a:ext cx="1234440" cy="30480"/>
          </a:xfrm>
          <a:prstGeom prst="rect">
            <a:avLst/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75488" y="1389888"/>
            <a:ext cx="2686735" cy="46634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75488" y="1389888"/>
            <a:ext cx="2686735" cy="77724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8368" y="1481328"/>
            <a:ext cx="2320975" cy="36576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FFFFFF"/>
                </a:solidFill>
                <a:latin typeface="Microsoft YaHei"/>
                <a:ea typeface="Microsoft YaHei"/>
              </a:rPr>
              <a:t>A 层 · 挑战层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8368" y="2304288"/>
            <a:ext cx="2320975" cy="84124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>
                <a:solidFill>
                  <a:srgbClr val="231D3D"/>
                </a:solidFill>
                <a:latin typeface="Microsoft YaHei"/>
                <a:ea typeface="Microsoft YaHei"/>
              </a:rPr>
              <a:t>速度冲优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58368" y="3236976"/>
            <a:ext cx="1947875" cy="229235"/>
          </a:xfrm>
          <a:prstGeom prst="roundRect">
            <a:avLst>
              <a:gd name="adj" fmla="val 50000"/>
            </a:avLst>
          </a:prstGeom>
          <a:solidFill>
            <a:srgbClr val="EAE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8368" y="3236976"/>
            <a:ext cx="1947875" cy="22923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1">
                <a:solidFill>
                  <a:srgbClr val="231D3D"/>
                </a:solidFill>
                <a:latin typeface="Microsoft YaHei"/>
                <a:ea typeface="Microsoft YaHei"/>
              </a:rPr>
              <a:t>达标：mAP≥0.75或加速≥50%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8368" y="3730752"/>
            <a:ext cx="2320975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5F5A7D"/>
                </a:solidFill>
                <a:latin typeface="Microsoft YaHei"/>
                <a:ea typeface="Microsoft YaHei"/>
              </a:rPr>
              <a:t>· ONNX量化半精度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8368" y="4297680"/>
            <a:ext cx="2320975" cy="50292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5F5A7D"/>
                </a:solidFill>
                <a:latin typeface="Microsoft YaHei"/>
                <a:ea typeface="Microsoft YaHei"/>
              </a:rPr>
              <a:t>· 对比加速比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8368" y="4864608"/>
            <a:ext cx="2320975" cy="50292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5F5A7D"/>
                </a:solidFill>
                <a:latin typeface="Microsoft YaHei"/>
                <a:ea typeface="Microsoft YaHei"/>
              </a:rPr>
              <a:t>· 精度损失可控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8368" y="5577840"/>
            <a:ext cx="2320975" cy="45720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2000"/>
              </a:lnSpc>
            </a:pPr>
            <a:r>
              <a:rPr sz="950" b="0">
                <a:solidFill>
                  <a:srgbClr val="C0392B"/>
                </a:solidFill>
                <a:latin typeface="Microsoft YaHei"/>
                <a:ea typeface="Microsoft YaHei"/>
              </a:rPr>
              <a:t>卡壳&gt;10分钟→降B层，先拿过程分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326815" y="1389888"/>
            <a:ext cx="2686735" cy="46634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3326815" y="1389888"/>
            <a:ext cx="2686735" cy="777240"/>
          </a:xfrm>
          <a:prstGeom prst="rect">
            <a:avLst/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509695" y="1481328"/>
            <a:ext cx="2320975" cy="36576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FFFFFF"/>
                </a:solidFill>
                <a:latin typeface="Microsoft YaHei"/>
                <a:ea typeface="Microsoft YaHei"/>
              </a:rPr>
              <a:t>B 层 · 进阶层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509695" y="2304288"/>
            <a:ext cx="2320975" cy="84124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>
                <a:solidFill>
                  <a:srgbClr val="231D3D"/>
                </a:solidFill>
                <a:latin typeface="Microsoft YaHei"/>
                <a:ea typeface="Microsoft YaHei"/>
              </a:rPr>
              <a:t>权衡报告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3509695" y="3236976"/>
            <a:ext cx="1717675" cy="229235"/>
          </a:xfrm>
          <a:prstGeom prst="roundRect">
            <a:avLst>
              <a:gd name="adj" fmla="val 50000"/>
            </a:avLst>
          </a:prstGeom>
          <a:solidFill>
            <a:srgbClr val="EAE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509695" y="3236976"/>
            <a:ext cx="1717675" cy="22923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1">
                <a:solidFill>
                  <a:srgbClr val="231D3D"/>
                </a:solidFill>
                <a:latin typeface="Microsoft YaHei"/>
                <a:ea typeface="Microsoft YaHei"/>
              </a:rPr>
              <a:t>达标：给出推荐点及理由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509695" y="3730752"/>
            <a:ext cx="2320975" cy="50292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5F5A7D"/>
                </a:solidFill>
                <a:latin typeface="Microsoft YaHei"/>
                <a:ea typeface="Microsoft YaHei"/>
              </a:rPr>
              <a:t>· 业务代价假设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509695" y="4297680"/>
            <a:ext cx="2320975" cy="50292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5F5A7D"/>
                </a:solidFill>
                <a:latin typeface="Microsoft YaHei"/>
                <a:ea typeface="Microsoft YaHei"/>
              </a:rPr>
              <a:t>· 选工作点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509695" y="4864608"/>
            <a:ext cx="2320975" cy="50292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5F5A7D"/>
                </a:solidFill>
                <a:latin typeface="Microsoft YaHei"/>
                <a:ea typeface="Microsoft YaHei"/>
              </a:rPr>
              <a:t>· 节拍适配建议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509695" y="5577840"/>
            <a:ext cx="2320975" cy="45720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2000"/>
              </a:lnSpc>
            </a:pPr>
            <a:r>
              <a:rPr sz="950" b="0">
                <a:solidFill>
                  <a:srgbClr val="00A6A6"/>
                </a:solidFill>
                <a:latin typeface="Microsoft YaHei"/>
                <a:ea typeface="Microsoft YaHei"/>
              </a:rPr>
              <a:t>完成C层后冲刺：先跑通再优化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178143" y="1389888"/>
            <a:ext cx="2686735" cy="46634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178143" y="1389888"/>
            <a:ext cx="2686735" cy="777240"/>
          </a:xfrm>
          <a:prstGeom prst="rect">
            <a:avLst/>
          </a:prstGeom>
          <a:solidFill>
            <a:srgbClr val="3D2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361023" y="1481328"/>
            <a:ext cx="2320975" cy="36576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FFFFFF"/>
                </a:solidFill>
                <a:latin typeface="Microsoft YaHei"/>
                <a:ea typeface="Microsoft YaHei"/>
              </a:rPr>
              <a:t>C 层 · 基础层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361023" y="2304288"/>
            <a:ext cx="2320975" cy="84124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>
                <a:solidFill>
                  <a:srgbClr val="231D3D"/>
                </a:solidFill>
                <a:latin typeface="Microsoft YaHei"/>
                <a:ea typeface="Microsoft YaHei"/>
              </a:rPr>
              <a:t>双维扫描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6361023" y="3236976"/>
            <a:ext cx="1651172" cy="229235"/>
          </a:xfrm>
          <a:prstGeom prst="roundRect">
            <a:avLst>
              <a:gd name="adj" fmla="val 50000"/>
            </a:avLst>
          </a:prstGeom>
          <a:solidFill>
            <a:srgbClr val="EAE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361023" y="3236976"/>
            <a:ext cx="1651172" cy="22923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1">
                <a:solidFill>
                  <a:srgbClr val="231D3D"/>
                </a:solidFill>
                <a:latin typeface="Microsoft YaHei"/>
                <a:ea typeface="Microsoft YaHei"/>
              </a:rPr>
              <a:t>达标：mAP≥0.60表完整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361023" y="3730752"/>
            <a:ext cx="2320975" cy="50292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5F5A7D"/>
                </a:solidFill>
                <a:latin typeface="Microsoft YaHei"/>
                <a:ea typeface="Microsoft YaHei"/>
              </a:rPr>
              <a:t>· 阈值3档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361023" y="4297680"/>
            <a:ext cx="2320975" cy="50292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5F5A7D"/>
                </a:solidFill>
                <a:latin typeface="Microsoft YaHei"/>
                <a:ea typeface="Microsoft YaHei"/>
              </a:rPr>
              <a:t>· 尺寸2档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361023" y="4864608"/>
            <a:ext cx="2320975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5F5A7D"/>
                </a:solidFill>
                <a:latin typeface="Microsoft YaHei"/>
                <a:ea typeface="Microsoft YaHei"/>
              </a:rPr>
              <a:t>· 表化mAP和FPS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361023" y="5577840"/>
            <a:ext cx="2320975" cy="45720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2000"/>
              </a:lnSpc>
            </a:pPr>
            <a:r>
              <a:rPr sz="950" b="0">
                <a:solidFill>
                  <a:srgbClr val="3D2E8C"/>
                </a:solidFill>
                <a:latin typeface="Microsoft YaHei"/>
                <a:ea typeface="Microsoft YaHei"/>
              </a:rPr>
              <a:t>照示例改参数，跑通即得分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9029471" y="1389888"/>
            <a:ext cx="2686735" cy="46634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9029471" y="1389888"/>
            <a:ext cx="2686735" cy="777240"/>
          </a:xfrm>
          <a:prstGeom prst="rect">
            <a:avLst/>
          </a:prstGeom>
          <a:solidFill>
            <a:srgbClr val="3A4A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9212351" y="1481328"/>
            <a:ext cx="2320975" cy="36576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FFFFFF"/>
                </a:solidFill>
                <a:latin typeface="Microsoft YaHei"/>
                <a:ea typeface="Microsoft YaHei"/>
              </a:rPr>
              <a:t>D 层 · 保底层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212351" y="2304288"/>
            <a:ext cx="2320975" cy="84124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>
                <a:solidFill>
                  <a:srgbClr val="231D3D"/>
                </a:solidFill>
                <a:latin typeface="Microsoft YaHei"/>
                <a:ea typeface="Microsoft YaHei"/>
              </a:rPr>
              <a:t>默认参数推理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9212351" y="3236976"/>
            <a:ext cx="1433761" cy="229235"/>
          </a:xfrm>
          <a:prstGeom prst="roundRect">
            <a:avLst>
              <a:gd name="adj" fmla="val 50000"/>
            </a:avLst>
          </a:prstGeom>
          <a:solidFill>
            <a:srgbClr val="EAE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9212351" y="3236976"/>
            <a:ext cx="1433761" cy="22923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1">
                <a:solidFill>
                  <a:srgbClr val="231D3D"/>
                </a:solidFill>
                <a:latin typeface="Microsoft YaHei"/>
                <a:ea typeface="Microsoft YaHei"/>
              </a:rPr>
              <a:t>达标：基线mAP有数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212351" y="3730752"/>
            <a:ext cx="2320975" cy="50292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5F5A7D"/>
                </a:solidFill>
                <a:latin typeface="Microsoft YaHei"/>
                <a:ea typeface="Microsoft YaHei"/>
              </a:rPr>
              <a:t>· 加载预训练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212351" y="4297680"/>
            <a:ext cx="2320975" cy="50292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5F5A7D"/>
                </a:solidFill>
                <a:latin typeface="Microsoft YaHei"/>
                <a:ea typeface="Microsoft YaHei"/>
              </a:rPr>
              <a:t>· 跑测试集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212351" y="4864608"/>
            <a:ext cx="2320975" cy="50292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5F5A7D"/>
                </a:solidFill>
                <a:latin typeface="Microsoft YaHei"/>
                <a:ea typeface="Microsoft YaHei"/>
              </a:rPr>
              <a:t>· 记录mAP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212351" y="5577840"/>
            <a:ext cx="2320975" cy="45720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2000"/>
              </a:lnSpc>
            </a:pPr>
            <a:r>
              <a:rPr sz="950" b="0">
                <a:solidFill>
                  <a:srgbClr val="3A4A63"/>
                </a:solidFill>
                <a:latin typeface="Microsoft YaHei"/>
                <a:ea typeface="Microsoft YaHei"/>
              </a:rPr>
              <a:t>逐行跟打示例，跑通就是胜利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"/>
          </a:xfrm>
          <a:prstGeom prst="rect">
            <a:avLst/>
          </a:prstGeom>
          <a:solidFill>
            <a:srgbClr val="3D2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18872"/>
            <a:ext cx="676656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3D2E8C"/>
                </a:solidFill>
                <a:latin typeface="Microsoft YaHei"/>
                <a:ea typeface="Microsoft YaHei"/>
              </a:rPr>
              <a:t>方案决策</a:t>
            </a:r>
          </a:p>
        </p:txBody>
      </p:sp>
      <p:sp>
        <p:nvSpPr>
          <p:cNvPr id="4" name="Rectangle 3"/>
          <p:cNvSpPr/>
          <p:nvPr/>
        </p:nvSpPr>
        <p:spPr>
          <a:xfrm>
            <a:off x="475488" y="6473952"/>
            <a:ext cx="11240719" cy="9525"/>
          </a:xfrm>
          <a:prstGeom prst="rect">
            <a:avLst/>
          </a:prstGeom>
          <a:solidFill>
            <a:srgbClr val="EAE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75488" y="6455664"/>
            <a:ext cx="8229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5F5A7D"/>
                </a:solidFill>
                <a:latin typeface="Microsoft YaHei"/>
                <a:ea typeface="Microsoft YaHei"/>
              </a:rPr>
              <a:t>AI应用基础（48课时版） · V1 · W16-15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44607" y="6455664"/>
            <a:ext cx="1371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0">
                <a:solidFill>
                  <a:srgbClr val="5F5A7D"/>
                </a:solidFill>
                <a:latin typeface="Microsoft YaHei"/>
                <a:ea typeface="Microsoft YaHei"/>
              </a:rPr>
              <a:t>23 / 27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5488" y="274320"/>
            <a:ext cx="1580227" cy="253365"/>
          </a:xfrm>
          <a:prstGeom prst="roundRect">
            <a:avLst>
              <a:gd name="adj" fmla="val 50000"/>
            </a:avLst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5488" y="274320"/>
            <a:ext cx="1580227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DECISION MATRIX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5488" y="585216"/>
            <a:ext cx="11240719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231D3D"/>
                </a:solidFill>
                <a:latin typeface="Microsoft YaHei"/>
                <a:ea typeface="Microsoft YaHei"/>
              </a:rPr>
              <a:t>YOLO实时缺陷检测：备选方案决策矩阵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" y="1060704"/>
            <a:ext cx="11240719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5F5A7D"/>
                </a:solidFill>
                <a:latin typeface="Microsoft YaHei"/>
                <a:ea typeface="Microsoft YaHei"/>
              </a:rPr>
              <a:t>工程不是选最好的，是选当前约束下最划算的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75488" y="1097280"/>
            <a:ext cx="1234440" cy="30480"/>
          </a:xfrm>
          <a:prstGeom prst="rect">
            <a:avLst/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75488" y="1417320"/>
            <a:ext cx="11240719" cy="475488"/>
          </a:xfrm>
          <a:prstGeom prst="roundRect">
            <a:avLst>
              <a:gd name="adj" fmla="val 5500"/>
            </a:avLst>
          </a:prstGeom>
          <a:solidFill>
            <a:srgbClr val="3D2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85216" y="1508760"/>
            <a:ext cx="2065263" cy="329184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Microsoft YaHei"/>
                <a:ea typeface="Microsoft YaHei"/>
              </a:rPr>
              <a:t>备选方案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833359" y="1508760"/>
            <a:ext cx="2065263" cy="329184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Microsoft YaHei"/>
                <a:ea typeface="Microsoft YaHei"/>
              </a:rPr>
              <a:t>可行性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81503" y="1508760"/>
            <a:ext cx="2065263" cy="329184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Microsoft YaHei"/>
                <a:ea typeface="Microsoft YaHei"/>
              </a:rPr>
              <a:t>达标概率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29647" y="1508760"/>
            <a:ext cx="2065263" cy="329184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Microsoft YaHei"/>
                <a:ea typeface="Microsoft YaHei"/>
              </a:rPr>
              <a:t>工时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577791" y="1508760"/>
            <a:ext cx="2065263" cy="329184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Microsoft YaHei"/>
                <a:ea typeface="Microsoft YaHei"/>
              </a:rPr>
              <a:t>结论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75488" y="1892808"/>
            <a:ext cx="11240719" cy="10515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E3E8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03504" y="1947672"/>
            <a:ext cx="2028687" cy="941832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231D3D"/>
                </a:solidFill>
                <a:latin typeface="Microsoft YaHei"/>
                <a:ea typeface="Microsoft YaHei"/>
              </a:rPr>
              <a:t>方案A：按工单主线（starter起步）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851647" y="1947672"/>
            <a:ext cx="2028687" cy="941832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231D3D"/>
                </a:solidFill>
                <a:latin typeface="Microsoft YaHei"/>
                <a:ea typeface="Microsoft YaHei"/>
              </a:rPr>
              <a:t>高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99791" y="1947672"/>
            <a:ext cx="2028687" cy="941832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231D3D"/>
                </a:solidFill>
                <a:latin typeface="Microsoft YaHei"/>
                <a:ea typeface="Microsoft YaHei"/>
              </a:rPr>
              <a:t>高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347935" y="1947672"/>
            <a:ext cx="2028687" cy="941832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231D3D"/>
                </a:solidFill>
                <a:latin typeface="Microsoft YaHei"/>
                <a:ea typeface="Microsoft YaHei"/>
              </a:rPr>
              <a:t>适中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596079" y="1947672"/>
            <a:ext cx="2028687" cy="941832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00A6A6"/>
                </a:solidFill>
                <a:latin typeface="Microsoft YaHei"/>
                <a:ea typeface="Microsoft YaHei"/>
              </a:rPr>
              <a:t>推荐主干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75488" y="3008376"/>
            <a:ext cx="11240719" cy="1051560"/>
          </a:xfrm>
          <a:prstGeom prst="roundRect">
            <a:avLst>
              <a:gd name="adj" fmla="val 5500"/>
            </a:avLst>
          </a:prstGeom>
          <a:solidFill>
            <a:srgbClr val="F5F4FB"/>
          </a:solidFill>
          <a:ln w="9525">
            <a:solidFill>
              <a:srgbClr val="E3E8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03504" y="3063240"/>
            <a:ext cx="2028687" cy="941832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231D3D"/>
                </a:solidFill>
                <a:latin typeface="Microsoft YaHei"/>
                <a:ea typeface="Microsoft YaHei"/>
              </a:rPr>
              <a:t>方案B：自选技术路线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851647" y="3063240"/>
            <a:ext cx="2028687" cy="941832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231D3D"/>
                </a:solidFill>
                <a:latin typeface="Microsoft YaHei"/>
                <a:ea typeface="Microsoft YaHei"/>
              </a:rPr>
              <a:t>中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099791" y="3063240"/>
            <a:ext cx="2028687" cy="941832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231D3D"/>
                </a:solidFill>
                <a:latin typeface="Microsoft YaHei"/>
                <a:ea typeface="Microsoft YaHei"/>
              </a:rPr>
              <a:t>中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347935" y="3063240"/>
            <a:ext cx="2028687" cy="941832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231D3D"/>
                </a:solidFill>
                <a:latin typeface="Microsoft YaHei"/>
                <a:ea typeface="Microsoft YaHei"/>
              </a:rPr>
              <a:t>多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596079" y="3063240"/>
            <a:ext cx="2028687" cy="941832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00A6A6"/>
                </a:solidFill>
                <a:latin typeface="Microsoft YaHei"/>
                <a:ea typeface="Microsoft YaHei"/>
              </a:rPr>
              <a:t>A层可选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75488" y="4123944"/>
            <a:ext cx="11240719" cy="10515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E3E8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03504" y="4178808"/>
            <a:ext cx="2028687" cy="941832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231D3D"/>
                </a:solidFill>
                <a:latin typeface="Microsoft YaHei"/>
                <a:ea typeface="Microsoft YaHei"/>
              </a:rPr>
              <a:t>方案C：直接改现成项目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851647" y="4178808"/>
            <a:ext cx="2028687" cy="941832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231D3D"/>
                </a:solidFill>
                <a:latin typeface="Microsoft YaHei"/>
                <a:ea typeface="Microsoft YaHei"/>
              </a:rPr>
              <a:t>低（无过程分）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099791" y="4178808"/>
            <a:ext cx="2028687" cy="941832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231D3D"/>
                </a:solidFill>
                <a:latin typeface="Microsoft YaHei"/>
                <a:ea typeface="Microsoft YaHei"/>
              </a:rPr>
              <a:t>低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347935" y="4178808"/>
            <a:ext cx="2028687" cy="941832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231D3D"/>
                </a:solidFill>
                <a:latin typeface="Microsoft YaHei"/>
                <a:ea typeface="Microsoft YaHei"/>
              </a:rPr>
              <a:t>少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596079" y="4178808"/>
            <a:ext cx="2028687" cy="941832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00A6A6"/>
                </a:solidFill>
                <a:latin typeface="Microsoft YaHei"/>
                <a:ea typeface="Microsoft YaHei"/>
              </a:rPr>
              <a:t>不建议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475488" y="5285232"/>
            <a:ext cx="11240719" cy="685800"/>
          </a:xfrm>
          <a:prstGeom prst="roundRect">
            <a:avLst>
              <a:gd name="adj" fmla="val 5500"/>
            </a:avLst>
          </a:prstGeom>
          <a:solidFill>
            <a:srgbClr val="EAE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04088" y="5385816"/>
            <a:ext cx="10783519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0">
                <a:solidFill>
                  <a:srgbClr val="3D2E8C"/>
                </a:solidFill>
                <a:latin typeface="Microsoft YaHei"/>
                <a:ea typeface="Microsoft YaHei"/>
              </a:rPr>
              <a:t>决策纪律：组内打分3分钟，结论与理由写入工单决策记录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"/>
          </a:xfrm>
          <a:prstGeom prst="rect">
            <a:avLst/>
          </a:prstGeom>
          <a:solidFill>
            <a:srgbClr val="3D2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18872"/>
            <a:ext cx="676656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3D2E8C"/>
                </a:solidFill>
                <a:latin typeface="Microsoft YaHei"/>
                <a:ea typeface="Microsoft YaHei"/>
              </a:rPr>
              <a:t>课堂检查</a:t>
            </a:r>
          </a:p>
        </p:txBody>
      </p:sp>
      <p:sp>
        <p:nvSpPr>
          <p:cNvPr id="4" name="Rectangle 3"/>
          <p:cNvSpPr/>
          <p:nvPr/>
        </p:nvSpPr>
        <p:spPr>
          <a:xfrm>
            <a:off x="475488" y="6473952"/>
            <a:ext cx="11240719" cy="9525"/>
          </a:xfrm>
          <a:prstGeom prst="rect">
            <a:avLst/>
          </a:prstGeom>
          <a:solidFill>
            <a:srgbClr val="EAE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75488" y="6455664"/>
            <a:ext cx="8229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5F5A7D"/>
                </a:solidFill>
                <a:latin typeface="Microsoft YaHei"/>
                <a:ea typeface="Microsoft YaHei"/>
              </a:rPr>
              <a:t>AI应用基础（48课时版） · V1 · W16-15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44607" y="6455664"/>
            <a:ext cx="1371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0">
                <a:solidFill>
                  <a:srgbClr val="5F5A7D"/>
                </a:solidFill>
                <a:latin typeface="Microsoft YaHei"/>
                <a:ea typeface="Microsoft YaHei"/>
              </a:rPr>
              <a:t>24 / 27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5488" y="274320"/>
            <a:ext cx="1475628" cy="253365"/>
          </a:xfrm>
          <a:prstGeom prst="roundRect">
            <a:avLst>
              <a:gd name="adj" fmla="val 50000"/>
            </a:avLst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5488" y="274320"/>
            <a:ext cx="1475628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CHECK · 当堂验收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5488" y="585216"/>
            <a:ext cx="11240719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231D3D"/>
                </a:solidFill>
                <a:latin typeface="Microsoft YaHei"/>
                <a:ea typeface="Microsoft YaHei"/>
              </a:rPr>
              <a:t>做完不算完，验过才算数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" y="1060704"/>
            <a:ext cx="11240719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5F5A7D"/>
                </a:solidFill>
                <a:latin typeface="Microsoft YaHei"/>
                <a:ea typeface="Microsoft YaHei"/>
              </a:rPr>
              <a:t>教师抽查 + 同桌互查 + 运行截图三选二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75488" y="1097280"/>
            <a:ext cx="1234440" cy="30480"/>
          </a:xfrm>
          <a:prstGeom prst="rect">
            <a:avLst/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75488" y="1417320"/>
            <a:ext cx="6309360" cy="129844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94944" y="1545336"/>
            <a:ext cx="1051560" cy="253365"/>
          </a:xfrm>
          <a:prstGeom prst="roundRect">
            <a:avLst>
              <a:gd name="adj" fmla="val 50000"/>
            </a:avLst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94944" y="1545336"/>
            <a:ext cx="1051560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检查点 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4944" y="1856232"/>
            <a:ext cx="5852160" cy="54864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0000"/>
              </a:lnSpc>
            </a:pPr>
            <a:r>
              <a:rPr sz="1250" b="0">
                <a:solidFill>
                  <a:srgbClr val="231D3D"/>
                </a:solidFill>
                <a:latin typeface="Microsoft YaHei"/>
                <a:ea typeface="Microsoft YaHei"/>
              </a:rPr>
              <a:t>W16课前测①：本课工单M3-2的及格线是什么？（答：mAP≥0.60+FPS表完整）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4944" y="2423160"/>
            <a:ext cx="585216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5F5A7D"/>
                </a:solidFill>
                <a:latin typeface="Microsoft YaHei"/>
                <a:ea typeface="Microsoft YaHei"/>
              </a:rPr>
              <a:t>提示：答案都在本节'四要素详解'页——翻回去指给同桌看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75488" y="2862072"/>
            <a:ext cx="6309360" cy="129844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94944" y="2990088"/>
            <a:ext cx="1051560" cy="253365"/>
          </a:xfrm>
          <a:prstGeom prst="roundRect">
            <a:avLst>
              <a:gd name="adj" fmla="val 50000"/>
            </a:avLst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94944" y="2990088"/>
            <a:ext cx="1051560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检查点 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94944" y="3300984"/>
            <a:ext cx="5852160" cy="54864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0000"/>
              </a:lnSpc>
            </a:pPr>
            <a:r>
              <a:rPr sz="1250" b="0">
                <a:solidFill>
                  <a:srgbClr val="231D3D"/>
                </a:solidFill>
                <a:latin typeface="Microsoft YaHei"/>
                <a:ea typeface="Microsoft YaHei"/>
              </a:rPr>
              <a:t>W16课前测②：'检测头直观'用一句话说说你的理解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94944" y="3867912"/>
            <a:ext cx="585216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5F5A7D"/>
                </a:solidFill>
                <a:latin typeface="Microsoft YaHei"/>
                <a:ea typeface="Microsoft YaHei"/>
              </a:rPr>
              <a:t>提示：答案都在本节'四要素详解'页——翻回去指给同桌看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059168" y="1417320"/>
            <a:ext cx="4657039" cy="2615184"/>
          </a:xfrm>
          <a:prstGeom prst="roundRect">
            <a:avLst>
              <a:gd name="adj" fmla="val 5500"/>
            </a:avLst>
          </a:prstGeom>
          <a:solidFill>
            <a:srgbClr val="EAE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296912" y="1536192"/>
            <a:ext cx="4199839" cy="36576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3D2E8C"/>
                </a:solidFill>
                <a:latin typeface="Microsoft YaHei"/>
                <a:ea typeface="Microsoft YaHei"/>
              </a:rPr>
              <a:t>当堂评分构成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296912" y="1993392"/>
            <a:ext cx="1920240" cy="274320"/>
          </a:xfrm>
          <a:prstGeom prst="rect">
            <a:avLst/>
          </a:prstGeom>
          <a:solidFill>
            <a:srgbClr val="D8E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7296912" y="1993392"/>
            <a:ext cx="768096" cy="274320"/>
          </a:xfrm>
          <a:prstGeom prst="rect">
            <a:avLst/>
          </a:prstGeom>
          <a:solidFill>
            <a:srgbClr val="3D2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345168" y="1947672"/>
            <a:ext cx="2096719" cy="36576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231D3D"/>
                </a:solidFill>
                <a:latin typeface="Microsoft YaHei"/>
                <a:ea typeface="Microsoft YaHei"/>
              </a:rPr>
              <a:t>运行通过 40%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296912" y="2450592"/>
            <a:ext cx="1920240" cy="274320"/>
          </a:xfrm>
          <a:prstGeom prst="rect">
            <a:avLst/>
          </a:prstGeom>
          <a:solidFill>
            <a:srgbClr val="D8E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296912" y="2450592"/>
            <a:ext cx="384048" cy="274320"/>
          </a:xfrm>
          <a:prstGeom prst="rect">
            <a:avLst/>
          </a:prstGeom>
          <a:solidFill>
            <a:srgbClr val="3D2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345168" y="2404872"/>
            <a:ext cx="2096719" cy="36576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231D3D"/>
                </a:solidFill>
                <a:latin typeface="Microsoft YaHei"/>
                <a:ea typeface="Microsoft YaHei"/>
              </a:rPr>
              <a:t>规范与注释 20%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296912" y="2907792"/>
            <a:ext cx="1920240" cy="274320"/>
          </a:xfrm>
          <a:prstGeom prst="rect">
            <a:avLst/>
          </a:prstGeom>
          <a:solidFill>
            <a:srgbClr val="D8E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7296912" y="2907792"/>
            <a:ext cx="384048" cy="274320"/>
          </a:xfrm>
          <a:prstGeom prst="rect">
            <a:avLst/>
          </a:prstGeom>
          <a:solidFill>
            <a:srgbClr val="3D2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345168" y="2862072"/>
            <a:ext cx="2096719" cy="36576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231D3D"/>
                </a:solidFill>
                <a:latin typeface="Microsoft YaHei"/>
                <a:ea typeface="Microsoft YaHei"/>
              </a:rPr>
              <a:t>决策记录 20%</a:t>
            </a:r>
          </a:p>
        </p:txBody>
      </p:sp>
      <p:sp>
        <p:nvSpPr>
          <p:cNvPr id="33" name="Rectangle 32"/>
          <p:cNvSpPr/>
          <p:nvPr/>
        </p:nvSpPr>
        <p:spPr>
          <a:xfrm>
            <a:off x="7296912" y="3364992"/>
            <a:ext cx="1920240" cy="274320"/>
          </a:xfrm>
          <a:prstGeom prst="rect">
            <a:avLst/>
          </a:prstGeom>
          <a:solidFill>
            <a:srgbClr val="D8E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7296912" y="3364992"/>
            <a:ext cx="384048" cy="274320"/>
          </a:xfrm>
          <a:prstGeom prst="rect">
            <a:avLst/>
          </a:prstGeom>
          <a:solidFill>
            <a:srgbClr val="3D2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9345168" y="3319272"/>
            <a:ext cx="2096719" cy="36576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231D3D"/>
                </a:solidFill>
                <a:latin typeface="Microsoft YaHei"/>
                <a:ea typeface="Microsoft YaHei"/>
              </a:rPr>
              <a:t>互查反馈 20%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296912" y="3840480"/>
            <a:ext cx="4199839" cy="36576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F5A7D"/>
                </a:solidFill>
                <a:latin typeface="Microsoft YaHei"/>
                <a:ea typeface="Microsoft YaHei"/>
              </a:rPr>
              <a:t>未过怎么办：当堂改→教师复核→记录到错题本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475488" y="4370832"/>
            <a:ext cx="11240719" cy="960120"/>
          </a:xfrm>
          <a:prstGeom prst="roundRect">
            <a:avLst>
              <a:gd name="adj" fmla="val 5500"/>
            </a:avLst>
          </a:prstGeom>
          <a:solidFill>
            <a:srgbClr val="241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49808" y="4498848"/>
            <a:ext cx="10881360" cy="713232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1">
                <a:solidFill>
                  <a:srgbClr val="D8E1EC"/>
                </a:solidFill>
                <a:latin typeface="Microsoft YaHei"/>
                <a:ea typeface="Microsoft YaHei"/>
              </a:rPr>
              <a:t>及格线：</a:t>
            </a:r>
            <a:r>
              <a:rPr sz="1250" b="0">
                <a:solidFill>
                  <a:srgbClr val="FFFFFF"/>
                </a:solidFill>
                <a:latin typeface="Microsoft YaHei"/>
                <a:ea typeface="Microsoft YaHei"/>
              </a:rPr>
              <a:t>mAP≥0.60+FPS表完整</a:t>
            </a:r>
            <a:r>
              <a:rPr sz="1250" b="1">
                <a:solidFill>
                  <a:srgbClr val="D8E1EC"/>
                </a:solidFill>
                <a:latin typeface="Microsoft YaHei"/>
                <a:ea typeface="Microsoft YaHei"/>
              </a:rPr>
              <a:t>
优秀线：</a:t>
            </a:r>
            <a:r>
              <a:rPr sz="1250" b="0">
                <a:solidFill>
                  <a:srgbClr val="F5C08A"/>
                </a:solidFill>
                <a:latin typeface="Microsoft YaHei"/>
                <a:ea typeface="Microsoft YaHei"/>
              </a:rPr>
              <a:t>mAP≥0.75 / 给出产线节拍适配方案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"/>
          </a:xfrm>
          <a:prstGeom prst="rect">
            <a:avLst/>
          </a:prstGeom>
          <a:solidFill>
            <a:srgbClr val="3D2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18872"/>
            <a:ext cx="676656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3D2E8C"/>
                </a:solidFill>
                <a:latin typeface="Microsoft YaHei"/>
                <a:ea typeface="Microsoft YaHei"/>
              </a:rPr>
              <a:t>本课小结</a:t>
            </a:r>
          </a:p>
        </p:txBody>
      </p:sp>
      <p:sp>
        <p:nvSpPr>
          <p:cNvPr id="4" name="Rectangle 3"/>
          <p:cNvSpPr/>
          <p:nvPr/>
        </p:nvSpPr>
        <p:spPr>
          <a:xfrm>
            <a:off x="475488" y="6473952"/>
            <a:ext cx="11240719" cy="9525"/>
          </a:xfrm>
          <a:prstGeom prst="rect">
            <a:avLst/>
          </a:prstGeom>
          <a:solidFill>
            <a:srgbClr val="EAE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75488" y="6455664"/>
            <a:ext cx="8229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5F5A7D"/>
                </a:solidFill>
                <a:latin typeface="Microsoft YaHei"/>
                <a:ea typeface="Microsoft YaHei"/>
              </a:rPr>
              <a:t>AI应用基础（48课时版） · V1 · W16-15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44607" y="6455664"/>
            <a:ext cx="1371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0">
                <a:solidFill>
                  <a:srgbClr val="5F5A7D"/>
                </a:solidFill>
                <a:latin typeface="Microsoft YaHei"/>
                <a:ea typeface="Microsoft YaHei"/>
              </a:rPr>
              <a:t>25 / 27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5488" y="274320"/>
            <a:ext cx="924359" cy="253365"/>
          </a:xfrm>
          <a:prstGeom prst="roundRect">
            <a:avLst>
              <a:gd name="adj" fmla="val 50000"/>
            </a:avLst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5488" y="274320"/>
            <a:ext cx="924359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SUMMARY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5488" y="585216"/>
            <a:ext cx="11240719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231D3D"/>
                </a:solidFill>
                <a:latin typeface="Microsoft YaHei"/>
                <a:ea typeface="Microsoft YaHei"/>
              </a:rPr>
              <a:t>一张图带走本课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" y="1060704"/>
            <a:ext cx="11240719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5F5A7D"/>
                </a:solidFill>
                <a:latin typeface="Microsoft YaHei"/>
                <a:ea typeface="Microsoft YaHei"/>
              </a:rPr>
              <a:t>讲给自己听一遍，才算真的学会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75488" y="1097280"/>
            <a:ext cx="1234440" cy="30480"/>
          </a:xfrm>
          <a:prstGeom prst="rect">
            <a:avLst/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544939" y="1389888"/>
            <a:ext cx="7450618" cy="3986784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12700">
            <a:solidFill>
              <a:srgbClr val="D5DB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81b0bfea2c49449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2371" y="1417320"/>
            <a:ext cx="7395754" cy="393192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8293608" y="1481328"/>
            <a:ext cx="3422599" cy="41148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3D2E8C"/>
                </a:solidFill>
                <a:latin typeface="Microsoft YaHei"/>
                <a:ea typeface="Microsoft YaHei"/>
              </a:rPr>
              <a:t>三句话总结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93608" y="1920240"/>
            <a:ext cx="3422599" cy="896112"/>
          </a:xfrm>
          <a:prstGeom prst="roundRect">
            <a:avLst>
              <a:gd name="adj" fmla="val 5500"/>
            </a:avLst>
          </a:prstGeom>
          <a:solidFill>
            <a:srgbClr val="EAE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8439912" y="2029968"/>
            <a:ext cx="310896" cy="241300"/>
          </a:xfrm>
          <a:prstGeom prst="roundRect">
            <a:avLst>
              <a:gd name="adj" fmla="val 50000"/>
            </a:avLst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439912" y="2029968"/>
            <a:ext cx="310896" cy="2413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Microsoft YaHei"/>
                <a:ea typeface="Microsoft YaHei"/>
              </a:rPr>
              <a:t>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823960" y="2011680"/>
            <a:ext cx="2709367" cy="64008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6000"/>
              </a:lnSpc>
            </a:pPr>
            <a:r>
              <a:rPr sz="1200" b="0">
                <a:solidFill>
                  <a:srgbClr val="231D3D"/>
                </a:solidFill>
                <a:latin typeface="Microsoft YaHei"/>
                <a:ea typeface="Microsoft YaHei"/>
              </a:rPr>
              <a:t>检测=分类+定位：不只说'有缺陷'还要框出'在哪'——一次前向出…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293608" y="2907792"/>
            <a:ext cx="3422599" cy="896112"/>
          </a:xfrm>
          <a:prstGeom prst="roundRect">
            <a:avLst>
              <a:gd name="adj" fmla="val 5500"/>
            </a:avLst>
          </a:prstGeom>
          <a:solidFill>
            <a:srgbClr val="EAE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8439912" y="3017520"/>
            <a:ext cx="310896" cy="241300"/>
          </a:xfrm>
          <a:prstGeom prst="roundRect">
            <a:avLst>
              <a:gd name="adj" fmla="val 50000"/>
            </a:avLst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439912" y="3017520"/>
            <a:ext cx="310896" cy="2413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Microsoft YaHei"/>
                <a:ea typeface="Microsoft YaHei"/>
              </a:rPr>
              <a:t>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823960" y="2999232"/>
            <a:ext cx="2709367" cy="64008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6000"/>
              </a:lnSpc>
            </a:pPr>
            <a:r>
              <a:rPr sz="1200" b="0">
                <a:solidFill>
                  <a:srgbClr val="231D3D"/>
                </a:solidFill>
                <a:latin typeface="Microsoft YaHei"/>
                <a:ea typeface="Microsoft YaHei"/>
              </a:rPr>
              <a:t>置信度阈值：低阈值召回高误检多、高阈值反之——业务定夺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293608" y="3895344"/>
            <a:ext cx="3422599" cy="896112"/>
          </a:xfrm>
          <a:prstGeom prst="roundRect">
            <a:avLst>
              <a:gd name="adj" fmla="val 5500"/>
            </a:avLst>
          </a:prstGeom>
          <a:solidFill>
            <a:srgbClr val="EAE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8439912" y="4005072"/>
            <a:ext cx="310896" cy="241300"/>
          </a:xfrm>
          <a:prstGeom prst="roundRect">
            <a:avLst>
              <a:gd name="adj" fmla="val 50000"/>
            </a:avLst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439912" y="4005072"/>
            <a:ext cx="310896" cy="2413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Microsoft YaHei"/>
                <a:ea typeface="Microsoft YaHei"/>
              </a:rPr>
              <a:t>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823960" y="3986784"/>
            <a:ext cx="2709367" cy="64008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6000"/>
              </a:lnSpc>
            </a:pPr>
            <a:r>
              <a:rPr sz="1200" b="0">
                <a:solidFill>
                  <a:srgbClr val="231D3D"/>
                </a:solidFill>
                <a:latin typeface="Microsoft YaHei"/>
                <a:ea typeface="Microsoft YaHei"/>
              </a:rPr>
              <a:t>输入尺寸权衡：640到320速度翻倍精度让步——像素即算力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293608" y="4882896"/>
            <a:ext cx="3422599" cy="1005840"/>
          </a:xfrm>
          <a:prstGeom prst="roundRect">
            <a:avLst>
              <a:gd name="adj" fmla="val 5500"/>
            </a:avLst>
          </a:prstGeom>
          <a:solidFill>
            <a:srgbClr val="241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476488" y="4974336"/>
            <a:ext cx="3056839" cy="31089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00A6A6"/>
                </a:solidFill>
                <a:latin typeface="Microsoft YaHei"/>
                <a:ea typeface="Microsoft YaHei"/>
              </a:rPr>
              <a:t>下一步行动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476488" y="5285232"/>
            <a:ext cx="3056839" cy="54864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8000"/>
              </a:lnSpc>
            </a:pPr>
            <a:r>
              <a:rPr sz="1050" b="0">
                <a:solidFill>
                  <a:srgbClr val="D8E1EC"/>
                </a:solidFill>
                <a:latin typeface="Microsoft YaHei"/>
                <a:ea typeface="Microsoft YaHei"/>
              </a:rPr>
              <a:t>①工单M3-2收尾跑绿并上传 ②错题本记1条 ③预习微课+导学单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"/>
          </a:xfrm>
          <a:prstGeom prst="rect">
            <a:avLst/>
          </a:prstGeom>
          <a:solidFill>
            <a:srgbClr val="3D2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18872"/>
            <a:ext cx="676656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3D2E8C"/>
                </a:solidFill>
                <a:latin typeface="Microsoft YaHei"/>
                <a:ea typeface="Microsoft YaHei"/>
              </a:rPr>
              <a:t>课后与预告</a:t>
            </a:r>
          </a:p>
        </p:txBody>
      </p:sp>
      <p:sp>
        <p:nvSpPr>
          <p:cNvPr id="4" name="Rectangle 3"/>
          <p:cNvSpPr/>
          <p:nvPr/>
        </p:nvSpPr>
        <p:spPr>
          <a:xfrm>
            <a:off x="475488" y="6473952"/>
            <a:ext cx="11240719" cy="9525"/>
          </a:xfrm>
          <a:prstGeom prst="rect">
            <a:avLst/>
          </a:prstGeom>
          <a:solidFill>
            <a:srgbClr val="EAE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75488" y="6455664"/>
            <a:ext cx="8229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5F5A7D"/>
                </a:solidFill>
                <a:latin typeface="Microsoft YaHei"/>
                <a:ea typeface="Microsoft YaHei"/>
              </a:rPr>
              <a:t>AI应用基础（48课时版） · V1 · W16-15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44607" y="6455664"/>
            <a:ext cx="1371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0">
                <a:solidFill>
                  <a:srgbClr val="5F5A7D"/>
                </a:solidFill>
                <a:latin typeface="Microsoft YaHei"/>
                <a:ea typeface="Microsoft YaHei"/>
              </a:rPr>
              <a:t>26 / 27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5488" y="274320"/>
            <a:ext cx="1523687" cy="253365"/>
          </a:xfrm>
          <a:prstGeom prst="roundRect">
            <a:avLst>
              <a:gd name="adj" fmla="val 50000"/>
            </a:avLst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5488" y="274320"/>
            <a:ext cx="1523687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NEXT &amp; HOMEWORK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5488" y="585216"/>
            <a:ext cx="11240719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231D3D"/>
                </a:solidFill>
                <a:latin typeface="Microsoft YaHei"/>
                <a:ea typeface="Microsoft YaHei"/>
              </a:rPr>
              <a:t>下课之后，上课之前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" y="1060704"/>
            <a:ext cx="11240719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5F5A7D"/>
                </a:solidFill>
                <a:latin typeface="Microsoft YaHei"/>
                <a:ea typeface="Microsoft YaHei"/>
              </a:rPr>
              <a:t>作业当堂布置当堂记：写进工单本，别靠脑子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75488" y="1097280"/>
            <a:ext cx="1234440" cy="30480"/>
          </a:xfrm>
          <a:prstGeom prst="rect">
            <a:avLst/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75488" y="1389888"/>
            <a:ext cx="5852160" cy="3977639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1520" y="1517904"/>
            <a:ext cx="5303520" cy="36576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3D2E8C"/>
                </a:solidFill>
                <a:latin typeface="Microsoft YaHei"/>
                <a:ea typeface="Microsoft YaHei"/>
              </a:rPr>
              <a:t>今日作业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" y="1956816"/>
            <a:ext cx="292608" cy="241300"/>
          </a:xfrm>
          <a:prstGeom prst="roundRect">
            <a:avLst>
              <a:gd name="adj" fmla="val 50000"/>
            </a:avLst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31520" y="1956816"/>
            <a:ext cx="292608" cy="2413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Microsoft YaHei"/>
                <a:ea typeface="Microsoft YaHei"/>
              </a:rPr>
              <a:t>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61288" y="1938528"/>
            <a:ext cx="4937760" cy="530352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8000"/>
              </a:lnSpc>
            </a:pPr>
            <a:r>
              <a:rPr sz="1300" b="0">
                <a:solidFill>
                  <a:srgbClr val="231D3D"/>
                </a:solidFill>
                <a:latin typeface="Microsoft YaHei"/>
                <a:ea typeface="Microsoft YaHei"/>
              </a:rPr>
              <a:t>工单M3-2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31520" y="4526280"/>
            <a:ext cx="5349240" cy="749808"/>
          </a:xfrm>
          <a:prstGeom prst="roundRect">
            <a:avLst>
              <a:gd name="adj" fmla="val 5500"/>
            </a:avLst>
          </a:prstGeom>
          <a:solidFill>
            <a:srgbClr val="EAE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617720"/>
            <a:ext cx="5029200" cy="56692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3D2E8C"/>
                </a:solidFill>
                <a:latin typeface="Microsoft YaHei"/>
                <a:ea typeface="Microsoft YaHei"/>
              </a:rPr>
              <a:t>提交物：</a:t>
            </a:r>
            <a:r>
              <a:rPr sz="1050" b="0">
                <a:solidFill>
                  <a:srgbClr val="231D3D"/>
                </a:solidFill>
                <a:latin typeface="Microsoft YaHei"/>
                <a:ea typeface="Microsoft YaHei"/>
              </a:rPr>
              <a:t>学号_姓名_W16.py + 运行截图（含文件名）+ 工单决策记录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556248" y="1389888"/>
            <a:ext cx="5159959" cy="3977639"/>
          </a:xfrm>
          <a:prstGeom prst="roundRect">
            <a:avLst>
              <a:gd name="adj" fmla="val 5500"/>
            </a:avLst>
          </a:prstGeom>
          <a:solidFill>
            <a:srgbClr val="241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830568" y="1536192"/>
            <a:ext cx="4611319" cy="36576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A6A6"/>
                </a:solidFill>
                <a:latin typeface="Microsoft YaHei"/>
                <a:ea typeface="Microsoft YaHei"/>
              </a:rPr>
              <a:t>下次课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30568" y="1956816"/>
            <a:ext cx="4611319" cy="91440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>
                <a:solidFill>
                  <a:srgbClr val="FFFFFF"/>
                </a:solidFill>
                <a:latin typeface="Microsoft YaHei"/>
                <a:ea typeface="Microsoft YaHei"/>
              </a:rPr>
              <a:t>YOLO实时缺陷检测（下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830568" y="3017520"/>
            <a:ext cx="4611319" cy="31089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00A6A6"/>
                </a:solidFill>
                <a:latin typeface="Microsoft YaHei"/>
                <a:ea typeface="Microsoft YaHei"/>
              </a:rPr>
              <a:t>为什么接下来学它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830568" y="3364992"/>
            <a:ext cx="4611319" cy="123444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D8E1EC"/>
                </a:solidFill>
                <a:latin typeface="Microsoft YaHei"/>
                <a:ea typeface="Microsoft YaHei"/>
              </a:rPr>
              <a:t>老周的终极愿望启动：'给集团造个不睡觉的值班工程师。'本地大模型就位，吴工提醒：'Prompt就是你的管理能力。'工单M4-1：LLM故障诊断，同一问题三种问法，对比优化。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830568" y="4663440"/>
            <a:ext cx="4611319" cy="603504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>
                <a:solidFill>
                  <a:srgbClr val="C9D4E4"/>
                </a:solidFill>
                <a:latin typeface="Microsoft YaHei"/>
                <a:ea typeface="Microsoft YaHei"/>
              </a:rPr>
              <a:t>预习动作：微课视频 + 导学单先行；带着一个问题上考场。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75488" y="5596128"/>
            <a:ext cx="11240719" cy="777240"/>
          </a:xfrm>
          <a:prstGeom prst="roundRect">
            <a:avLst>
              <a:gd name="adj" fmla="val 5500"/>
            </a:avLst>
          </a:prstGeom>
          <a:solidFill>
            <a:srgbClr val="EAE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49808" y="5705856"/>
            <a:ext cx="10881360" cy="56692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>
                <a:solidFill>
                  <a:srgbClr val="3D2E8C"/>
                </a:solidFill>
                <a:latin typeface="Microsoft YaHei"/>
                <a:ea typeface="Microsoft YaHei"/>
              </a:rPr>
              <a:t>工具链：PyCharm CE（主编辑器） · Jupyter（实训） · Git/GitHub（每周提交） · conda环境</a:t>
            </a:r>
            <a:r>
              <a:rPr sz="1100" b="0">
                <a:solidFill>
                  <a:srgbClr val="5F5A7D"/>
                </a:solidFill>
                <a:latin typeface="Microsoft YaHei"/>
                <a:ea typeface="Microsoft YaHei"/>
              </a:rPr>
              <a:t>
报错了？先查《报错翻译对照表》，再看微课'排错三步法'。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41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041648" y="1920240"/>
            <a:ext cx="4114800" cy="82296"/>
          </a:xfrm>
          <a:prstGeom prst="rect">
            <a:avLst/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463040" y="2240280"/>
            <a:ext cx="9235440" cy="100584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3400" b="1">
                <a:solidFill>
                  <a:srgbClr val="FFFFFF"/>
                </a:solidFill>
                <a:latin typeface="Microsoft YaHei"/>
                <a:ea typeface="Microsoft YaHei"/>
              </a:rPr>
              <a:t>感谢垂听 · 动手出真知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63040" y="3310128"/>
            <a:ext cx="9235440" cy="45720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0">
                <a:solidFill>
                  <a:srgbClr val="C9D4E4"/>
                </a:solidFill>
                <a:latin typeface="Microsoft YaHei"/>
                <a:ea typeface="Microsoft YaHei"/>
              </a:rPr>
              <a:t>把今天的工单跑绿，就是给下周的自己铺路。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651760" y="4160520"/>
            <a:ext cx="6858000" cy="1417320"/>
          </a:xfrm>
          <a:prstGeom prst="roundRect">
            <a:avLst>
              <a:gd name="adj" fmla="val 5500"/>
            </a:avLst>
          </a:prstGeom>
          <a:solidFill>
            <a:srgbClr val="3141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880360" y="4279392"/>
            <a:ext cx="6400800" cy="32918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A6A6"/>
                </a:solidFill>
                <a:latin typeface="Microsoft YaHei"/>
                <a:ea typeface="Microsoft YaHei"/>
              </a:rPr>
              <a:t>课后三件事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880360" y="4626864"/>
            <a:ext cx="64008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D8E1EC"/>
                </a:solidFill>
                <a:latin typeface="Microsoft YaHei"/>
                <a:ea typeface="Microsoft YaHei"/>
              </a:rPr>
              <a:t>1. 工单M3-2跑绿并上传学习平台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880360" y="4956048"/>
            <a:ext cx="64008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D8E1EC"/>
                </a:solidFill>
                <a:latin typeface="Microsoft YaHei"/>
                <a:ea typeface="Microsoft YaHei"/>
              </a:rPr>
              <a:t>2. 错题本记1条今天踩的坑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880360" y="5285232"/>
            <a:ext cx="64008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D8E1EC"/>
                </a:solidFill>
                <a:latin typeface="Microsoft YaHei"/>
                <a:ea typeface="Microsoft YaHei"/>
              </a:rPr>
              <a:t>3. 预习微课+导学单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651760" y="5779008"/>
            <a:ext cx="6858000" cy="36576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00A6A6"/>
                </a:solidFill>
                <a:latin typeface="Microsoft YaHei"/>
                <a:ea typeface="Microsoft YaHei"/>
              </a:rPr>
              <a:t>下次课 → YOLO实时缺陷检测（下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5488" y="6419088"/>
            <a:ext cx="10515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>
                <a:solidFill>
                  <a:srgbClr val="8C99B5"/>
                </a:solidFill>
                <a:latin typeface="Microsoft YaHei"/>
                <a:ea typeface="Microsoft YaHei"/>
              </a:rPr>
              <a:t>AI应用基础（48课时版） · V1 · W16-15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/>
              <a:t>安全与合规警示（操作前必读）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10728655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/>
              <a:t>1. 上机前确认本工位电源开关与急停位置，确认设备处于安全状态。</a:t>
            </a:r>
          </a:p>
          <a:p>
            <a:pPr>
              <a:spcAft>
                <a:spcPts val="1000"/>
              </a:spcAft>
            </a:pPr>
            <a:r>
              <a:rPr sz="1800"/>
              <a:t>2. 涉及接线的操作一律先断电、后验电、再作业，禁止带电插拔。</a:t>
            </a:r>
          </a:p>
          <a:p>
            <a:pPr>
              <a:spcAft>
                <a:spcPts val="1000"/>
              </a:spcAft>
            </a:pPr>
            <a:r>
              <a:rPr sz="1800"/>
              <a:t>3. 身体任何部位不进入设备运动/散热区域，长发束起，不佩戴悬垂饰物。</a:t>
            </a:r>
          </a:p>
          <a:p>
            <a:pPr>
              <a:spcAft>
                <a:spcPts val="1000"/>
              </a:spcAft>
            </a:pPr>
            <a:r>
              <a:rPr sz="1800"/>
              <a:t>4. 调试程序前先静态检查、再低速小样本试运行，确认无异常后放大规模。</a:t>
            </a:r>
          </a:p>
          <a:p>
            <a:pPr>
              <a:spcAft>
                <a:spcPts val="1000"/>
              </a:spcAft>
            </a:pPr>
            <a:r>
              <a:rPr sz="1800"/>
              <a:t>5. 任何不确定或异常情况，立即停止操作并报告指导教师，不擅自处置。</a:t>
            </a:r>
          </a:p>
          <a:p>
            <a:r>
              <a:rPr sz="1400" b="1"/>
              <a:t>以上任一条违反，本次任务按课程标准「安全规范一票否决」条款记 0 分并中止实训。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/>
              <a:t>本任务六步法导航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10728655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/>
              <a:t>六步法：资讯 → 计划 → 决策 → 实施 → 检查 → 评估</a:t>
            </a:r>
          </a:p>
          <a:p>
            <a:pPr>
              <a:spcAft>
                <a:spcPts val="1000"/>
              </a:spcAft>
            </a:pPr>
            <a:r>
              <a:rPr sz="1800"/>
              <a:t>本讲对应工单：《AI应用基础48课时版》分层任务工单</a:t>
            </a:r>
          </a:p>
          <a:p>
            <a:pPr>
              <a:spcAft>
                <a:spcPts val="1000"/>
              </a:spcAft>
            </a:pPr>
            <a:r>
              <a:rPr sz="1800"/>
              <a:t>课堂产出：工单第六节实施记录须当堂填写，含操作前安全打勾与学生本人签字。</a:t>
            </a:r>
          </a:p>
          <a:p>
            <a:pPr>
              <a:spcAft>
                <a:spcPts val="1000"/>
              </a:spcAft>
            </a:pPr>
            <a:r>
              <a:rPr sz="1800"/>
              <a:t>课后交付：班组长／操作员／教师三方联签后交回，缺签视为未交付。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/>
              <a:t>本讲与岗位任务单的衔接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10728655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/>
              <a:t>本讲在工作过程系统化课程中承担的任务环节：任务实施</a:t>
            </a:r>
          </a:p>
          <a:p>
            <a:pPr>
              <a:spcAft>
                <a:spcPts val="1000"/>
              </a:spcAft>
            </a:pPr>
            <a:r>
              <a:rPr sz="1800"/>
              <a:t>考核对齐：过程性成绩取自本讲工单第六节各模块得分合计（满分 100）。</a:t>
            </a:r>
          </a:p>
          <a:p>
            <a:pPr>
              <a:spcAft>
                <a:spcPts val="1000"/>
              </a:spcAft>
            </a:pPr>
            <a:r>
              <a:rPr sz="1800"/>
              <a:t>达标线：综合成绩≥60 分，且无安全红线一票否决记录</a:t>
            </a:r>
          </a:p>
          <a:p>
            <a:pPr>
              <a:spcAft>
                <a:spcPts val="1000"/>
              </a:spcAft>
            </a:pPr>
            <a:r>
              <a:rPr sz="1800"/>
              <a:t>无效工单判定：未打安全勾、无本人签字、无三方联签。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YOLO实时缺陷检测（上</dc:title>
  <dc:subject/>
  <dc:creator>两江智造教学组</dc:creator>
  <cp:keywords/>
  <dc:description>V1.1 · easyslides 规范重制（页面充实版）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