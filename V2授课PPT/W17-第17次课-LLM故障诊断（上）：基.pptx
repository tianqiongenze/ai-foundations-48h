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75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1" r:id="rId43"/>
    <p:sldId id="293" r:id="rId45"/>
    <p:sldId id="296" r:id="rId48"/>
    <p:sldId id="299" r:id="rId51"/>
    <p:sldId id="302" r:id="rId54"/>
    <p:sldId id="306" r:id="rId58"/>
    <p:sldId id="309" r:id="rId61"/>
    <p:sldId id="311" r:id="rId63"/>
    <p:sldId id="313" r:id="rId65"/>
    <p:sldId id="315" r:id="rId67"/>
    <p:sldId id="316" r:id="rId68"/>
    <p:sldId id="317" r:id="rId69"/>
    <p:sldId id="318" r:id="rId70"/>
    <p:sldId id="319" r:id="rId71"/>
    <p:sldId id="367" r:id="rId64"/>
    <p:sldId id="368" r:id="rId62"/>
    <p:sldId id="369" r:id="rId73"/>
    <p:sldId id="370" r:id="rId60"/>
    <p:sldId id="366" r:id="rId66"/>
    <p:sldId id="320" r:id="rId72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47" r:id="rId99"/>
    <p:sldId id="354" r:id="rId106"/>
    <p:sldId id="359" r:id="rId111"/>
    <p:sldId id="360" r:id="rId112"/>
    <p:sldId id="364" r:id="rId116"/>
    <p:sldId id="365" r:id="rId117"/>
    <p:sldId id="372" r:id="rId59"/>
    <p:sldId id="373" r:id="rId7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5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69.xml"/><Relationship Id="rId60" Type="http://schemas.openxmlformats.org/officeDocument/2006/relationships/slide" Target="slides/slide41.xml"/><Relationship Id="rId61" Type="http://schemas.openxmlformats.org/officeDocument/2006/relationships/slide" Target="slides/slide30.xml"/><Relationship Id="rId62" Type="http://schemas.openxmlformats.org/officeDocument/2006/relationships/slide" Target="slides/slide39.xml"/><Relationship Id="rId63" Type="http://schemas.openxmlformats.org/officeDocument/2006/relationships/slide" Target="slides/slide31.xml"/><Relationship Id="rId64" Type="http://schemas.openxmlformats.org/officeDocument/2006/relationships/slide" Target="slides/slide38.xml"/><Relationship Id="rId65" Type="http://schemas.openxmlformats.org/officeDocument/2006/relationships/slide" Target="slides/slide32.xml"/><Relationship Id="rId66" Type="http://schemas.openxmlformats.org/officeDocument/2006/relationships/slide" Target="slides/slide42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43.xml"/><Relationship Id="rId73" Type="http://schemas.openxmlformats.org/officeDocument/2006/relationships/slide" Target="slides/slide40.xml"/><Relationship Id="rId74" Type="http://schemas.openxmlformats.org/officeDocument/2006/relationships/slide" Target="slides/slide44.xml"/><Relationship Id="rId75" Type="http://schemas.openxmlformats.org/officeDocument/2006/relationships/slide" Target="slides/slide68.xml"/><Relationship Id="rId76" Type="http://schemas.openxmlformats.org/officeDocument/2006/relationships/slide" Target="slides/slide45.xml"/><Relationship Id="rId77" Type="http://schemas.openxmlformats.org/officeDocument/2006/relationships/slide" Target="slides/slide70.xml"/><Relationship Id="rId78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5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6" Type="http://schemas.openxmlformats.org/officeDocument/2006/relationships/slide" Target="slides/slide63.xml"/><Relationship Id="rId111" Type="http://schemas.openxmlformats.org/officeDocument/2006/relationships/slide" Target="slides/slide64.xml"/><Relationship Id="rId112" Type="http://schemas.openxmlformats.org/officeDocument/2006/relationships/slide" Target="slides/slide65.xml"/><Relationship Id="rId116" Type="http://schemas.openxmlformats.org/officeDocument/2006/relationships/slide" Target="slides/slide66.xml"/><Relationship Id="rId117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详解B1·LLM调用本质：先读定义→场景为什么用它→看代码实例→扩展给A层。C/D层掌握前三格，A层加扩展格。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详解B2·Prompt三模板：先读定义→场景为什么用它→看代码实例→扩展给A层。C/D层掌握前三格，A层加扩展格。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详解B3·思维链提示：先读定义→场景为什么用它→看代码实例→扩展给A层。C/D层掌握前三格，A层加扩展格。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详解B4·变量控制：先读定义→场景为什么用它→看代码实例→扩展给A层。C/D层掌握前三格，A层加扩展格。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详解B5·容错三件套：先读定义→场景为什么用它→看代码实例→扩展给A层。C/D层掌握前三格，A层加扩展格。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详解B6·脱敏红线：先读定义→场景为什么用它→看代码实例→扩展给A层。C/D层掌握前三格，A层加扩展格。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演示《调用骨架》：跑通→逐行→改参数（演的核心素材）。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演示《容错三件套》：跑通→逐行→改参数（演的核心素材）。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错误速查：现场制造「Connection refused」带学生三步排查。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第17周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 · 变量控制：同一问题同一温度，只换模板才公平——应用：见工单starter与教师参考实现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M4-1《LLM故障诊断（上）：基础实现》——本课工单即考核单元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W17课前测①：本课工单M4-1的及格线是什么？（答：对比表完整+提升≥20%）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W17课前测②：'OpenAI兼容接口'用一句话说说你的理解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项目6-7 大模型·语言应用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LLM基础(ChatGPT/文心/通义)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Prompt工程(角色/示例/思维链)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CPU实时检测mAP≥0.70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题目：W17课前测①：本课工单M4-1的及格线是什么？（答：对比表完整+提升≥20%）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任务背景：老周的终极愿望启动：'给集团造个不睡觉的值班工程师。'本地大模型就位，吴工提醒：'Prompt就是你的管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知识详解：LLM调用本质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LLM调用本质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就是HTTP+JSON——OpenAI兼容接口四字段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去神秘化：大模型不是魔法是一个API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requests.post(url, json={'messages':…})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误区：以为要装'大模型驱动'——标准HTTP即可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知识详解：Prompt三模板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Prompt三模板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朴素/角色设定/少样本示例——三档递进对比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同问题换模板对比效果——prompt即编程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role='system': '你是质检顾问'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误区：prompt越长越好——指令清晰胜过堆字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知识应用（2）：Prompt三模板：朴素角色设定少样本示例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Prompt三模板：朴素角色设定少样本示例。在两江智造产线上的用法：见工单starter与教师参考实现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知识详解：思维链提示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思维链提示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让模型一步一步想——复杂问题分步解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故障排查/方案评审类多步推理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'先列出可能原因，再逐一分析，最后给结论'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CoT对简单问题是浪费——一步能答的别绕路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知识详解：变量控制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变量控制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同一问题同一温度只换模板——公平比较的前提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选哪个prompt上线的对照实验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temperature=0 固定后轮换三模板跑同题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温度不为0输出随机——不固定就比不出差异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容错三件套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超时重试异常降级日志留痕——外部依赖必设防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LLM超时/限流是常态——不设防脚本必卡死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timeout=30 + try/except + 重试2次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降级返'模型暂不可用'——别返回编造内容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知识详解：脱敏红线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脱敏红线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真实工单先抹设备编号人名再上模型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数据出域安全——上线前审计必查项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re.sub替换设备号→'设备A'，人名→'张工'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漏一条真实编号即合规事故——脱敏清单化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能设计并对比三种Prompt——应用：见工单starter与教师参考实现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能统计提升幅度并留证据——应用：见工单starter与教师参考实现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能实现重试与降级——应用：见工单starter与教师参考实现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关键代码：调用骨架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 = requests.post(BASE + "/v1/chat/completions",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json={"messages": [{"role": "user", "content": q}]},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print(r.json()["choices"][0]["message"]["content"])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ask(q)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requests.RequestException: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time.sleep(2 ** 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return "[降级] 已转人工工单通道。"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术语①：LLM调用=HTTP+JSON——OpenAI兼容接口四字段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术语②：Prompt三模板：朴素角色设定少样本示例——应用：见工单starter与教师参考实现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本课决策题：LLM故障诊断：备选方案决策矩阵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实测提升 +50% ｜ 对比表 3 行 ｜ 断服降级话术命中=是 ｜ 决策记录完整=是 ｜ 多轮 2 轮且上下文保持=是 ｜ 代码规范率实测 95.5%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能出回答</a:t>
            </a:r>
          </a:p>
          <a:p>
            <a:r>
              <a:rPr sz="1400" b="1">
                <a:solidFill>
                  <a:srgbClr val="0545E8"/>
                </a:solidFill>
              </a:rPr>
              <a:t>良好(C)    提升门槛≥20% ｜ 功能OK ｜ 提升≥20%加对比表</a:t>
            </a:r>
          </a:p>
          <a:p>
            <a:r>
              <a:rPr sz="1400" b="1">
                <a:solidFill>
                  <a:srgbClr val="0545E8"/>
                </a:solidFill>
              </a:rPr>
              <a:t>优秀(B)    功能OK ｜ 断服不崩溃有降级话术；决策记录完整</a:t>
            </a:r>
          </a:p>
          <a:p>
            <a:r>
              <a:rPr sz="1400" b="1">
                <a:solidFill>
                  <a:srgbClr val="0545E8"/>
                </a:solidFill>
              </a:rPr>
              <a:t>优(A)     提升门槛≥35%（或多轮）｜ 功能OK ｜ 提升≥35%或多轮对话</a:t>
            </a:r>
          </a:p>
          <a:p>
            <a:r>
              <a:rPr sz="1400" b="1">
                <a:solidFill>
                  <a:srgbClr val="0545E8"/>
                </a:solidFill>
              </a:rPr>
              <a:t>人工答辩项 1 条，教师答辩时确认：企业元验收栏：功能可用□ 参数留痕□ 数据可信□（师傅签字）</a:t>
            </a:r>
          </a:p>
          <a:p>
            <a:r>
              <a:rPr sz="1400" b="1">
                <a:solidFill>
                  <a:srgbClr val="0545E8"/>
                </a:solidFill>
              </a:rPr>
              <a:t>本演示走离线规则通道；设 OPENAI_BASE_URL 与 OPENAI_API_KEY 环境变量即切真机 HTTP 通道（urllib+超时，重试耗尽自动降级，不硬编码任何密钥）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工程化项目/m41_prompt_lab/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src/prompt_lab/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m41_prompt_lab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实测提升 +50%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对比表 3 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断服降级话术命中=是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决策记录完整=是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多轮 2 轮且上下文保持=是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能出回答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提升≥20%加对比表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提升门槛≥20%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断服不崩溃有降级话术；决策记录完整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提升≥35%或多轮对话（或完成校园智能体选做）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提升门槛≥35%（或多轮）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1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m41_prompt_lab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项目：05-AI应用基础48课时版/工程化项目/m41_prompt_lab/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工具/ppt97/evidence/m41_prompt_lab/（capture97.py 真跑捕获，未改写数字）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朴素版跑通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requests.post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打印回答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能出回答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三模板对比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角色示例版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同题各跑3次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提升≥20%加对比表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提升门槛≥20%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容错演练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retries为2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关服务测降级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断服不崩溃有降级话术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自创模板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结合故障话术设计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A/B验证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入库分享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选做：用工具/campus_skills给自己的大学生活造一个时间管理智能体(3个Skill,不限平台)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提升≥35%或多轮对话（或完成校园智能体选做）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提升门槛≥35%（或多轮） ｜ 功能OK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先python mock_llm_server.py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未固定温度seed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temperature为0对比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提升测不出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题目太简单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换多步推理题集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D·学徒（≥60）：朴素版跑通——跟做保底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C·操作员（≥70）：三模板对比——基础完成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B·组长（≥80）：容错演练——标准达成+帮带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A·师傅（≥90）：自创模板——进阶拓展+费曼讲解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LLM调用=HTTP+JSON：OpenAI兼容接口四字段——背后是统计/优化原理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学生代码框架/w9_xxx_starter.py——TODO注释即步骤提示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Connection refused · 回答不稳定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知识：LLM调用=HTTP+JSON：Open；Prompt三模板：朴素角色设定少样本示；思维链提示：一步一步想让复杂问题分步解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交付：工单M4-1《LLM故障诊断（上）：基础实现》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W17课前测①：本课工单M4-1的及格线是什么？（答：对比表完整+提升≥20%）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W12-第17次课-LLM故障诊断（上）：基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