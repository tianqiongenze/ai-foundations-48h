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1" r:id="rId21"/>
    <p:sldId id="274" r:id="rId26"/>
    <p:sldId id="280" r:id="rId32"/>
    <p:sldId id="307" r:id="rId59"/>
    <p:sldId id="374" r:id="rId24"/>
    <p:sldId id="375" r:id="rId25"/>
    <p:sldId id="376" r:id="rId14"/>
    <p:sldId id="318" r:id="rId70"/>
    <p:sldId id="366" r:id="rId16"/>
    <p:sldId id="367" r:id="rId17"/>
    <p:sldId id="368" r:id="rId18"/>
    <p:sldId id="369" r:id="rId19"/>
    <p:sldId id="370" r:id="rId20"/>
    <p:sldId id="365" r:id="rId15"/>
    <p:sldId id="363" r:id="rId115"/>
    <p:sldId id="364" r:id="rId116"/>
    <p:sldId id="372" r:id="rId22"/>
    <p:sldId id="373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4" Type="http://schemas.openxmlformats.org/officeDocument/2006/relationships/slide" Target="slides/slide8.xml"/><Relationship Id="rId15" Type="http://schemas.openxmlformats.org/officeDocument/2006/relationships/slide" Target="slides/slide15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2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3.xml"/><Relationship Id="rId32" Type="http://schemas.openxmlformats.org/officeDocument/2006/relationships/slide" Target="slides/slide4.xml"/><Relationship Id="rId59" Type="http://schemas.openxmlformats.org/officeDocument/2006/relationships/slide" Target="slides/slide5.xml"/><Relationship Id="rId70" Type="http://schemas.openxmlformats.org/officeDocument/2006/relationships/slide" Target="slides/slide9.xml"/><Relationship Id="rId115" Type="http://schemas.openxmlformats.org/officeDocument/2006/relationships/slide" Target="slides/slide16.xml"/><Relationship Id="rId116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开场30秒：《ResNet迁移学习（下）：优化与评价》，80分钟=2课时×40分钟。课前已发工单+微课知识卡。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情境说书30秒：质检科只标了200张图，训练从零开始根本不够。林工：'站在巨人的肩膀上——ResNet迁移学习，小样本也能成事。'工单M…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工单发布：'设备智能运维中心工单M3-1'——及格线准确率≥75%+对比表。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项目5 大模型·视觉应用 | 预习知识点：迁移学习概念；ResNet冻结/微调策略 | 课中检查知识点：完成冻结/微调取舍实验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ResNet迁移学习（下）：优化与评价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第15周 · 第14次课（2课时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课中查①：'内存爆'这个报错怎么排查？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课中查②：优秀线准确率≥85%你打算怎么冲？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质检科只标了200张图，训练从零开始根本不够。林工：'站在巨人的肩膀上——ResNet迁移学习，小样本也能成事。'工单M3-1：冻结层与微调的取舍实验。</a:t>
            </a:r>
          </a:p>
        </p:txBody>
      </p:sp>
      <p:pic>
        <p:nvPicPr>
          <p:cNvPr id="9" name="Picture 8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ResNet迁移学习（下）：优化与评价（实施要点）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迁移学习｜站在巨人肩上——ImageNet学过的视觉知识直接复用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冻结backbone｜锁死预训练层只训分类头——小样本第一选择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分层学习率｜底层通用特征小步、任务层大步——各层各走各的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数据增强｜翻转/裁剪/旋转让200张变2000张有效样本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小样本陷阱｜测试集也小指标波动大——多seed取均值才可信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CPU友好策略｜小图+冻结层几分钟出结果——没GPU也能练CNN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误区：迁移万能——域差太大时预训练也帮不了多少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先冻结收敛再解冻微调——两阶段比一步到位稳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误区：全程一个lr——底层大步会破坏已学特征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内存爆 → 冻结加resize到128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微调后变差 → 分层lr且末段1e-5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指标波动大 → 3个seed取均值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及格线我能过吗——准确率≥75%+对比表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优秀线我够吗——准确率≥85%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技能点我能独立做出来吗——能加载预训练ResNet并替换分类头；能完成冻结vs微调对比实验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素材来源：同周《第13次课-ResNet迁移学习（上》知识卡与避坑清单（逐字摘录）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迁移学习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误区：迁移万能——域差太大时预训练也帮不了多少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站在巨人肩上——ImageNet学过的视觉知识直接复用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缺陷样本只有几百张时从头训练必失败 MobileNetV2(weights='imagenet') 去头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冻结backbone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先冻结收敛再解冻微调——两阶段比一步到位稳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锁死预训练层只训分类头——小样本第一选择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200张缺陷图训不动百万参数——只训最后几层 base.trainable=False 再加自己的Dense头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分层学习率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误区：全程一个lr——底层大步会破坏已学特征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底层通用特征小步、任务层大步——各层各走各的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解冻微调阶段防止冲坏预训练知识 底层lr=1e-5，顶层lr=1e-3——差10倍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内存爆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原因：全参微调加大图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解决：冻结加resize到128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微调后变差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原因：lr过大冲毁权重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解决：分层lr且末段1e-5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指标波动大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原因：小样本单seed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解决：3个seed取均值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素材来源：同周《第13次课-ResNet迁移学习（上》知识卡与避坑清单（逐字摘录）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实施任务：工单M3-1《ResNet迁移学习（下）：优化与评价》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准确率≥75%+对比表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545E8"/>
                </a:solidFill>
              </a:rPr>
              <a:t>① 本次真跑实测输出（逐字取自 output/report.txt）</a:t>
            </a:r>
          </a:p>
          <a:p>
            <a:r>
              <a:rPr sz="1150" b="1">
                <a:solidFill>
                  <a:srgbClr val="0545E8"/>
                </a:solidFill>
              </a:rPr>
              <a:t>实测达成档位: 优(A) ｜ 实测最优准确率 1.0000 ｜ 规范率 97.39% ｜ 对照表实测行 4 条 ｜ 增强增益 冻结 -0.0050/微调 +0.4850 ｜ 决策记录 1 条 ｜ 曲线 1 张</a:t>
            </a:r>
          </a:p>
          <a:p>
            <a:r>
              <a:rPr sz="1150" b="1">
                <a:solidFill>
                  <a:srgbClr val="0545E8"/>
                </a:solidFill>
              </a:rPr>
              <a:t>及格(D)    规范率门槛≥70% [达标] ｜ 功能OK ｜ 准确率门槛≥0.7（实测 1.0000）</a:t>
            </a:r>
          </a:p>
          <a:p>
            <a:r>
              <a:rPr sz="1150" b="1">
                <a:solidFill>
                  <a:srgbClr val="0545E8"/>
                </a:solidFill>
              </a:rPr>
              <a:t>良好(C)    规范率门槛≥70% [达标] ｜ 功能OK ｜ 准确率≥0.75 且对照行≥2（实测 1.0000 / 4 行）</a:t>
            </a:r>
          </a:p>
          <a:p>
            <a:r>
              <a:rPr sz="1150" b="1">
                <a:solidFill>
                  <a:srgbClr val="0545E8"/>
                </a:solidFill>
              </a:rPr>
              <a:t>优秀(B)    规范率门槛≥70% [达标] ｜ 功能OK ｜ 准确率≥0.8 或增强有效（增益见上行）且决策记录≥1（实测 1）</a:t>
            </a:r>
          </a:p>
          <a:p>
            <a:r>
              <a:rPr sz="1150" b="1">
                <a:solidFill>
                  <a:srgbClr val="0545E8"/>
                </a:solidFill>
              </a:rPr>
              <a:t>优(A)     规范率门槛≥70% [达标] ｜ 功能OK ｜ 准确率≥0.85 且有训练曲线（实测 1.0000 / 1 张）</a:t>
            </a:r>
          </a:p>
          <a:p>
            <a:r>
              <a:rPr sz="1150" b="1">
                <a:solidFill>
                  <a:srgbClr val="0545E8"/>
                </a:solidFill>
              </a:rPr>
              <a:t>人工答辩项 3 条，教师答辩时确认：</a:t>
            </a:r>
          </a:p>
          <a:p>
            <a:r>
              <a:rPr sz="1150" b="1">
                <a:solidFill>
                  <a:srgbClr val="0545E8"/>
                </a:solidFill>
              </a:rPr>
              <a:t>- 决策结论与理由的口头陈述（工单：答辩必答）</a:t>
            </a:r>
          </a:p>
          <a:p>
            <a:r>
              <a:rPr sz="1150" b="1">
                <a:solidFill>
                  <a:srgbClr val="0545E8"/>
                </a:solidFill>
              </a:rPr>
              <a:t>……（后续 2 行全文逐字见 工程化项目/output/report.txt）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工程化项目/m31_transfer/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src/transfer_learning/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m31_transfer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实测最优准确率 1.0000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规范率 97.39%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对照表实测行 4 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增强增益 冻结 -0.0050/微调 +0.4850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决策记录 1 条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准确率门槛≥0.7（实测 1.0000）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准确率≥0.75 且对照行≥2（实测 1.0000 / 4 行）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准确率≥0.8 或增强有效（增益见上行）且决策记录≥1（实测 1）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准确率≥0.85 且有训练曲线（实测 1.0000 / 1 张）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3 条（代码不代判，答辩现场确认）：决策结论与理由的口头陈述（工单：答辩必答）；企业元验收栏签认（功能可用/参数留痕/数据可信，值班师傅签字）；底座口径是否可接受（真ResNet=本地缓存离线载入 / 兜底=本地CNN，实测证据见报告底座口径段）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6 项，本页只列前 5 项，其余见下页 report.txt 截图。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m31_transfer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6" name="Picture 15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19" name="Picture 18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2" name="Picture 21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项目：05-AI应用基础48课时版/工程化项目/m31_transfer/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10:50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工具/ppt97/evidence/m31_transfer/（capture97.py 真跑捕获，未改写数字）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产出图证据 · m31_transfer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11356848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11210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training_curves.png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1755648"/>
            <a:ext cx="11210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output/training_curves.png ｜ 48 KB ｜ run.py 本次落盘</a:t>
            </a:r>
          </a:p>
        </p:txBody>
      </p:sp>
      <p:pic>
        <p:nvPicPr>
          <p:cNvPr id="17" name="Picture 16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672" y="1993392"/>
            <a:ext cx="6343904" cy="40782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以上图像由 run.py 本次运行落盘到 output/，非外部素材。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M3-1 ResNet迁移学习（概念版）·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世界: 海量无标注 2000 条 / 少量标注 16 条 / 测试 200 条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预训练特征提取器: PCA(8维) 在海量数据上一次性学成并**冻结**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冻结特征累计解释方差 = 0.330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对照（16条样本直连 192 维训头）: 测试准确率 = 0.915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迁移（冻结8维特征 + 只训分类头）: 测试准确率 = 0.960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增益 = +0.045 → 迁移显著胜出，预训练特征是维度灾难的解药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真实规律仅藏在少数测点维（其余为环境噪声维）；冻结+小样本头 是 ResNet 微调思想的最小可运行模型。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能部署CPU预训练YOLO推理——应用：见工单s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课中查①：'内存爆'这个报错怎么排查？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W10-第14次课-ResNet迁移学习（下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