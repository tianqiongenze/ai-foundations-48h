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6" r:id="rId20"/>
    <p:sldId id="274" r:id="rId26"/>
    <p:sldId id="280" r:id="rId32"/>
    <p:sldId id="303" r:id="rId55"/>
    <p:sldId id="369" r:id="rId23"/>
    <p:sldId id="370" r:id="rId24"/>
    <p:sldId id="371" r:id="rId25"/>
    <p:sldId id="372" r:id="rId14"/>
    <p:sldId id="373" r:id="rId27"/>
    <p:sldId id="314" r:id="rId66"/>
    <p:sldId id="362" r:id="rId16"/>
    <p:sldId id="363" r:id="rId17"/>
    <p:sldId id="364" r:id="rId18"/>
    <p:sldId id="365" r:id="rId19"/>
    <p:sldId id="361" r:id="rId15"/>
    <p:sldId id="359" r:id="rId111"/>
    <p:sldId id="360" r:id="rId112"/>
    <p:sldId id="367" r:id="rId21"/>
    <p:sldId id="368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4" Type="http://schemas.openxmlformats.org/officeDocument/2006/relationships/slide" Target="slides/slide9.xml"/><Relationship Id="rId15" Type="http://schemas.openxmlformats.org/officeDocument/2006/relationships/slide" Target="slides/slide16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2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3.xml"/><Relationship Id="rId27" Type="http://schemas.openxmlformats.org/officeDocument/2006/relationships/slide" Target="slides/slide10.xml"/><Relationship Id="rId32" Type="http://schemas.openxmlformats.org/officeDocument/2006/relationships/slide" Target="slides/slide4.xml"/><Relationship Id="rId55" Type="http://schemas.openxmlformats.org/officeDocument/2006/relationships/slide" Target="slides/slide5.xml"/><Relationship Id="rId66" Type="http://schemas.openxmlformats.org/officeDocument/2006/relationships/slide" Target="slides/slide11.xml"/><Relationship Id="rId111" Type="http://schemas.openxmlformats.org/officeDocument/2006/relationships/slide" Target="slides/slide17.xml"/><Relationship Id="rId112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开场30秒：《特征设计与优化（下）：优化与评价》，80分钟=2课时×40分钟。课前已发工单+微课知识卡。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情境说书30秒：数据洗净了，林工却摇头：'同样的模型，好特征胜过换模型。'他递来一张特征字典模板：'从振动里造出10个特征，让我看见你的…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工单发布：'设备智能运维中心工单M1-1b'——及格线特征≥10个且字典完整。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预习知识点：EDA探索；特征构造(差值/比值/统计量)；特征重要性 | 课中检查知识点：能造≥10个特征并用重要性证明价值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特征设计与优化（下）：优化与评价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第10周 · 第4次课（2课时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课中查①：'resample报错'这个报错怎么排查？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课中查②：优秀线特征-30%性能不降你打算怎么冲？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数据洗净了，林工却摇头：'同样的模型，好特征胜过换模型。'他递来一张特征字典模板：'从振动里造出10个特征，让我看见你的巧思。'工单M1-1b：EDA+特征工程，用特征重要性证明你的设计值钱。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特征设计与优化（下）：优化与评价（实施要点）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特征=体检指标｜从原始波形提炼有意义的量——模型只吃指标不吃波形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特征字典｜名称/公式/物理意义/取值范围四栏成文——特征户口本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相关性初筛｜|r|&gt;0.95的特征对留一个——信息重复就该裁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特征重要性｜树模型给特征打分——让数据投票谁重要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好特征胜过换模型｜同模型下特征增益常大于算法升级——先磨刀再换刀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特征泄漏预警｜用了未来才知道的列——线下虚高线上翻车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误区：特征越多越好——冗余特征拖慢还扰模型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没字典的特征半年后自己都看不懂——文档即资产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误区：阈值只设|r|&gt;0.99——0.95更实用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resample报错 → set_index后或parse_dates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特征全0 → 先做W1清洗再回填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重要性集中1个 → 检查是否用了标签衍生信息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及格线我能过吗——特征≥10个且字典完整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优秀线我够吗——特征-30%性能不降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技能点我能独立做出来吗——能从振动序列构造≥10个特征；能写规范特征字典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素材来源：同周《第3次课-特征设计与优化（上）：基》知识卡与避坑清单（逐字摘录）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特征=体检指标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误区：特征越多越好——冗余特征拖慢还扰模型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从原始波形提炼有意义的量——模型只吃指标不吃波形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振动均值/RMS/主频——时域与频域两族特征 feats = {'rms': np.sqrt((x**2).mean())}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特征字典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没字典的特征半年后自己都看不懂——文档即资产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名称/公式/物理意义/取值范围四栏成文——特征户口本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特征交接给下一人——不看代码也懂每个特征 docs/features.md 每特征一行四栏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相关性初筛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误区：阈值只设|r|&gt;0.99——0.95更实用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|r|&gt;0.95的特征对留一个——信息重复就该裁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温度与电阻强相关——留物理意义更清的那个 df.corr() 热力图一眼看穿冗余对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承上启下 · 动手前避坑清单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resample报错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原因：ts不是DatetimeIndex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解决：set_index后或parse_dates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特征全0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原因：窗口内数据缺失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解决：先做W1清洗再回填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重要性集中1个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原因：存在泄漏列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解决：检查是否用了标签衍生信息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素材来源：同周《第3次课-特征设计与优化（上）：基》知识卡与避坑清单（逐字摘录）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本课知识速览卡 · 边做边对照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本讲是动手冲刺课：知识点在完整讲解课已细讲——这页把它们浓缩成一张速览卡，边做边对照。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630936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630936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1819656"/>
            <a:ext cx="6089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知识点速览（逐字摘自同周完整讲解课知识卡）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267712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特征=体检指标｜从原始波形提炼有意义的量——模型只吃指标不吃波形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特征字典｜名称/公式/物理意义/取值范围四栏成文——特征户口本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相关性初筛｜|r|&gt;0.95的特征对留一个——信息重复就该裁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特征重要性｜树模型给特征打分——让数据投票谁重要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好特征胜过换模型｜同模型下特征增益常大于算法升级——先磨刀再换刀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特征泄漏预警｜用了未来才知道的列——线下虚高线上翻车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1783080"/>
            <a:ext cx="4828032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03720" y="1783080"/>
            <a:ext cx="482803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13448" y="181965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本讲达标线（当堂评分同口径）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8312" y="2249424"/>
            <a:ext cx="4526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及格(D)：特征≥10个且字典完整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优秀(B+)：特征-30%性能不降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03720" y="3886200"/>
            <a:ext cx="4828032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03720" y="3886200"/>
            <a:ext cx="4828032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13448" y="392277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动手前三个提醒（踩坑点摘录）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8312" y="4352544"/>
            <a:ext cx="4526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⚠ set_index后或parse_dates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先做W1清洗再回填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检查是否用了标签衍生信息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素材来源：同周《第3次课-特征设计与优化（上）：基》知识卡与避坑清单（逐字摘录）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 · 带着问题去下一讲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带着问题去下一讲——预习任务与自测问题逐字取自课程安排，课前完成。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920240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920240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08483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主题：能跑通LR与决策树双模型——应用：见工单star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026664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026664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191256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预习快问：课前测①：本课工单M1-1b的及格线是什么？（答：特征≥10个且字典完整）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33087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133087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297679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课前完成：导学单 + 预习自测 + starter环境自检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239512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239512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404103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带着问题：来上课——Predict先于Run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实施任务：工单M1-1b《特征设计与优化（下）：优化与评价》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特征≥10个且字典完整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特征-30%性能不降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545E8"/>
                </a:solidFill>
              </a:rPr>
              <a:t>① 本次真跑实测输出（逐字取自 output/report.txt）</a:t>
            </a:r>
          </a:p>
          <a:p>
            <a:r>
              <a:rPr sz="1150" b="1">
                <a:solidFill>
                  <a:srgbClr val="0545E8"/>
                </a:solidFill>
              </a:rPr>
              <a:t>实测达成档位: 优(A) ｜ 代码规范率 93.53%（工单把≥70%钉在 D 档）｜ 特征 18 个（最小集 acc 0.4778）｜ 消融砍 33.3% 后 acc -0.0028 ｜ Top3 内新特征 2 个</a:t>
            </a:r>
          </a:p>
          <a:p>
            <a:r>
              <a:rPr sz="1150" b="1">
                <a:solidFill>
                  <a:srgbClr val="0545E8"/>
                </a:solidFill>
              </a:rPr>
              <a:t>及格(D)    规范率门槛≥70% [达标] ｜ 功能OK ｜ 5 特征表能跑通；代码规范率≥70% ｜ 实测 最小集 5 特征跑通：4 折×3 种子 CV acc 0.4778；规范率 93.53%</a:t>
            </a:r>
          </a:p>
          <a:p>
            <a:r>
              <a:rPr sz="1150" b="1">
                <a:solidFill>
                  <a:srgbClr val="0545E8"/>
                </a:solidFill>
              </a:rPr>
              <a:t>良好(C)    规范率不另设线（工单仅 D 档设线，实测 93.53%） [达标] ｜ 功能OK ｜ ≥10 特征且字典完整（名称/公式/含义/单位/范围五栏成文） ｜ 实测 特征 18 个（线 10）；字典五栏成文 5/5，缺空 0 处</a:t>
            </a:r>
          </a:p>
          <a:p>
            <a:r>
              <a:rPr sz="1150" b="1">
                <a:solidFill>
                  <a:srgbClr val="0545E8"/>
                </a:solidFill>
              </a:rPr>
              <a:t>优秀(B)    规范率不另设线（工单仅 D 档设线，实测 93.53%） [达标] ｜ 功能OK ｜ 特征砍 30% 性能不降（消融验证）；决策记录完整 ｜ 实测 尾部砍 33.3%（6 个）后 acc -0.0028（红线 ±0.030）；决策记录 295 字</a:t>
            </a:r>
          </a:p>
          <a:p>
            <a:r>
              <a:rPr sz="1150" b="1">
                <a:solidFill>
                  <a:srgbClr val="0545E8"/>
                </a:solidFill>
              </a:rPr>
              <a:t>……（后续 3 行全文逐字见 工程化项目/output/report.txt）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工程化项目/m11b_feature_design/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src/feature_design48/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m11b_feature_design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代码规范率 93.53%（工单把≥70%钉在 D 档）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特征 18 个（最小集 acc 0.4778）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消融砍 33.3% 后 acc -0.0028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Top3 内新特征 2 个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实测 最小集 5 特征跑通：4 折×3 种子 CV acc 0.4778；规范率 93.53%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 ｜ 5 特征表能跑通；代码规范率≥70%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实测 特征 18 个（线 10）；字典五栏成文 5/5，缺空 0 处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规范率不另设线（工单仅 D 档设线，实测 93.53%） [达标] ｜ 功能OK ｜ ≥10 特征且字典完整（名称/公式/含义/单位/范围五栏成文）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实测 尾部砍 33.3%（6 个）后 acc -0.0028（红线 ±0.030）；决策记录 295 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规范率不另设线（工单仅 D 档设线，实测 93.53%） [达标] ｜ 功能OK ｜ 特征砍 30% 性能不降（消融验证）；决策记录完整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实测 Top3 内 v1.1 新特征 2 个：f_ratio2x、f_hf_ratio；物理解释成文 46 字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规范率不另设线（工单仅 D 档设线，实测 93.53%） [达标] ｜ 功能OK ｜ 新特征进 Top3 且有物理解释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4E16"/>
                </a:solidFill>
                <a:latin typeface="微软雅黑"/>
              </a:rPr>
              <a:t>人工答辩项 0 条：四档门槛均由代码实测判定</a:t>
            </a:r>
          </a:p>
          <a:p>
            <a:r>
              <a:rPr sz="10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m11b_feature_design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6" name="Picture 15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19" name="Picture 18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2" name="Picture 21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项目：05-AI应用基础48课时版/工程化项目/m11b_feature_design/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10:50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工具/ppt97/evidence/m11b_feature_design/（capture97.py 真跑捕获，未改写数字）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M1-1b 特征设计与优化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特征矩阵: 80 样本 × 5 特征  训练准确率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特征重要性排序: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1. a16   0.580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2. rms   0.258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3. ptp   0.111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4. kurt  0.025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5. a8    0.025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频域 16Hz 幅值（磨损的二倍频指纹）判别力最强 → 特征设计直接决定模型上限。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下次课预告（第11周）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能跑通LR与决策树双模型——应用：见工单star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课中查①：'resample报错'这个报错怎么排查？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W05-第4次课-特征设计与优化（下）：优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