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71" r:id="rId21"/>
    <p:sldId id="274" r:id="rId26"/>
    <p:sldId id="280" r:id="rId32"/>
    <p:sldId id="307" r:id="rId59"/>
    <p:sldId id="374" r:id="rId24"/>
    <p:sldId id="375" r:id="rId25"/>
    <p:sldId id="376" r:id="rId14"/>
    <p:sldId id="318" r:id="rId70"/>
    <p:sldId id="366" r:id="rId16"/>
    <p:sldId id="367" r:id="rId17"/>
    <p:sldId id="368" r:id="rId18"/>
    <p:sldId id="369" r:id="rId19"/>
    <p:sldId id="370" r:id="rId20"/>
    <p:sldId id="365" r:id="rId15"/>
    <p:sldId id="363" r:id="rId115"/>
    <p:sldId id="364" r:id="rId116"/>
    <p:sldId id="372" r:id="rId22"/>
    <p:sldId id="373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4" Type="http://schemas.openxmlformats.org/officeDocument/2006/relationships/slide" Target="slides/slide19.xml"/><Relationship Id="rId15" Type="http://schemas.openxmlformats.org/officeDocument/2006/relationships/slide" Target="slides/slide12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2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3.xml"/><Relationship Id="rId32" Type="http://schemas.openxmlformats.org/officeDocument/2006/relationships/slide" Target="slides/slide4.xml"/><Relationship Id="rId59" Type="http://schemas.openxmlformats.org/officeDocument/2006/relationships/slide" Target="slides/slide5.xml"/><Relationship Id="rId70" Type="http://schemas.openxmlformats.org/officeDocument/2006/relationships/slide" Target="slides/slide6.xml"/><Relationship Id="rId115" Type="http://schemas.openxmlformats.org/officeDocument/2006/relationships/slide" Target="slides/slide13.xml"/><Relationship Id="rId116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开场30秒：《YOLO实时缺陷检测（下）：优化与评价》，80分钟=2课时×40分钟。课前已发工单+微课知识卡。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情境说书30秒：产线节拍又升了。老周批了CPU算力：'实时检测，速度与精度你自己权衡。'工单M3-2：YOLO缺陷检测，阈值、输入尺寸与…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工单发布：'设备智能运维中心工单M3-2'——及格线mAP≥0.60+FPS表完整。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项目5 大模型·视觉应用 | 预习知识点：YOLO检测原理(边界框/置信度)；mAP与FPS | 课中检查知识点：CPU实时检测mAP≥0.70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YOLO实时缺陷检测（下）：优化与评价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第16周 · 第16次课（2课时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W16课中查①：'FPS波动大'这个报错怎么排查？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W16课中查②：优秀线mAP≥0.75你打算怎么冲？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产线节拍又升了。老周批了CPU算力：'实时检测，速度与精度你自己权衡。'工单M3-2：YOLO缺陷检测，阈值、输入尺寸与FPS的三方博弈。</a:t>
            </a:r>
          </a:p>
        </p:txBody>
      </p:sp>
      <p:pic>
        <p:nvPicPr>
          <p:cNvPr id="9" name="Picture 8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YOLO实时缺陷检测（下）：优化与评价（实施要点）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实施任务：工单M3-2《YOLO实时缺陷检测（下）：优化与评价》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mAP≥0.60+FPS表完整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mAP≥0.75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本次真跑实测输出（逐字取自 output/report.txt）</a:t>
            </a:r>
          </a:p>
          <a:p>
            <a:r>
              <a:rPr sz="1400" b="1">
                <a:solidFill>
                  <a:srgbClr val="0545E8"/>
                </a:solidFill>
              </a:rPr>
              <a:t>实测达成档位: 优(A) ｜ 实测 AP@0.5 0.8272 ｜ 扫描表 3 行/30 格（应 30 格）｜ 推荐点实测 AP 0.8272 ｜ win16 实测加速 +33.5% ｜ 决策记录 1 条 ｜ 规范率 96.88%</a:t>
            </a:r>
          </a:p>
          <a:p>
            <a:r>
              <a:rPr sz="1400" b="1">
                <a:solidFill>
                  <a:srgbClr val="0545E8"/>
                </a:solidFill>
              </a:rPr>
              <a:t>及格(D)    规范率门槛≥70% [达标] ｜ 功能OK ｜ 基线 mAP 有数（实测 0.8272）</a:t>
            </a:r>
          </a:p>
          <a:p>
            <a:r>
              <a:rPr sz="1400" b="1">
                <a:solidFill>
                  <a:srgbClr val="0545E8"/>
                </a:solidFill>
              </a:rPr>
              <a:t>良好(C)    规范率门槛≥70% [达标] ｜ 功能OK ｜ AP@0.5≥0.6 且表完整（实测 0.8272 / 3 行 30 格，应 30 格）</a:t>
            </a:r>
          </a:p>
          <a:p>
            <a:r>
              <a:rPr sz="1400" b="1">
                <a:solidFill>
                  <a:srgbClr val="0545E8"/>
                </a:solidFill>
              </a:rPr>
              <a:t>优秀(B)    规范率门槛≥70% [达标] ｜ 功能OK ｜ 推荐点+理由挂在实测数字+决策记录≥1（实测推荐 AP 0.8272，理由含实测数字=True，决策记录 1 条）</a:t>
            </a:r>
          </a:p>
          <a:p>
            <a:r>
              <a:rPr sz="1400" b="1">
                <a:solidFill>
                  <a:srgbClr val="0545E8"/>
                </a:solidFill>
              </a:rPr>
              <a:t>优(A)     规范率门槛≥70% [达标] ｜ 功能OK ｜ AP@0.5≥0.75 或 加速≥50%（实测 0.8272 / +33.5%）</a:t>
            </a:r>
          </a:p>
          <a:p>
            <a:r>
              <a:rPr sz="1400" b="1">
                <a:solidFill>
                  <a:srgbClr val="0545E8"/>
                </a:solidFill>
              </a:rPr>
              <a:t>人工答辩项 3 条，教师答辩时确认：</a:t>
            </a:r>
          </a:p>
          <a:p>
            <a:r>
              <a:rPr sz="1400" b="1">
                <a:solidFill>
                  <a:srgbClr val="0545E8"/>
                </a:solidFill>
              </a:rPr>
              <a:t>- 推荐理由的口头陈述与答辩问答（工单：方案对比周必答）</a:t>
            </a:r>
          </a:p>
          <a:p>
            <a:r>
              <a:rPr sz="1400" b="1">
                <a:solidFill>
                  <a:srgbClr val="0545E8"/>
                </a:solidFill>
              </a:rPr>
              <a:t>- 企业元验收栏签认（功能可用/参数留痕/数据可信，值班师傅签字）</a:t>
            </a:r>
          </a:p>
          <a:p>
            <a:r>
              <a:rPr sz="1400" b="1">
                <a:solidFill>
                  <a:srgbClr val="0545E8"/>
                </a:solidFill>
              </a:rPr>
              <a:t>- ONNX 通道未运行时的兜底口径是否可接受（见报告 ONNX 段）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工程化项目/m32_yolo/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src/yolo_detect/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m32_yolo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实测 AP@0.5 0.8272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扫描表 3 行/30 格（应 30 格）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推荐点实测 AP 0.8272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2752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win16 实测加速 +33.5%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03536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9256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决策记录 1 条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基线 mAP 有数（实测 0.8272）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AP@0.5≥0.6 且表完整（实测 0.8272 / 3 行 30 格，应 30 格）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规范率门槛≥70%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推荐点+理由挂在实测数字+决策记录≥1（实测推荐 AP 0.8272，理由含实测数字=True，决策记录 1 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AP@0.5≥0.75 或 加速≥50%（实测 0.8272 / +33.5%）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规范率门槛≥70%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B4E16"/>
                </a:solidFill>
                <a:latin typeface="微软雅黑"/>
              </a:rPr>
              <a:t>人工答辩项 3 条（代码不代判，答辩现场确认）：推荐理由的口头陈述与答辩问答（工单：方案对比周必答）；企业元验收栏签认（功能可用/参数留痕/数据可信，值班师傅签字）；ONNX 通道未运行时的兜底口径是否可接受（见报告 ONNX 段）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实测值共 6 项，本页只列前 5 项，其余见下页 report.txt 截图。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m32_yolo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6" name="Picture 15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19" name="Picture 18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2" name="Picture 21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项目：05-AI应用基础48课时版/工程化项目/m32_yolo/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10:48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工具/ppt97/evidence/m32_yolo/（capture97.py 真跑捕获，未改写数字）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产出图证据 · m32_yolo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481328"/>
            <a:ext cx="548640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产出图 · annotated_scene1.png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1755648"/>
            <a:ext cx="5340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7A8698"/>
                </a:solidFill>
                <a:latin typeface="微软雅黑"/>
              </a:rPr>
              <a:t>output/annotated_scene1.png ｜ 114 KB ｜ run.py 本次落盘</a:t>
            </a:r>
          </a:p>
        </p:txBody>
      </p:sp>
      <p:pic>
        <p:nvPicPr>
          <p:cNvPr id="17" name="Picture 16" descr="annotated_scen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1993392"/>
            <a:ext cx="4078224" cy="4078224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327648" y="1481328"/>
            <a:ext cx="548640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产出图 · annotated_scene2.png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755648"/>
            <a:ext cx="5340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7A8698"/>
                </a:solidFill>
                <a:latin typeface="微软雅黑"/>
              </a:rPr>
              <a:t>output/annotated_scene2.png ｜ 115 KB ｜ run.py 本次落盘</a:t>
            </a:r>
          </a:p>
        </p:txBody>
      </p:sp>
      <p:pic>
        <p:nvPicPr>
          <p:cNvPr id="21" name="Picture 20" descr="annotated_scen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36" y="1993392"/>
            <a:ext cx="4078224" cy="407822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以上图像由 run.py 本次运行落盘到 output/，非外部素材。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M3-2 YOLO实时缺陷检测（零依赖检测器）·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输入: 64×64 产线图 · 真值框(x,y,w,h) = (30, 40, 8, 8)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检测结果: 框=(32, 40, 8, 8)  缺陷分=0.658  IoU=0.60（目标≥0.5）  FPS≈5300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滑窗尺寸 × 性能取舍表（YOLO调参的本质：感受野 vs 速度 vs 定位精度）: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win   IoU     FPS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  4   0.25    1295  ×2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 16   0.00   16855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实测最优窗口 win=8（IoU=0.60）—— 窗口过小则单窗信噪比低易误检，过大则定位粗化，存在最优值；FPS 随窗口增大…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真机路径: ultralytics YOLOv8n 离线权重（data/weights/yolov8n.onnx）→ 同口径 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下次课预告（第17周）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能调用本地LLM服务完成诊断问答——应用：见工单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W16课中查①：'FPS波动大'这个报错怎么排查？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本讲对应工单：《AI应用基础48课时版》分层任务工单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检测=分类+定位｜不只说'有缺陷'还要框出'在哪'——一次前向出全部框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置信度阈值｜低阈值召回高误检多、高阈值反之——业务定夺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输入尺寸权衡｜640到320速度翻倍精度让步——像素即算力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FPS测量口径｜纯推理vs含前后处理——口径不同数字差几倍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mAP指标｜多阈值下平均精度——统一测试集才有意义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工程权衡三问｜漏一个的代价？误一个的代价？节拍多少？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分类只能答有/无——要位置就得检测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阈值不是拍的——用PR曲线按业务代价选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小目标缩图会看不见——先看缺陷最小尺寸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FPS波动大 → 先跑3帧预热再计时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框全叠一起 → 按类做非极大值抑制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mAP对不上 → 统一测试集与IoU0.5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及格线我能过吗——mAP≥0.60+FPS表完整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优秀线我够吗——mAP≥0.75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技能点我能独立做出来吗——能部署CPU预训练YOLO推理；能调阈值与尺寸并记录mAP和FPS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B7280"/>
                </a:solidFill>
                <a:latin typeface="微软雅黑"/>
              </a:rPr>
              <a:t>素材来源：同周《第15次课-YOLO实时缺陷检测（上》知识卡与避坑清单（逐字摘录）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检测=分类+定位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分类只能答有/无——要位置就得检测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不只说'有缺陷'还要框出'在哪'——一次前向出全部框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质检要定位缺陷位置指导返修 yolo.predict(img) 返回boxes+scores+classes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置信度阈值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阈值不是拍的——用PR曲线按业务代价选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低阈值召回高误检多、高阈值反之——业务定夺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漏检代价高的场景阈值调低宁可多报 conf=0.25 起步，按混淆矩阵调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输入尺寸权衡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小目标缩图会看不见——先看缺陷最小尺寸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640到320速度翻倍精度让步——像素即算力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边缘盒子算力有限时的第一调节旋钮 imgsz=320 推理时间约减半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承上启下 · 动手前避坑清单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本讲是动手冲刺课：先把上周完整讲解里的高频翻车点过一遍，再开工——每条都是历届学生真实踩过的坑。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FPS波动大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原因：首帧含warmup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解决：先跑3帧预热再计时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2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2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框全叠一起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原因：未做NMS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解决：按类做非极大值抑制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973068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973068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4037076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mAP对不上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357116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原因：测试集口径不同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解决：统一测试集与IoU0.5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B7280"/>
                </a:solidFill>
                <a:latin typeface="微软雅黑"/>
              </a:rPr>
              <a:t>素材来源：同周《第15次课-YOLO实时缺陷检测（上》知识卡与避坑清单（逐字摘录）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W11-第16次课-YOLO实时缺陷检测（下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