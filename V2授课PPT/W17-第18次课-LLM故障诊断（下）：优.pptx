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74" r:id="rId26"/>
    <p:sldId id="280" r:id="rId32"/>
    <p:sldId id="308" r:id="rId60"/>
    <p:sldId id="319" r:id="rId71"/>
    <p:sldId id="367" r:id="rId16"/>
    <p:sldId id="368" r:id="rId17"/>
    <p:sldId id="366" r:id="rId15"/>
    <p:sldId id="364" r:id="rId116"/>
    <p:sldId id="365" r:id="rId11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26" Type="http://schemas.openxmlformats.org/officeDocument/2006/relationships/slide" Target="slides/slide2.xml"/><Relationship Id="rId32" Type="http://schemas.openxmlformats.org/officeDocument/2006/relationships/slide" Target="slides/slide3.xml"/><Relationship Id="rId60" Type="http://schemas.openxmlformats.org/officeDocument/2006/relationships/slide" Target="slides/slide4.xml"/><Relationship Id="rId71" Type="http://schemas.openxmlformats.org/officeDocument/2006/relationships/slide" Target="slides/slide5.xml"/><Relationship Id="rId116" Type="http://schemas.openxmlformats.org/officeDocument/2006/relationships/slide" Target="slides/slide9.xml"/><Relationship Id="rId1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开场30秒：《LLM故障诊断（下）：优化与评价》，80分钟=2课时×40分钟。课前已发工单+微课知识卡。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课前测：点2人说答案，只追问为什么。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情境说书30秒：老周的终极愿望启动：'给集团造个不睡觉的值班工程师。'本地大模型就位，吴工提醒：'Prompt就是你的管理能力。'工单M…</a:t>
            </a:r>
          </a:p>
          <a:p>
            <a:r>
              <a:t>抛问：'如果是你，第一步干什么？'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步骤清单与工单一一对应。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工单发布：'设备智能运维中心工单M4-1'——及格线对比表完整+提升≥20%。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教材衔接：教材：《人工智能应用基础项目式教程》（程显毅 陈凤妹 王岩 编著，978-7-111-77382-5）— 项目6-7 大模型·语言应用 | 预习知识点：LLM基础(ChatGPT/文心/通义)；Prompt工程(角色/示例/思维链) | 课中检查知识点：三版Prompt对比提升≥20%；本地mock调用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下次课预告：布置微课与导学单。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/>
              </a:rPr>
              <a:t>AI应用基础（48课时版）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/>
              </a:rPr>
              <a:t>LLM故障诊断（下）：优化与评价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/>
              </a:rPr>
              <a:t>第17周 · 第18次课（2课时 · 80分钟）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双创中心302实训室 · 理实一体 · 配套：分层工单+starter · 本课主用：Jupyter（全程实训）+ PyCharm CE（starter编码）+ Git/GitHub（每周提交）</a:t>
            </a:r>
          </a:p>
        </p:txBody>
      </p:sp>
      <p:pic>
        <p:nvPicPr>
          <p:cNvPr id="7" name="Picture 6" descr="W12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/>
              </a:rPr>
              <a:t>重庆现代制造职业学院  智能控制学院 · 工业互联网应用专业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课前资讯回顾（六步之“资讯·计划”）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/>
              </a:rPr>
              <a:t>预习快问：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/>
              </a:rPr>
              <a:t>W17课中查①：'Connection refused'这个报错怎么排查？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课前检查：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/>
              </a:rPr>
              <a:t>W17课中查②：优秀线提升≥35%或自创模板你打算怎么冲？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任务情境（集团项目案例）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/>
              </a:rPr>
              <a:t>◆ 重庆两江智造集团 · 设备智能运维中心</a:t>
            </a: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/>
              </a:rPr>
              <a:t>老周的终极愿望启动：'给集团造个不睡觉的值班工程师。'本地大模型就位，吴工提醒：'Prompt就是你的管理能力。'工单M4-1：LLM故障诊断，同一问题三种问法，对比优化。</a:t>
            </a:r>
          </a:p>
        </p:txBody>
      </p:sp>
      <p:pic>
        <p:nvPicPr>
          <p:cNvPr id="9" name="Picture 8" descr="W12_场景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LLM故障诊断（下）：优化与评价（实施要点）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错误速查复盘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优化冲刺（B/A层）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三层质检互查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当堂评分与反馈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/>
              </a:rPr>
              <a:t>· 下次课预告+微课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实施任务：工单M4-1《LLM故障诊断（下）：优化与评价》</a:t>
            </a: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/>
              </a:rPr>
              <a:t>实施步骤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1. 错误速查复盘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2. 优化冲刺（B/A层）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3. 三层质检互查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4. 当堂评分与反馈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/>
              </a:rPr>
              <a:t>5. 下次课预告+微课</a:t>
            </a: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/>
              </a:rPr>
              <a:t>及格标准（D）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对比表完整+提升≥20%</a:t>
            </a: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/>
              </a:rPr>
              <a:t>优秀标准（B+）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/>
              </a:rPr>
              <a:t>提升≥35%或自创模板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先看终点（本课目标预览）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10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工单 M4-1 LLM 故障诊断·三版 Prompt 对比 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问题（仅给症状，不含诊断关键词）: 3号泵振动在爬升，运转声音发闷，帮我看看。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[朴素] 质量分=0.5  较朴素 +0%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回答: 建议：检查电源。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[角色] 质量分=1.0  较朴素 +50%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回答: 建议：更换轴承（依据：3号泵振动在爬升，运转声…）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[示例] 质量分=1.0  较朴素 +50%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回答: 建议：更换轴承（依据：3号泵振动在爬升，运转声…）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说明: 本演示走 starter 的离线规则通道（口径一致、零依赖）；设 OPENAI_BASE_URL 或起 工具/mock…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本工单的工程化项目 · 第三种代码形态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10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项目位置与一键运行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工程化项目/m41_prompt_lab/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run.py          # 输出 output/report.txt + result.json</a:t>
            </a:r>
          </a:p>
          <a:p>
            <a:pPr algn="l"/>
            <a:r>
              <a:rPr sz="1400" b="1">
                <a:solidFill>
                  <a:srgbClr val="0545E8"/>
                </a:solidFill>
              </a:rPr>
              <a:t>python -m pytest -q    # 全量测试应全绿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目录结构（23 个文件）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config/rules.yaml      规则外置：改配置不改代码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src/prompt_lab/  config · core · io_utils · report · pipeline</a:t>
            </a:r>
          </a:p>
          <a:p>
            <a:pPr algn="l"/>
            <a:r>
              <a:rPr sz="1300" b="1">
                <a:solidFill>
                  <a:srgbClr val="0545E8"/>
                </a:solidFill>
              </a:rPr>
              <a:t>tests/      正常 / 边界 / 异常三档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国标与 TOGAF 落地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GB/T 9385 需求规格 / 15532 测试 / 8567 文档 / 8566 过程组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TOGAF 四域：业务 · 数据 · 应用 · 技术架构</a:t>
            </a:r>
          </a:p>
          <a:p>
            <a:pPr algn="l"/>
            <a:r>
              <a:rPr sz="1300" b="1">
                <a:solidFill>
                  <a:srgbClr val="F5670F"/>
                </a:solidFill>
              </a:rPr>
              <a:t>docs/07 ADR-001 架构决策记录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工单完成效果图 · 完成后长这样（真实运行 · 参考实现） · 课末对照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10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1801368"/>
            <a:ext cx="10899648" cy="2286000"/>
          </a:xfrm>
          <a:prstGeom prst="roundRect">
            <a:avLst>
              <a:gd name="adj" fmla="val 6000"/>
            </a:avLst>
          </a:prstGeom>
          <a:solidFill>
            <a:srgbClr val="F3F6FD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758952" y="4178808"/>
            <a:ext cx="10899648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758952" y="5321808"/>
            <a:ext cx="10899648" cy="1005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60120" y="1929384"/>
            <a:ext cx="10469880" cy="2048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545E8"/>
                </a:solidFill>
              </a:rPr>
              <a:t>① 参考实现真实运行输出（本工单完成态）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=== 工单 M4-1 LLM 故障诊断·三版 Prompt 对比 · 完成态 ===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问题（仅给症状，不含诊断关键词）: 3号泵振动在爬升，运转声音发闷，帮我看看。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[朴素] 质量分=0.5  较朴素 +0%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回答: 建议：检查电源。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[角色] 质量分=1.0  较朴素 +50%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回答: 建议：更换轴承（依据：3号泵振动在爬升，运转声…）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[示例] 质量分=1.0  较朴素 +50%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  回答: 建议：更换轴承（依据：3号泵振动在爬升，运转声…）</a:t>
            </a:r>
          </a:p>
          <a:p>
            <a:pPr algn="l">
              <a:spcBef>
                <a:spcPts val="100"/>
              </a:spcBef>
            </a:pPr>
            <a:r>
              <a:rPr sz="1000" b="0">
                <a:solidFill>
                  <a:srgbClr val="010328"/>
                </a:solidFill>
              </a:rPr>
              <a:t>说明: 本演示走 starter 的离线规则通道（口径一致、零依赖）；设 OPENAI_BASE_URL 或起 工具/mock…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297680"/>
            <a:ext cx="104698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545E8"/>
                </a:solidFill>
              </a:rPr>
              <a:t>② 关键自检点（对照工单逐项核对）</a:t>
            </a:r>
          </a:p>
          <a:p>
            <a:pPr algn="l">
              <a:spcBef>
                <a:spcPts val="200"/>
              </a:spcBef>
            </a:pPr>
            <a:r>
              <a:rPr sz="1150" b="0">
                <a:solidFill>
                  <a:srgbClr val="010328"/>
                </a:solidFill>
              </a:rPr>
              <a:t>□ 代码从头跑到尾不报错　□ 指标与工单及格线逐项对齐　□ 随机种子已固定（可复现）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5431536"/>
            <a:ext cx="10469880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5670F"/>
                </a:solidFill>
              </a:rPr>
              <a:t>③ 提交与达标（过程性证据）</a:t>
            </a:r>
          </a:p>
          <a:p>
            <a:pPr algn="l">
              <a:spcBef>
                <a:spcPts val="200"/>
              </a:spcBef>
            </a:pPr>
            <a:r>
              <a:rPr sz="1100" b="0">
                <a:solidFill>
                  <a:srgbClr val="010328"/>
                </a:solidFill>
              </a:rPr>
              <a:t>达标线 D≥60 / C≥70 / B≥80 / A≥90　｜　提交 学号_姓名_工单号 + 运行截图 + 决策记录 + Git≥1次commit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/>
              </a:rPr>
              <a:t>THANKS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/>
              </a:rPr>
              <a:t>感谢聆听 · 动手实践出真知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/>
              </a:rPr>
              <a:t>以生为本   |   做中学 · 学中做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两江智造集团 · AI应用基础48课时版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下次课预告（第18周）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/>
              </a:rPr>
              <a:t>主题: 能搭建最小RAG问答链路——应用：见工单star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/>
              </a:rPr>
              <a:t>预习快问: W17课中查①：'Connection refused'这个报错怎么排查？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/>
              </a:rPr>
              <a:t>课前完成：导学单 + 预习自测 + starter环境自检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/>
              </a:rPr>
              <a:t>带着问题来上课——Predict先于Run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W12-第18次课-LLM故障诊断（下）：优</dc:title>
  <dc:subject>AI48授课PPT（v9风格+讲稿）</dc:subject>
  <dc:creator>工业互联网应用专业教学资源库</dc:creator>
  <cp:keywords>两江智造;AI48;岗课赛证创;课程思政;双创中心302</cp:keywords>
  <dc:description>48课时扩展版·每页备注为教师讲稿</dc:description>
  <cp:lastModifiedBy>Steve Canny</cp:lastModifiedBy>
  <cp:revision>1</cp:revision>
  <dcterms:created xsi:type="dcterms:W3CDTF">2026-09-09T00:00:00Z</dcterms:created>
  <dcterms:modified xsi:type="dcterms:W3CDTF">2026-09-09T00:00:00Z</dcterms:modified>
  <cp:category>高职高专教学文件</cp:category>
</cp:coreProperties>
</file>