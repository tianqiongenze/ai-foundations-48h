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371" r:id="rId20"/>
    <p:sldId id="274" r:id="rId26"/>
    <p:sldId id="280" r:id="rId32"/>
    <p:sldId id="308" r:id="rId60"/>
    <p:sldId id="374" r:id="rId23"/>
    <p:sldId id="375" r:id="rId24"/>
    <p:sldId id="376" r:id="rId25"/>
    <p:sldId id="319" r:id="rId71"/>
    <p:sldId id="367" r:id="rId16"/>
    <p:sldId id="368" r:id="rId17"/>
    <p:sldId id="369" r:id="rId18"/>
    <p:sldId id="370" r:id="rId19"/>
    <p:sldId id="366" r:id="rId15"/>
    <p:sldId id="364" r:id="rId116"/>
    <p:sldId id="365" r:id="rId117"/>
    <p:sldId id="372" r:id="rId21"/>
    <p:sldId id="373" r:id="rId2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15" Type="http://schemas.openxmlformats.org/officeDocument/2006/relationships/slide" Target="slides/slide11.xml"/><Relationship Id="rId16" Type="http://schemas.openxmlformats.org/officeDocument/2006/relationships/slide" Target="slides/slide7.xml"/><Relationship Id="rId17" Type="http://schemas.openxmlformats.org/officeDocument/2006/relationships/slide" Target="slides/slide8.xml"/><Relationship Id="rId18" Type="http://schemas.openxmlformats.org/officeDocument/2006/relationships/slide" Target="slides/slide9.xml"/><Relationship Id="rId19" Type="http://schemas.openxmlformats.org/officeDocument/2006/relationships/slide" Target="slides/slide10.xml"/><Relationship Id="rId20" Type="http://schemas.openxmlformats.org/officeDocument/2006/relationships/slide" Target="slides/slide2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3.xml"/><Relationship Id="rId32" Type="http://schemas.openxmlformats.org/officeDocument/2006/relationships/slide" Target="slides/slide4.xml"/><Relationship Id="rId60" Type="http://schemas.openxmlformats.org/officeDocument/2006/relationships/slide" Target="slides/slide5.xml"/><Relationship Id="rId71" Type="http://schemas.openxmlformats.org/officeDocument/2006/relationships/slide" Target="slides/slide6.xml"/><Relationship Id="rId116" Type="http://schemas.openxmlformats.org/officeDocument/2006/relationships/slide" Target="slides/slide12.xml"/><Relationship Id="rId117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开场30秒：《LLM故障诊断（下）：优化与评价》，80分钟=2课时×40分钟。课前已发工单+微课知识卡。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课前测：点2人说答案，只追问为什么。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情境说书30秒：老周的终极愿望启动：'给集团造个不睡觉的值班工程师。'本地大模型就位，吴工提醒：'Prompt就是你的管理能力。'工单M…</a:t>
            </a:r>
          </a:p>
          <a:p>
            <a:r>
              <a:t>抛问：'如果是你，第一步干什么？'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步骤清单与工单一一对应。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工单发布：'设备智能运维中心工单M4-1'——及格线对比表完整+提升≥20%。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教材衔接：教材：《人工智能应用基础项目式教程》（程显毅 陈凤妹 王岩 编著，978-7-111-77382-5）— 项目6-7 大模型·语言应用 | 预习知识点：LLM基础(ChatGPT/文心/通义)；Prompt工程(角色/示例/思维链) | 课中检查知识点：三版Prompt对比提升≥20%；本地mock调用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下次课预告：布置微课与导学单。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78308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783080"/>
            <a:ext cx="12192000" cy="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250000"/>
            <a:ext cx="10792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0">
                <a:solidFill>
                  <a:srgbClr val="FFFFFF"/>
                </a:solidFill>
                <a:latin typeface="微软雅黑"/>
              </a:rPr>
              <a:t>AI应用基础（48课时版）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BBC6E6"/>
                </a:solidFill>
                <a:latin typeface="微软雅黑"/>
              </a:rPr>
              <a:t>◆ 重庆两江智造集团 · 设备智能运维中心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" y="2263140"/>
            <a:ext cx="5992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>
                <a:solidFill>
                  <a:srgbClr val="010328"/>
                </a:solidFill>
                <a:latin typeface="微软雅黑"/>
              </a:rPr>
              <a:t>LLM故障诊断（下）：优化与评价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3771900"/>
            <a:ext cx="59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0545E8"/>
                </a:solidFill>
                <a:latin typeface="微软雅黑"/>
              </a:rPr>
              <a:t>第17周 · 第18次课（2课时 · 80分钟）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双创中心302实训室 · 理实一体 · 配套：分层工单+starter · 本课主用：Jupyter（全程实训）+ PyCharm CE（starter编码）+ Git/GitHub（每周提交）</a:t>
            </a:r>
          </a:p>
        </p:txBody>
      </p:sp>
      <p:pic>
        <p:nvPicPr>
          <p:cNvPr id="7" name="Picture 6" descr="W12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000" y="2300000"/>
            <a:ext cx="4100000" cy="3075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00000" y="5623560"/>
            <a:ext cx="1500000" cy="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0000" y="5760720"/>
            <a:ext cx="10792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重庆现代制造职业学院  智能控制学院 · 工业互联网应用专业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安全与合规警示（操作前必读）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9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/>
              <a:t>1. 上机前确认本工位电源开关与急停位置，确认设备处于安全状态。</a:t>
            </a:r>
          </a:p>
          <a:p>
            <a:pPr>
              <a:spcAft>
                <a:spcPts val="1000"/>
              </a:spcAft>
            </a:pPr>
            <a:r>
              <a:rPr sz="1800"/>
              <a:t>2. 涉及接线的操作一律先断电、后验电、再作业，禁止带电插拔。</a:t>
            </a:r>
          </a:p>
          <a:p>
            <a:pPr>
              <a:spcAft>
                <a:spcPts val="1000"/>
              </a:spcAft>
            </a:pPr>
            <a:r>
              <a:rPr sz="1800"/>
              <a:t>3. 身体任何部位不进入设备运动/散热区域，长发束起，不佩戴悬垂饰物。</a:t>
            </a:r>
          </a:p>
          <a:p>
            <a:pPr>
              <a:spcAft>
                <a:spcPts val="1000"/>
              </a:spcAft>
            </a:pPr>
            <a:r>
              <a:rPr sz="1800"/>
              <a:t>4. 调试程序前先静态检查、再低速小样本试运行，确认无异常后放大规模。</a:t>
            </a:r>
          </a:p>
          <a:p>
            <a:pPr>
              <a:spcAft>
                <a:spcPts val="1000"/>
              </a:spcAft>
            </a:pPr>
            <a:r>
              <a:rPr sz="1800"/>
              <a:t>5. 任何不确定或异常情况，立即停止操作并报告指导教师，不擅自处置。</a:t>
            </a:r>
          </a:p>
          <a:p>
            <a:r>
              <a:rPr sz="1400" b="1"/>
              <a:t>以上任一条违反，本次任务按课程标准「安全规范一票否决」条款记 0 分并中止实训。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课前资讯回顾（六步之“资讯·计划”）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100000"/>
            <a:ext cx="10600000" cy="17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2100000"/>
            <a:ext cx="120000" cy="1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0000" y="2280000"/>
            <a:ext cx="100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预习快问：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010328"/>
                </a:solidFill>
                <a:latin typeface="微软雅黑"/>
              </a:rPr>
              <a:t>W17课中查①：'Connection refused'这个报错怎么排查？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100000"/>
            <a:ext cx="106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课前检查：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W17课中查②：优秀线提升≥35%或自创模板你打算怎么冲？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 /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任务情境（集团项目案例）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780000"/>
            <a:ext cx="106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80000"/>
            <a:ext cx="102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◆ 重庆两江智造集团 · 设备智能运维中心</a:t>
            </a:r>
          </a:p>
        </p:txBody>
      </p:sp>
      <p:sp>
        <p:nvSpPr>
          <p:cNvPr id="7" name="Rectangle 6"/>
          <p:cNvSpPr/>
          <p:nvPr/>
        </p:nvSpPr>
        <p:spPr>
          <a:xfrm>
            <a:off x="800000" y="2580000"/>
            <a:ext cx="6300000" cy="3600000"/>
          </a:xfrm>
          <a:prstGeom prst="rect">
            <a:avLst/>
          </a:prstGeom>
          <a:solidFill>
            <a:srgbClr val="F7F9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2740000"/>
            <a:ext cx="5900000" cy="3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50" b="0">
                <a:solidFill>
                  <a:srgbClr val="010328"/>
                </a:solidFill>
                <a:latin typeface="微软雅黑"/>
              </a:rPr>
              <a:t>老周的终极愿望启动：'给集团造个不睡觉的值班工程师。'本地大模型就位，吴工提醒：'Prompt就是你的管理能力。'工单M4-1：LLM故障诊断，同一问题三种问法，对比优化。</a:t>
            </a:r>
          </a:p>
        </p:txBody>
      </p:sp>
      <p:pic>
        <p:nvPicPr>
          <p:cNvPr id="9" name="Picture 8" descr="W12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0000" y="2580000"/>
            <a:ext cx="4150000" cy="3600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 /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LLM故障诊断（下）：优化与评价（实施要点）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错误速查复盘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优化冲刺（B/A层）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三层质检互查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当堂评分与反馈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下次课预告+微课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 /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实施任务：工单M4-1《LLM故障诊断（下）：优化与评价》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6300000" cy="3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100000"/>
            <a:ext cx="5900000" cy="3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实施步骤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1. 错误速查复盘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2. 优化冲刺（B/A层）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3. 三层质检互查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4. 当堂评分与反馈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5. 下次课预告+微课</a:t>
            </a:r>
          </a:p>
        </p:txBody>
      </p:sp>
      <p:sp>
        <p:nvSpPr>
          <p:cNvPr id="7" name="Rectangle 6"/>
          <p:cNvSpPr/>
          <p:nvPr/>
        </p:nvSpPr>
        <p:spPr>
          <a:xfrm>
            <a:off x="7400000" y="1950000"/>
            <a:ext cx="4000000" cy="185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50000" y="2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及格标准（D）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对比表完整+提升≥20%</a:t>
            </a:r>
          </a:p>
        </p:txBody>
      </p:sp>
      <p:sp>
        <p:nvSpPr>
          <p:cNvPr id="9" name="Rectangle 8"/>
          <p:cNvSpPr/>
          <p:nvPr/>
        </p:nvSpPr>
        <p:spPr>
          <a:xfrm>
            <a:off x="7400000" y="3950000"/>
            <a:ext cx="4000000" cy="185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50000" y="4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优秀标准（B+）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提升≥35%或自创模板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 /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工单完成效果图 · 先看终点（本课目标预览）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 / 18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8952" y="1801368"/>
            <a:ext cx="10899648" cy="2286000"/>
          </a:xfrm>
          <a:prstGeom prst="roundRect">
            <a:avLst>
              <a:gd name="adj" fmla="val 6000"/>
            </a:avLst>
          </a:prstGeom>
          <a:solidFill>
            <a:srgbClr val="F3F6FD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ounded Rectangle 14"/>
          <p:cNvSpPr/>
          <p:nvPr/>
        </p:nvSpPr>
        <p:spPr>
          <a:xfrm>
            <a:off x="758952" y="4178808"/>
            <a:ext cx="10899648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758952" y="5321808"/>
            <a:ext cx="10899648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60120" y="1929384"/>
            <a:ext cx="10469880" cy="20482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545E8"/>
                </a:solidFill>
              </a:rPr>
              <a:t>① 本次真跑实测输出（逐字取自 output/report.txt）</a:t>
            </a:r>
          </a:p>
          <a:p>
            <a:r>
              <a:rPr sz="1400" b="1">
                <a:solidFill>
                  <a:srgbClr val="0545E8"/>
                </a:solidFill>
              </a:rPr>
              <a:t>实测达成档位: 优(A) ｜ 实测提升 +50% ｜ 对比表 3 行 ｜ 断服降级话术命中=是 ｜ 决策记录完整=是 ｜ 多轮 2 轮且上下文保持=是 ｜ 代码规范率实测 95.5%</a:t>
            </a:r>
          </a:p>
          <a:p>
            <a:r>
              <a:rPr sz="1400" b="1">
                <a:solidFill>
                  <a:srgbClr val="0545E8"/>
                </a:solidFill>
              </a:rPr>
              <a:t>及格(D)    规范率门槛≥70% [达标] ｜ 功能OK ｜ 能出回答</a:t>
            </a:r>
          </a:p>
          <a:p>
            <a:r>
              <a:rPr sz="1400" b="1">
                <a:solidFill>
                  <a:srgbClr val="0545E8"/>
                </a:solidFill>
              </a:rPr>
              <a:t>良好(C)    提升门槛≥20% ｜ 功能OK ｜ 提升≥20%加对比表</a:t>
            </a:r>
          </a:p>
          <a:p>
            <a:r>
              <a:rPr sz="1400" b="1">
                <a:solidFill>
                  <a:srgbClr val="0545E8"/>
                </a:solidFill>
              </a:rPr>
              <a:t>优秀(B)    功能OK ｜ 断服不崩溃有降级话术；决策记录完整</a:t>
            </a:r>
          </a:p>
          <a:p>
            <a:r>
              <a:rPr sz="1400" b="1">
                <a:solidFill>
                  <a:srgbClr val="0545E8"/>
                </a:solidFill>
              </a:rPr>
              <a:t>优(A)     提升门槛≥35%（或多轮）｜ 功能OK ｜ 提升≥35%或多轮对话</a:t>
            </a:r>
          </a:p>
          <a:p>
            <a:r>
              <a:rPr sz="1400" b="1">
                <a:solidFill>
                  <a:srgbClr val="0545E8"/>
                </a:solidFill>
              </a:rPr>
              <a:t>人工答辩项 1 条，教师答辩时确认：企业元验收栏：功能可用□ 参数留痕□ 数据可信□（师傅签字）</a:t>
            </a:r>
          </a:p>
          <a:p>
            <a:r>
              <a:rPr sz="1400" b="1">
                <a:solidFill>
                  <a:srgbClr val="0545E8"/>
                </a:solidFill>
              </a:rPr>
              <a:t>本演示走离线规则通道；设 OPENAI_BASE_URL 与 OPENAI_API_KEY 环境变量即切真机 HTTP 通道（urllib+超时，重试耗尽自动降级，不硬编码任何密钥）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4297680"/>
            <a:ext cx="104698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545E8"/>
                </a:solidFill>
              </a:rPr>
              <a:t>② 关键自检点（对照工单逐项核对）</a:t>
            </a:r>
          </a:p>
          <a:p>
            <a:pPr algn="l">
              <a:spcBef>
                <a:spcPts val="200"/>
              </a:spcBef>
            </a:pPr>
            <a:r>
              <a:rPr sz="1150" b="0">
                <a:solidFill>
                  <a:srgbClr val="010328"/>
                </a:solidFill>
              </a:rPr>
              <a:t>□ 代码从头跑到尾不报错　□ 指标与工单及格线逐项对齐　□ 随机种子已固定（可复现）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5431536"/>
            <a:ext cx="1046988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F5670F"/>
                </a:solidFill>
              </a:rPr>
              <a:t>③ 提交与达标（过程性证据）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010328"/>
                </a:solidFill>
              </a:rPr>
              <a:t>达标线 D≥60 / C≥70 / B≥80 / A≥90　｜　提交 学号_姓名_工单号 + 运行截图 + 决策记录 + Git≥1次commit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本工单的工程化项目 · 第三种代码形态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11 / 18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8952" y="1801368"/>
            <a:ext cx="10899648" cy="2286000"/>
          </a:xfrm>
          <a:prstGeom prst="roundRect">
            <a:avLst>
              <a:gd name="adj" fmla="val 6000"/>
            </a:avLst>
          </a:prstGeom>
          <a:solidFill>
            <a:srgbClr val="F3F6FD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ounded Rectangle 14"/>
          <p:cNvSpPr/>
          <p:nvPr/>
        </p:nvSpPr>
        <p:spPr>
          <a:xfrm>
            <a:off x="758952" y="4178808"/>
            <a:ext cx="10899648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758952" y="5321808"/>
            <a:ext cx="10899648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60120" y="1929384"/>
            <a:ext cx="10469880" cy="20482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545E8"/>
                </a:solidFill>
              </a:rPr>
              <a:t>① 项目位置与一键运行</a:t>
            </a:r>
          </a:p>
          <a:p>
            <a:pPr algn="l"/>
            <a:r>
              <a:rPr sz="1400" b="1">
                <a:solidFill>
                  <a:srgbClr val="0545E8"/>
                </a:solidFill>
              </a:rPr>
              <a:t>工程化项目/m41_prompt_lab/</a:t>
            </a:r>
          </a:p>
          <a:p>
            <a:pPr algn="l"/>
            <a:r>
              <a:rPr sz="1400" b="1">
                <a:solidFill>
                  <a:srgbClr val="0545E8"/>
                </a:solidFill>
              </a:rPr>
              <a:t>python run.py          # 输出 output/report.txt + result.json</a:t>
            </a:r>
          </a:p>
          <a:p>
            <a:pPr algn="l"/>
            <a:r>
              <a:rPr sz="1400" b="1">
                <a:solidFill>
                  <a:srgbClr val="0545E8"/>
                </a:solidFill>
              </a:rPr>
              <a:t>python -m pytest -q    # 全量测试应全绿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4297680"/>
            <a:ext cx="104698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545E8"/>
                </a:solidFill>
              </a:rPr>
              <a:t>② 目录结构（23 个文件）</a:t>
            </a:r>
          </a:p>
          <a:p>
            <a:pPr algn="l"/>
            <a:r>
              <a:rPr sz="1300" b="1">
                <a:solidFill>
                  <a:srgbClr val="0545E8"/>
                </a:solidFill>
              </a:rPr>
              <a:t>config/rules.yaml      规则外置：改配置不改代码</a:t>
            </a:r>
          </a:p>
          <a:p>
            <a:pPr algn="l"/>
            <a:r>
              <a:rPr sz="1300" b="1">
                <a:solidFill>
                  <a:srgbClr val="0545E8"/>
                </a:solidFill>
              </a:rPr>
              <a:t>src/prompt_lab/  config · core · io_utils · report · pipeline</a:t>
            </a:r>
          </a:p>
          <a:p>
            <a:pPr algn="l"/>
            <a:r>
              <a:rPr sz="1300" b="1">
                <a:solidFill>
                  <a:srgbClr val="0545E8"/>
                </a:solidFill>
              </a:rPr>
              <a:t>tests/      正常 / 边界 / 异常三档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5431536"/>
            <a:ext cx="1046988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F5670F"/>
                </a:solidFill>
              </a:rPr>
              <a:t>③ 国标与 TOGAF 落地</a:t>
            </a:r>
          </a:p>
          <a:p>
            <a:pPr algn="l"/>
            <a:r>
              <a:rPr sz="1300" b="1">
                <a:solidFill>
                  <a:srgbClr val="F5670F"/>
                </a:solidFill>
              </a:rPr>
              <a:t>GB/T 9385 需求规格 / 15532 测试 / 8567 文档 / 8566 过程组</a:t>
            </a:r>
          </a:p>
          <a:p>
            <a:pPr algn="l"/>
            <a:r>
              <a:rPr sz="1300" b="1">
                <a:solidFill>
                  <a:srgbClr val="F5670F"/>
                </a:solidFill>
              </a:rPr>
              <a:t>TOGAF 四域：业务 · 数据 · 应用 · 技术架构</a:t>
            </a:r>
          </a:p>
          <a:p>
            <a:pPr algn="l"/>
            <a:r>
              <a:rPr sz="1300" b="1">
                <a:solidFill>
                  <a:srgbClr val="F5670F"/>
                </a:solidFill>
              </a:rPr>
              <a:t>docs/07 ADR-001 架构决策记录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实测验收 · m41_prompt_lab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12 / 18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1371600"/>
            <a:ext cx="12188952" cy="713232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1426464"/>
            <a:ext cx="26517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E7D46"/>
                </a:solidFill>
                <a:latin typeface="微软雅黑"/>
              </a:rPr>
              <a:t>实测达成档位</a:t>
            </a:r>
          </a:p>
          <a:p>
            <a:r>
              <a:rPr sz="1400" b="1">
                <a:solidFill>
                  <a:srgbClr val="2E7D46"/>
                </a:solidFill>
                <a:latin typeface="微软雅黑"/>
              </a:rPr>
              <a:t>优(A)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0" y="1426464"/>
            <a:ext cx="1627632" cy="603504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46120" y="1463040"/>
            <a:ext cx="15361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35506E"/>
                </a:solidFill>
                <a:latin typeface="微软雅黑"/>
              </a:rPr>
              <a:t>实测提升 +50%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901184" y="1426464"/>
            <a:ext cx="1627632" cy="603504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46904" y="1463040"/>
            <a:ext cx="15361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35506E"/>
                </a:solidFill>
                <a:latin typeface="微软雅黑"/>
              </a:rPr>
              <a:t>对比表 3 行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601968" y="1426464"/>
            <a:ext cx="1627632" cy="603504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47688" y="1463040"/>
            <a:ext cx="15361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35506E"/>
                </a:solidFill>
                <a:latin typeface="微软雅黑"/>
              </a:rPr>
              <a:t>断服降级话术命中=是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302752" y="1426464"/>
            <a:ext cx="1627632" cy="603504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48472" y="1463040"/>
            <a:ext cx="15361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35506E"/>
                </a:solidFill>
                <a:latin typeface="微软雅黑"/>
              </a:rPr>
              <a:t>决策记录完整=是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003536" y="1426464"/>
            <a:ext cx="1627632" cy="603504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49256" y="1463040"/>
            <a:ext cx="15361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35506E"/>
                </a:solidFill>
                <a:latin typeface="微软雅黑"/>
              </a:rPr>
              <a:t>多轮 2 轮且上下文保持=是</a:t>
            </a:r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457200" y="2212848"/>
          <a:ext cx="11274552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5120640"/>
                <a:gridCol w="3886200"/>
                <a:gridCol w="1078992"/>
              </a:tblGrid>
              <a:tr h="56692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</a:rPr>
                        <a:t>档位</a:t>
                      </a:r>
                    </a:p>
                  </a:txBody>
                  <a:tcPr>
                    <a:solidFill>
                      <a:srgbClr val="0103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</a:rPr>
                        <a:t>工单验收标准（原文）</a:t>
                      </a:r>
                    </a:p>
                  </a:txBody>
                  <a:tcPr>
                    <a:solidFill>
                      <a:srgbClr val="0103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</a:rPr>
                        <a:t>本次实测判定</a:t>
                      </a:r>
                    </a:p>
                  </a:txBody>
                  <a:tcPr>
                    <a:solidFill>
                      <a:srgbClr val="0103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</a:rPr>
                        <a:t>判定</a:t>
                      </a:r>
                    </a:p>
                  </a:txBody>
                  <a:tcPr>
                    <a:solidFill>
                      <a:srgbClr val="01032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B2F36"/>
                          </a:solidFill>
                          <a:latin typeface="微软雅黑"/>
                        </a:rPr>
                        <a:t>及格(D)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能出回答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规范率门槛≥70% [达标] ｜ 功能OK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E7D46"/>
                          </a:solidFill>
                          <a:latin typeface="微软雅黑"/>
                        </a:rPr>
                        <a:t>✓ 达标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B2F36"/>
                          </a:solidFill>
                          <a:latin typeface="微软雅黑"/>
                        </a:rPr>
                        <a:t>良好(C)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提升≥20%加对比表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提升门槛≥20% ｜ 功能OK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E7D46"/>
                          </a:solidFill>
                          <a:latin typeface="微软雅黑"/>
                        </a:rPr>
                        <a:t>✓ 达标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B2F36"/>
                          </a:solidFill>
                          <a:latin typeface="微软雅黑"/>
                        </a:rPr>
                        <a:t>优秀(B)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断服不崩溃有降级话术；决策记录完整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功能OK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E7D46"/>
                          </a:solidFill>
                          <a:latin typeface="微软雅黑"/>
                        </a:rPr>
                        <a:t>✓ 达标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B2F36"/>
                          </a:solidFill>
                          <a:latin typeface="微软雅黑"/>
                        </a:rPr>
                        <a:t>优(A)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提升≥35%或多轮对话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提升门槛≥35%（或多轮） ｜ 功能OK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E7D46"/>
                          </a:solidFill>
                          <a:latin typeface="微软雅黑"/>
                        </a:rPr>
                        <a:t>✓ 达标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  <p:sp>
        <p:nvSpPr>
          <p:cNvPr id="27" name="Rectangle 26"/>
          <p:cNvSpPr/>
          <p:nvPr/>
        </p:nvSpPr>
        <p:spPr>
          <a:xfrm>
            <a:off x="457200" y="5138928"/>
            <a:ext cx="11274552" cy="1261872"/>
          </a:xfrm>
          <a:prstGeom prst="rect">
            <a:avLst/>
          </a:prstGeom>
          <a:solidFill>
            <a:srgbClr val="FFF7E8"/>
          </a:solidFill>
          <a:ln>
            <a:solidFill>
              <a:srgbClr val="E8C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1792" y="5212080"/>
            <a:ext cx="10927080" cy="1133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6B4E16"/>
                </a:solidFill>
                <a:latin typeface="微软雅黑"/>
              </a:rPr>
              <a:t>人工答辩项 1 条（代码不代判，答辩现场确认，逐条见下页 report.txt 截图）</a:t>
            </a:r>
          </a:p>
          <a:p>
            <a:r>
              <a:rPr sz="950" b="0">
                <a:solidFill>
                  <a:srgbClr val="6B4E16"/>
                </a:solidFill>
                <a:latin typeface="微软雅黑"/>
              </a:rPr>
              <a:t>档位是算出来的：判定值由 run.py 本次真跑产生；工单未给数字的门槛在报告里标注为「兜底口径·非工单数字」。</a:t>
            </a:r>
          </a:p>
          <a:p>
            <a:r>
              <a:rPr sz="950" b="0">
                <a:solidFill>
                  <a:srgbClr val="6B4E16"/>
                </a:solidFill>
                <a:latin typeface="微软雅黑"/>
              </a:rPr>
              <a:t>实测值共 6 项，本页只列前 5 项，其余见下页 report.txt 截图。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实跑截图证据 · m41_prompt_lab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13 / 18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1481328"/>
            <a:ext cx="5486400" cy="2304288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0352" y="1517904"/>
            <a:ext cx="534009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010328"/>
                </a:solidFill>
                <a:latin typeface="微软雅黑"/>
              </a:rPr>
              <a:t>① run.py 实跑终端输出（逐字捕获）</a:t>
            </a:r>
          </a:p>
        </p:txBody>
      </p:sp>
      <p:pic>
        <p:nvPicPr>
          <p:cNvPr id="16" name="Picture 15" descr="shot_ru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038" y="1773936"/>
            <a:ext cx="4472722" cy="1956816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6327648" y="1481328"/>
            <a:ext cx="5486400" cy="2304288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1517904"/>
            <a:ext cx="534009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010328"/>
                </a:solidFill>
                <a:latin typeface="微软雅黑"/>
              </a:rPr>
              <a:t>② pytest 全绿终端输出（逐字捕获）</a:t>
            </a:r>
          </a:p>
        </p:txBody>
      </p:sp>
      <p:pic>
        <p:nvPicPr>
          <p:cNvPr id="19" name="Picture 18" descr="shot_te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4486" y="1773936"/>
            <a:ext cx="4472722" cy="1956816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457200" y="3877056"/>
            <a:ext cx="5486400" cy="2304288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0352" y="3913632"/>
            <a:ext cx="534009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010328"/>
                </a:solidFill>
                <a:latin typeface="微软雅黑"/>
              </a:rPr>
              <a:t>③ report.txt「验收档位判定（实测）」段</a:t>
            </a:r>
          </a:p>
        </p:txBody>
      </p:sp>
      <p:pic>
        <p:nvPicPr>
          <p:cNvPr id="22" name="Picture 21" descr="shot_repo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4038" y="4169664"/>
            <a:ext cx="4472722" cy="1956816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6327648" y="3877056"/>
            <a:ext cx="5486400" cy="2304288"/>
          </a:xfrm>
          <a:prstGeom prst="rect">
            <a:avLst/>
          </a:prstGeom>
          <a:solidFill>
            <a:srgbClr val="F7F9FB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3913632"/>
            <a:ext cx="534009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010328"/>
                </a:solidFill>
                <a:latin typeface="微软雅黑"/>
              </a:rPr>
              <a:t>④ 采集口径（可复现）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37376" y="4187952"/>
            <a:ext cx="5266944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2B2F36"/>
                </a:solidFill>
                <a:latin typeface="微软雅黑"/>
              </a:rPr>
              <a:t>项目：05-AI应用基础48课时版/工程化项目/m41_prompt_lab/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命令：/opt/anaconda3/bin/python run.py ｜ /opt/anaconda3/bin/python -m pytest -q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采集：工具/ppt97/capture97.py（2026-10-28 10:48 真跑逐字捕获输出）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渲染：工具/ppt97/terminal_png.py（终端截图，不改写任何数字）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退出码：run=0 ｜ pytest=0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档位判定取自 output/report.txt「验收档位判定（实测）」段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254496"/>
            <a:ext cx="11247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7A8698"/>
                </a:solidFill>
                <a:latin typeface="微软雅黑"/>
              </a:rPr>
              <a:t>截图内容逐字取自 工具/ppt97/evidence/m41_prompt_lab/（capture97.py 真跑捕获，未改写数字）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工单完成效果图 · 完成后长这样（真实运行 · 参考实现） · 课末对照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14 / 18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8952" y="1801368"/>
            <a:ext cx="10899648" cy="2286000"/>
          </a:xfrm>
          <a:prstGeom prst="roundRect">
            <a:avLst>
              <a:gd name="adj" fmla="val 6000"/>
            </a:avLst>
          </a:prstGeom>
          <a:solidFill>
            <a:srgbClr val="F3F6FD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ounded Rectangle 14"/>
          <p:cNvSpPr/>
          <p:nvPr/>
        </p:nvSpPr>
        <p:spPr>
          <a:xfrm>
            <a:off x="758952" y="4178808"/>
            <a:ext cx="10899648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758952" y="5321808"/>
            <a:ext cx="10899648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60120" y="1929384"/>
            <a:ext cx="10469880" cy="20482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545E8"/>
                </a:solidFill>
              </a:rPr>
              <a:t>① 参考实现真实运行输出（本工单完成态）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=== 工单 M4-1 LLM 故障诊断·三版 Prompt 对比 · 完成态 ===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问题（仅给症状，不含诊断关键词）: 3号泵振动在爬升，运转声音发闷，帮我看看。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[朴素] 质量分=0.5  较朴素 +0%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  回答: 建议：检查电源。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[角色] 质量分=1.0  较朴素 +50%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  回答: 建议：更换轴承（依据：3号泵振动在爬升，运转声…）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[示例] 质量分=1.0  较朴素 +50%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  回答: 建议：更换轴承（依据：3号泵振动在爬升，运转声…）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说明: 本演示走 starter 的离线规则通道（口径一致、零依赖）；设 OPENAI_BASE_URL 或起 工具/mock…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4297680"/>
            <a:ext cx="104698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545E8"/>
                </a:solidFill>
              </a:rPr>
              <a:t>② 关键自检点（对照工单逐项核对）</a:t>
            </a:r>
          </a:p>
          <a:p>
            <a:pPr algn="l">
              <a:spcBef>
                <a:spcPts val="200"/>
              </a:spcBef>
            </a:pPr>
            <a:r>
              <a:rPr sz="1150" b="0">
                <a:solidFill>
                  <a:srgbClr val="010328"/>
                </a:solidFill>
              </a:rPr>
              <a:t>□ 代码从头跑到尾不报错　□ 指标与工单及格线逐项对齐　□ 随机种子已固定（可复现）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5431536"/>
            <a:ext cx="1046988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F5670F"/>
                </a:solidFill>
              </a:rPr>
              <a:t>③ 提交与达标（过程性证据）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010328"/>
                </a:solidFill>
              </a:rPr>
              <a:t>达标线 D≥60 / C≥70 / B≥80 / A≥90　｜　提交 学号_姓名_工单号 + 运行截图 + 决策记录 + Git≥1次commit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80360"/>
            <a:ext cx="12192000" cy="5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645920"/>
            <a:ext cx="12192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微软雅黑"/>
              </a:rPr>
              <a:t>THANKS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429000"/>
            <a:ext cx="121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5670F"/>
                </a:solidFill>
                <a:latin typeface="微软雅黑"/>
              </a:rPr>
              <a:t>感谢聆听 · 动手实践出真知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526280"/>
            <a:ext cx="12192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BBC6E6"/>
                </a:solidFill>
                <a:latin typeface="微软雅黑"/>
              </a:rPr>
              <a:t>以生为本   |   做中学 · 学中做</a:t>
            </a:r>
          </a:p>
        </p:txBody>
      </p:sp>
      <p:sp>
        <p:nvSpPr>
          <p:cNvPr id="7" name="Rectangle 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15 / 18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下次课预告（第18周）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50000" cy="1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0000" y="2050000"/>
            <a:ext cx="105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主题: 能搭建最小RAG问答链路——应用：见工单star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预习快问: W17课中查①：'Connection refused'这个报错怎么排查？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39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课前完成：导学单 + 预习自测 + starter环境自检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带着问题来上课——Predict先于Run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本任务六步法导航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9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/>
              <a:t>六步法：资讯 → 计划 → 决策 → 实施 → 检查 → 评估</a:t>
            </a:r>
          </a:p>
          <a:p>
            <a:pPr>
              <a:spcAft>
                <a:spcPts val="1000"/>
              </a:spcAft>
            </a:pPr>
            <a:r>
              <a:rPr sz="1800"/>
              <a:t>本讲对应工单：《AI应用基础48课时版》分层任务工单</a:t>
            </a:r>
          </a:p>
          <a:p>
            <a:pPr>
              <a:spcAft>
                <a:spcPts val="1000"/>
              </a:spcAft>
            </a:pPr>
            <a:r>
              <a:rPr sz="1800"/>
              <a:t>课堂产出：工单第六节实施记录须当堂填写，含操作前安全打勾与学生本人签字。</a:t>
            </a:r>
          </a:p>
          <a:p>
            <a:pPr>
              <a:spcAft>
                <a:spcPts val="1000"/>
              </a:spcAft>
            </a:pPr>
            <a:r>
              <a:rPr sz="1800"/>
              <a:t>课后交付：班组长／操作员／教师三方联签后交回，缺签视为未交付。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本讲与岗位任务单的衔接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9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/>
              <a:t>本讲在工作过程系统化课程中承担的任务环节：任务实施</a:t>
            </a:r>
          </a:p>
          <a:p>
            <a:pPr>
              <a:spcAft>
                <a:spcPts val="1000"/>
              </a:spcAft>
            </a:pPr>
            <a:r>
              <a:rPr sz="1800"/>
              <a:t>考核对齐：过程性成绩取自本讲工单第六节各模块得分合计（满分 100）。</a:t>
            </a:r>
          </a:p>
          <a:p>
            <a:pPr>
              <a:spcAft>
                <a:spcPts val="1000"/>
              </a:spcAft>
            </a:pPr>
            <a:r>
              <a:rPr sz="1800"/>
              <a:t>达标线：综合成绩≥60 分，且无安全红线一票否决记录</a:t>
            </a:r>
          </a:p>
          <a:p>
            <a:pPr>
              <a:spcAft>
                <a:spcPts val="1000"/>
              </a:spcAft>
            </a:pPr>
            <a:r>
              <a:rPr sz="1800"/>
              <a:t>无效工单判定：未打安全勾、无本人签字、无三方联签。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本课重难点地图 · 老师划重点（动手前必看）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 / 18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1389888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6B7280"/>
                </a:solidFill>
                <a:latin typeface="微软雅黑"/>
              </a:rPr>
              <a:t>动手前先看这页：重点要会什么、难点会卡在哪、哪里最容易错、学没学会怎么自测。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1783080"/>
            <a:ext cx="5532120" cy="3127248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1783080"/>
            <a:ext cx="5532120" cy="365760"/>
          </a:xfrm>
          <a:prstGeom prst="rect">
            <a:avLst/>
          </a:prstGeom>
          <a:solidFill>
            <a:srgbClr val="2F5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6928" y="1819656"/>
            <a:ext cx="53126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FFFFFF"/>
                </a:solidFill>
                <a:latin typeface="微软雅黑"/>
              </a:rPr>
              <a:t>重点 · 必会必考（本课知识点全景）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" y="2267712"/>
            <a:ext cx="52578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2B2F36"/>
                </a:solidFill>
                <a:latin typeface="微软雅黑"/>
              </a:rPr>
              <a:t>◆ B01 LLM调用本质｜就是HTTP+JSON——OpenAI兼容接口四字段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◆ B02 Prompt三模板｜朴素/角色设定/少样本示例——三档递进对比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◆ B03 思维链提示｜让模型一步一步想——复杂问题分步解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◆ B04 变量控制｜同一问题同一温度只换模板——公平比较的前提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◆ B05 容错三件套｜超时重试异常降级日志留痕——外部依赖必设防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◆ B06 脱敏红线｜真实工单先抹设备编号人名再上模型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44768" y="1783080"/>
            <a:ext cx="5586984" cy="1481328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44768" y="1783080"/>
            <a:ext cx="5586984" cy="365760"/>
          </a:xfrm>
          <a:prstGeom prst="rect">
            <a:avLst/>
          </a:prstGeom>
          <a:solidFill>
            <a:srgbClr val="8A4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54496" y="1819656"/>
            <a:ext cx="53675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FFFFFF"/>
                </a:solidFill>
                <a:latin typeface="微软雅黑"/>
              </a:rPr>
              <a:t>难点 · 易卡壳（下一页逐个击破）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60" y="2231136"/>
            <a:ext cx="53035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  <a:latin typeface="微软雅黑"/>
              </a:rPr>
              <a:t>▲ 误区：以为要装'大模型驱动'——标准HTTP即可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▲ 误区：prompt越长越好——指令清晰胜过堆字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▲ CoT对简单问题是浪费——一步能答的别绕路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44768" y="3401568"/>
            <a:ext cx="5586984" cy="1508760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144768" y="3401568"/>
            <a:ext cx="5586984" cy="365760"/>
          </a:xfrm>
          <a:prstGeom prst="rect">
            <a:avLst/>
          </a:prstGeom>
          <a:solidFill>
            <a:srgbClr val="9A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54496" y="3438144"/>
            <a:ext cx="53675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FFFFFF"/>
                </a:solidFill>
                <a:latin typeface="微软雅黑"/>
              </a:rPr>
              <a:t>高频易错 · 动手前先记住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9360" y="3849624"/>
            <a:ext cx="53035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  <a:latin typeface="微软雅黑"/>
              </a:rPr>
              <a:t>✗ Connection refused → 先python mock_llm_server.py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✗ 回答不稳定 → temperature为0对比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✗ 提升测不出 → 换多步推理题集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5047488"/>
            <a:ext cx="11274552" cy="1207008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57200" y="5047488"/>
            <a:ext cx="11274552" cy="365760"/>
          </a:xfrm>
          <a:prstGeom prst="rect">
            <a:avLst/>
          </a:prstGeom>
          <a:solidFill>
            <a:srgbClr val="2E7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66928" y="5084064"/>
            <a:ext cx="110550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FFFFFF"/>
                </a:solidFill>
                <a:latin typeface="微软雅黑"/>
              </a:rPr>
              <a:t>达标自问 · 学没学会，问自己这四句（当堂评分同口径）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1792" y="5458968"/>
            <a:ext cx="1097280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  <a:latin typeface="微软雅黑"/>
              </a:rPr>
              <a:t>① 及格线我能过吗——对比表完整+提升≥20%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② 优秀线我够吗——提升≥35%或自创模板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③ 技能点我能独立做出来吗——能调用本地LLM服务完成诊断问答；能设计并对比三种Prompt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④ 报错了先查「常见错误速查」页再举手——错误信息逐字读一遍，八成自己能修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6281928"/>
            <a:ext cx="9601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>
                <a:solidFill>
                  <a:srgbClr val="6B7280"/>
                </a:solidFill>
                <a:latin typeface="微软雅黑"/>
              </a:rPr>
              <a:t>素材来源：同周《第17次课-LLM故障诊断（上）：基》知识卡与避坑清单（逐字摘录）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难点逐个击破 · 零基础照做就能会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 / 18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1389888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6B7280"/>
                </a:solidFill>
                <a:latin typeface="微软雅黑"/>
              </a:rPr>
              <a:t>每个难点四步走：先看「为什么容易栽」对号入座 → 记住「一招破解」→ 照「动手验证」做一遍 → 做不出回知识详解页。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1783080"/>
            <a:ext cx="11274552" cy="1481328"/>
          </a:xfrm>
          <a:prstGeom prst="rect">
            <a:avLst/>
          </a:prstGeom>
          <a:solidFill>
            <a:srgbClr val="F7F9FC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1783080"/>
            <a:ext cx="82296" cy="1481328"/>
          </a:xfrm>
          <a:prstGeom prst="rect">
            <a:avLst/>
          </a:prstGeom>
          <a:solidFill>
            <a:srgbClr val="8A4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" y="1828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8A4B2D"/>
                </a:solidFill>
                <a:latin typeface="微软雅黑"/>
              </a:rPr>
              <a:t>难点1：B01 LLM调用本质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21488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B5533A"/>
                </a:solidFill>
                <a:latin typeface="微软雅黑"/>
              </a:rPr>
              <a:t>为什么容易栽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23865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2B2F36"/>
                </a:solidFill>
                <a:latin typeface="微软雅黑"/>
              </a:rPr>
              <a:t>误区：以为要装'大模型驱动'——标准HTTP即可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34255" y="21488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2E7D46"/>
                </a:solidFill>
                <a:latin typeface="微软雅黑"/>
              </a:rPr>
              <a:t>一招破解（记住这句）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34255" y="23865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2B2F36"/>
                </a:solidFill>
                <a:latin typeface="微软雅黑"/>
              </a:rPr>
              <a:t>就是HTTP+JSON——OpenAI兼容接口四字段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10143" y="21488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35506E"/>
                </a:solidFill>
                <a:latin typeface="微软雅黑"/>
              </a:rPr>
              <a:t>动手验证（照做一遍）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10143" y="23865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2B2F36"/>
                </a:solidFill>
                <a:latin typeface="微软雅黑"/>
              </a:rPr>
              <a:t>去神秘化：大模型不是魔法是一个API requests.post(url, json={'messages':…})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3383280"/>
            <a:ext cx="11274552" cy="1481328"/>
          </a:xfrm>
          <a:prstGeom prst="rect">
            <a:avLst/>
          </a:prstGeom>
          <a:solidFill>
            <a:srgbClr val="F7F9FC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200" y="3383280"/>
            <a:ext cx="82296" cy="1481328"/>
          </a:xfrm>
          <a:prstGeom prst="rect">
            <a:avLst/>
          </a:prstGeom>
          <a:solidFill>
            <a:srgbClr val="8A4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8368" y="34290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8A4B2D"/>
                </a:solidFill>
                <a:latin typeface="微软雅黑"/>
              </a:rPr>
              <a:t>难点2：B02 Prompt三模板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37490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B5533A"/>
                </a:solidFill>
                <a:latin typeface="微软雅黑"/>
              </a:rPr>
              <a:t>为什么容易栽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39867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2B2F36"/>
                </a:solidFill>
                <a:latin typeface="微软雅黑"/>
              </a:rPr>
              <a:t>误区：prompt越长越好——指令清晰胜过堆字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34255" y="37490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2E7D46"/>
                </a:solidFill>
                <a:latin typeface="微软雅黑"/>
              </a:rPr>
              <a:t>一招破解（记住这句）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34255" y="39867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2B2F36"/>
                </a:solidFill>
                <a:latin typeface="微软雅黑"/>
              </a:rPr>
              <a:t>朴素/角色设定/少样本示例——三档递进对比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10143" y="37490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35506E"/>
                </a:solidFill>
                <a:latin typeface="微软雅黑"/>
              </a:rPr>
              <a:t>动手验证（照做一遍）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10143" y="39867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2B2F36"/>
                </a:solidFill>
                <a:latin typeface="微软雅黑"/>
              </a:rPr>
              <a:t>同问题换模板对比效果——prompt即编程 role='system': '你是质检顾问'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" y="4983480"/>
            <a:ext cx="11274552" cy="1481328"/>
          </a:xfrm>
          <a:prstGeom prst="rect">
            <a:avLst/>
          </a:prstGeom>
          <a:solidFill>
            <a:srgbClr val="F7F9FC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57200" y="4983480"/>
            <a:ext cx="82296" cy="1481328"/>
          </a:xfrm>
          <a:prstGeom prst="rect">
            <a:avLst/>
          </a:prstGeom>
          <a:solidFill>
            <a:srgbClr val="8A4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8368" y="50292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8A4B2D"/>
                </a:solidFill>
                <a:latin typeface="微软雅黑"/>
              </a:rPr>
              <a:t>难点3：B03 思维链提示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" y="53492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B5533A"/>
                </a:solidFill>
                <a:latin typeface="微软雅黑"/>
              </a:rPr>
              <a:t>为什么容易栽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" y="55869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2B2F36"/>
                </a:solidFill>
                <a:latin typeface="微软雅黑"/>
              </a:rPr>
              <a:t>CoT对简单问题是浪费——一步能答的别绕路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334255" y="53492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2E7D46"/>
                </a:solidFill>
                <a:latin typeface="微软雅黑"/>
              </a:rPr>
              <a:t>一招破解（记住这句）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334255" y="55869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2B2F36"/>
                </a:solidFill>
                <a:latin typeface="微软雅黑"/>
              </a:rPr>
              <a:t>让模型一步一步想——复杂问题分步解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010143" y="53492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35506E"/>
                </a:solidFill>
                <a:latin typeface="微软雅黑"/>
              </a:rPr>
              <a:t>动手验证（照做一遍）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010143" y="55869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2B2F36"/>
                </a:solidFill>
                <a:latin typeface="微软雅黑"/>
              </a:rPr>
              <a:t>故障排查/方案评审类多步推理 '先列出可能原因，再逐一分析，最后给结论'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承上启下 · 动手前避坑清单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 / 18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1389888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6B7280"/>
                </a:solidFill>
                <a:latin typeface="微软雅黑"/>
              </a:rPr>
              <a:t>本讲是动手冲刺课：先把上周完整讲解里的高频翻车点过一遍，再开工——每条都是历届学生真实踩过的坑。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1783080"/>
            <a:ext cx="5532120" cy="2061972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1783080"/>
            <a:ext cx="82296" cy="2061972"/>
          </a:xfrm>
          <a:prstGeom prst="rect">
            <a:avLst/>
          </a:prstGeom>
          <a:solidFill>
            <a:srgbClr val="9A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" y="1847088"/>
            <a:ext cx="51663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B5533A"/>
                </a:solidFill>
                <a:latin typeface="微软雅黑"/>
              </a:rPr>
              <a:t>✗ Connection refused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2167128"/>
            <a:ext cx="5166359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  <a:latin typeface="微软雅黑"/>
              </a:rPr>
              <a:t>原因：mock服务未启动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✔ 解决：先python mock_llm_server.py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99632" y="1783080"/>
            <a:ext cx="5532120" cy="2061972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99632" y="1783080"/>
            <a:ext cx="82296" cy="2061972"/>
          </a:xfrm>
          <a:prstGeom prst="rect">
            <a:avLst/>
          </a:prstGeom>
          <a:solidFill>
            <a:srgbClr val="9A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0" y="1847088"/>
            <a:ext cx="51663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B5533A"/>
                </a:solidFill>
                <a:latin typeface="微软雅黑"/>
              </a:rPr>
              <a:t>✗ 回答不稳定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2167128"/>
            <a:ext cx="5166359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  <a:latin typeface="微软雅黑"/>
              </a:rPr>
              <a:t>原因：未固定温度seed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✔ 解决：temperature为0对比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3973068"/>
            <a:ext cx="5532120" cy="2061972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57200" y="3973068"/>
            <a:ext cx="82296" cy="2061972"/>
          </a:xfrm>
          <a:prstGeom prst="rect">
            <a:avLst/>
          </a:prstGeom>
          <a:solidFill>
            <a:srgbClr val="9A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" y="4037076"/>
            <a:ext cx="51663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B5533A"/>
                </a:solidFill>
                <a:latin typeface="微软雅黑"/>
              </a:rPr>
              <a:t>✗ 提升测不出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" y="4357116"/>
            <a:ext cx="5166359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  <a:latin typeface="微软雅黑"/>
              </a:rPr>
              <a:t>原因：题目太简单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✔ 解决：换多步推理题集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6281928"/>
            <a:ext cx="9601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>
                <a:solidFill>
                  <a:srgbClr val="6B7280"/>
                </a:solidFill>
                <a:latin typeface="微软雅黑"/>
              </a:rPr>
              <a:t>素材来源：同周《第17次课-LLM故障诊断（上）：基》知识卡与避坑清单（逐字摘录）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W12-第18次课-LLM故障诊断（下）：优</dc:title>
  <dc:subject>AI48授课PPT（v9风格+讲稿）</dc:subject>
  <dc:creator>工业互联网应用专业教学资源库</dc:creator>
  <cp:keywords>两江智造;AI48;岗课赛证创;课程思政;双创中心302</cp:keywords>
  <dc:description>48课时扩展版·每页备注为教师讲稿</dc:description>
  <cp:lastModifiedBy>Steve Canny</cp:lastModifiedBy>
  <cp:revision>1</cp:revision>
  <dcterms:created xsi:type="dcterms:W3CDTF">2026-09-09T00:00:00Z</dcterms:created>
  <dcterms:modified xsi:type="dcterms:W3CDTF">2026-09-09T00:00:00Z</dcterms:modified>
  <cp:category>高职高专教学文件</cp:category>
</cp:coreProperties>
</file>