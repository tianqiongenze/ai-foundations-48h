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71" r:id="rId20"/>
    <p:sldId id="274" r:id="rId26"/>
    <p:sldId id="280" r:id="rId32"/>
    <p:sldId id="308" r:id="rId60"/>
    <p:sldId id="374" r:id="rId23"/>
    <p:sldId id="375" r:id="rId24"/>
    <p:sldId id="376" r:id="rId25"/>
    <p:sldId id="377" r:id="rId14"/>
    <p:sldId id="378" r:id="rId27"/>
    <p:sldId id="319" r:id="rId71"/>
    <p:sldId id="367" r:id="rId16"/>
    <p:sldId id="368" r:id="rId17"/>
    <p:sldId id="369" r:id="rId18"/>
    <p:sldId id="370" r:id="rId19"/>
    <p:sldId id="366" r:id="rId15"/>
    <p:sldId id="364" r:id="rId116"/>
    <p:sldId id="365" r:id="rId117"/>
    <p:sldId id="372" r:id="rId21"/>
    <p:sldId id="373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4" Type="http://schemas.openxmlformats.org/officeDocument/2006/relationships/slide" Target="slides/slide9.xml"/><Relationship Id="rId15" Type="http://schemas.openxmlformats.org/officeDocument/2006/relationships/slide" Target="slides/slide16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2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6.xml"/><Relationship Id="rId24" Type="http://schemas.openxmlformats.org/officeDocument/2006/relationships/slide" Target="slides/slide7.xml"/><Relationship Id="rId25" Type="http://schemas.openxmlformats.org/officeDocument/2006/relationships/slide" Target="slides/slide8.xml"/><Relationship Id="rId26" Type="http://schemas.openxmlformats.org/officeDocument/2006/relationships/slide" Target="slides/slide3.xml"/><Relationship Id="rId27" Type="http://schemas.openxmlformats.org/officeDocument/2006/relationships/slide" Target="slides/slide10.xml"/><Relationship Id="rId32" Type="http://schemas.openxmlformats.org/officeDocument/2006/relationships/slide" Target="slides/slide4.xml"/><Relationship Id="rId60" Type="http://schemas.openxmlformats.org/officeDocument/2006/relationships/slide" Target="slides/slide5.xml"/><Relationship Id="rId71" Type="http://schemas.openxmlformats.org/officeDocument/2006/relationships/slide" Target="slides/slide11.xml"/><Relationship Id="rId116" Type="http://schemas.openxmlformats.org/officeDocument/2006/relationships/slide" Target="slides/slide17.xml"/><Relationship Id="rId117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开场30秒：《LLM故障诊断（下）：优化与评价》，80分钟=2课时×40分钟。课前已发工单+微课知识卡。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情境说书30秒：老周的终极愿望启动：'给集团造个不睡觉的值班工程师。'本地大模型就位，吴工提醒：'Prompt就是你的管理能力。'工单M…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步骤清单与工单一一对应。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工单发布：'设备智能运维中心工单M4-1'——及格线对比表完整+提升≥20%。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项目6-7 大模型·语言应用 | 预习知识点：LLM基础(ChatGPT/文心/通义)；Prompt工程(角色/示例/思维链) | 课中检查知识点：三版Prompt对比提升≥20%；本地mock调用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LLM故障诊断（下）：优化与评价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第17周 · 第18次课（2课时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CE（starter编码）+ Git/GitHub（每周提交）</a:t>
            </a:r>
          </a:p>
        </p:txBody>
      </p:sp>
      <p:pic>
        <p:nvPicPr>
          <p:cNvPr id="7" name="Picture 6" descr="W12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W17课中查①：'Connection refused'这个报错怎么排查？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W17课中查②：优秀线提升≥35%或自创模板你打算怎么冲？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老周的终极愿望启动：'给集团造个不睡觉的值班工程师。'本地大模型就位，吴工提醒：'Prompt就是你的管理能力。'工单M4-1：LLM故障诊断，同一问题三种问法，对比优化。</a:t>
            </a:r>
          </a:p>
        </p:txBody>
      </p:sp>
      <p:pic>
        <p:nvPicPr>
          <p:cNvPr id="9" name="Picture 8" descr="W12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LLM故障诊断（下）：优化与评价（实施要点）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错误速查复盘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优化冲刺（B/A层）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三层质检互查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当堂评分与反馈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下次课预告+微课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本课重难点地图 · 老师划重点（动手前必看）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动手前先看这页：重点要会什么、难点会卡在哪、哪里最容易错、学没学会怎么自测。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783080"/>
            <a:ext cx="5532120" cy="312724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553212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1819656"/>
            <a:ext cx="53126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重点 · 必会必考（本课知识点全景）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" y="2267712"/>
            <a:ext cx="5257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◆ B01 LLM调用本质｜就是HTTP+JSON——OpenAI兼容接口四字段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B02 Prompt三模板｜朴素/角色设定/少样本示例——三档递进对比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B03 思维链提示｜让模型一步一步想——复杂问题分步解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B04 变量控制｜同一问题同一温度只换模板——公平比较的前提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B05 容错三件套｜超时重试异常降级日志留痕——外部依赖必设防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B06 脱敏红线｜真实工单先抹设备编号人名再上模型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83080"/>
            <a:ext cx="5586984" cy="148132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83080"/>
            <a:ext cx="5586984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54496" y="1819656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难点 · 易卡壳（下一页逐个击破）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2231136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误区：以为要装'大模型驱动'——标准HTTP即可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误区：prompt越长越好——指令清晰胜过堆字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CoT对简单问题是浪费——一步能答的别绕路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44768" y="3401568"/>
            <a:ext cx="558698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44768" y="3401568"/>
            <a:ext cx="5586984" cy="365760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54496" y="3438144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高频易错 · 动手前先记住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3849624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✗ Connection refused → 先python mock_llm_server.py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回答不稳定 → temperature为0对比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提升测不出 → 换多步推理题集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5047488"/>
            <a:ext cx="11274552" cy="120700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5047488"/>
            <a:ext cx="1127455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5084064"/>
            <a:ext cx="11055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达标自问 · 学没学会，问自己这四句（当堂评分同口径）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792" y="5458968"/>
            <a:ext cx="109728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① 及格线我能过吗——对比表完整+提升≥20%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② 优秀线我够吗——提升≥35%或自创模板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③ 技能点我能独立做出来吗——能调用本地LLM服务完成诊断问答；能设计并对比三种Prompt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④ 报错了先查「常见错误速查」页再举手——错误信息逐字读一遍，八成自己能修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7280"/>
                </a:solidFill>
                <a:latin typeface="微软雅黑"/>
              </a:rPr>
              <a:t>素材来源：同周《第17次课-LLM故障诊断（上）：基》知识卡与避坑清单（逐字摘录）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难点逐个击破 · 零基础照做就能会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每个难点四步走：先看「为什么容易栽」对号入座 → 记住「一招破解」→ 照「动手验证」做一遍 → 做不出回知识详解页。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7830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1828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难点1：B01 LLM调用本质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误区：以为要装'大模型驱动'——标准HTTP即可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34255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34255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就是HTTP+JSON——OpenAI兼容接口四字段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10143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10143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去神秘化：大模型不是魔法是一个API requests.post(url, json={'messages':…})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3832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33832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3429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难点2：B02 Prompt三模板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误区：prompt越长越好——指令清晰胜过堆字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34255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34255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朴素/角色设定/少样本示例——三档递进对比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10143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10143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同问题换模板对比效果——prompt即编程 role='system': '你是质检顾问'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49834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7200" y="49834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难点3：B03 思维链提示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CoT对简单问题是浪费——一步能答的别绕路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34255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34255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让模型一步一步想——复杂问题分步解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10143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10143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故障排查/方案评审类多步推理 '先列出可能原因，再逐一分析，最后给结论'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承上启下 · 动手前避坑清单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本讲是动手冲刺课：先把上周完整讲解里的高频翻车点过一遍，再开工——每条都是历届学生真实踩过的坑。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Connection refused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原因：mock服务未启动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解决：先python mock_llm_server.py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99632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99632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回答不稳定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原因：未固定温度seed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解决：temperature为0对比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973068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3973068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4037076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提升测不出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4357116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原因：题目太简单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解决：换多步推理题集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7280"/>
                </a:solidFill>
                <a:latin typeface="微软雅黑"/>
              </a:rPr>
              <a:t>素材来源：同周《第17次课-LLM故障诊断（上）：基》知识卡与避坑清单（逐字摘录）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本课知识速览卡 · 边做边对照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本讲是动手冲刺课：知识点在完整讲解课已细讲——这页把它们浓缩成一张速览卡，边做边对照。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783080"/>
            <a:ext cx="6309360" cy="411480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630936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1819656"/>
            <a:ext cx="608990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知识点速览（逐字摘自同周完整讲解课知识卡）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" y="2267712"/>
            <a:ext cx="60350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◆ B01 LLM调用本质｜就是HTTP+JSON——OpenAI兼容接口四字段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B02 Prompt三模板｜朴素/角色设定/少样本示例——三档递进对比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B03 思维链提示｜让模型一步一步想——复杂问题分步解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B04 变量控制｜同一问题同一温度只换模板——公平比较的前提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B05 容错三件套｜超时重试异常降级日志留痕——外部依赖必设防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B06 脱敏红线｜真实工单先抹设备编号人名再上模型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03720" y="1783080"/>
            <a:ext cx="4828032" cy="19659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903720" y="1783080"/>
            <a:ext cx="482803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13448" y="1819656"/>
            <a:ext cx="46085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本讲达标线（当堂评分同口径）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68312" y="2249424"/>
            <a:ext cx="4526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① 及格(D)：对比表完整+提升≥20%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② 优秀(B+)：提升≥35%或自创模板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903720" y="3886200"/>
            <a:ext cx="4828032" cy="201168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903720" y="3886200"/>
            <a:ext cx="4828032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13448" y="3922776"/>
            <a:ext cx="46085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动手前三个提醒（踩坑点摘录）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68312" y="4352544"/>
            <a:ext cx="45262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⚠ 先python mock_llm_server.py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⚠ temperature为0对比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⚠ 换多步推理题集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7280"/>
                </a:solidFill>
                <a:latin typeface="微软雅黑"/>
              </a:rPr>
              <a:t>素材来源：同周《第17次课-LLM故障诊断（上）：基》知识卡与避坑清单（逐字摘录）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 · 带着问题去下一讲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带着问题去下一讲——预习任务与自测问题逐字取自课程安排，课前完成。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920240"/>
            <a:ext cx="11274552" cy="960120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920240"/>
            <a:ext cx="82296" cy="96012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2084832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2B2F36"/>
                </a:solidFill>
                <a:latin typeface="微软雅黑"/>
              </a:rPr>
              <a:t>主题：能搭建最小RAG问答链路——应用：见工单star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026664"/>
            <a:ext cx="11274552" cy="960120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3026664"/>
            <a:ext cx="82296" cy="96012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3191256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2B2F36"/>
                </a:solidFill>
                <a:latin typeface="微软雅黑"/>
              </a:rPr>
              <a:t>预习快问：W17课前测①：本课工单M4-1的及格线是什么？（答：对比表完整+提升≥20%）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133087"/>
            <a:ext cx="11274552" cy="960120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4133087"/>
            <a:ext cx="82296" cy="96012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4297679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2B2F36"/>
                </a:solidFill>
                <a:latin typeface="微软雅黑"/>
              </a:rPr>
              <a:t>课前完成：导学单 + 预习自测 + starter环境自检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239512"/>
            <a:ext cx="11274552" cy="960120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5239512"/>
            <a:ext cx="82296" cy="96012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5404103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2B2F36"/>
                </a:solidFill>
                <a:latin typeface="微软雅黑"/>
              </a:rPr>
              <a:t>带着问题：来上课——Predict先于Run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实施任务：工单M4-1《LLM故障诊断（下）：优化与评价》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错误速查复盘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优化冲刺（B/A层）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三层质检互查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当堂评分与反馈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下次课预告+微课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对比表完整+提升≥20%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提升≥35%或自创模板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20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545E8"/>
                </a:solidFill>
              </a:rPr>
              <a:t>① 本次真跑实测输出（逐字取自 output/report.txt）</a:t>
            </a:r>
          </a:p>
          <a:p>
            <a:r>
              <a:rPr sz="1150" b="1">
                <a:solidFill>
                  <a:srgbClr val="0545E8"/>
                </a:solidFill>
              </a:rPr>
              <a:t>实测达成档位: 优(A) ｜ 实测提升 +50% ｜ 对比表 3 行 ｜ 断服降级话术命中=是 ｜ 决策记录完整=是 ｜ 多轮 2 轮且上下文保持=是 ｜ 代码规范率实测 95.5%</a:t>
            </a:r>
          </a:p>
          <a:p>
            <a:r>
              <a:rPr sz="1150" b="1">
                <a:solidFill>
                  <a:srgbClr val="0545E8"/>
                </a:solidFill>
              </a:rPr>
              <a:t>及格(D)    规范率门槛≥70% [达标] ｜ 功能OK ｜ 能出回答</a:t>
            </a:r>
          </a:p>
          <a:p>
            <a:r>
              <a:rPr sz="1150" b="1">
                <a:solidFill>
                  <a:srgbClr val="0545E8"/>
                </a:solidFill>
              </a:rPr>
              <a:t>良好(C)    提升门槛≥20% ｜ 功能OK ｜ 提升≥20%加对比表</a:t>
            </a:r>
          </a:p>
          <a:p>
            <a:r>
              <a:rPr sz="1150" b="1">
                <a:solidFill>
                  <a:srgbClr val="0545E8"/>
                </a:solidFill>
              </a:rPr>
              <a:t>优秀(B)    功能OK ｜ 断服不崩溃有降级话术；决策记录完整</a:t>
            </a:r>
          </a:p>
          <a:p>
            <a:r>
              <a:rPr sz="1150" b="1">
                <a:solidFill>
                  <a:srgbClr val="0545E8"/>
                </a:solidFill>
              </a:rPr>
              <a:t>优(A)     提升门槛≥35%（或多轮）｜ 功能OK ｜ 提升≥35%或多轮对话</a:t>
            </a:r>
          </a:p>
          <a:p>
            <a:r>
              <a:rPr sz="1150" b="1">
                <a:solidFill>
                  <a:srgbClr val="0545E8"/>
                </a:solidFill>
              </a:rPr>
              <a:t>人工答辩项 1 条，教师答辩时确认：企业元验收栏：功能可用□ 参数留痕□ 数据可信□（师傅签字）</a:t>
            </a:r>
          </a:p>
          <a:p>
            <a:r>
              <a:rPr sz="1150" b="1">
                <a:solidFill>
                  <a:srgbClr val="0545E8"/>
                </a:solidFill>
              </a:rPr>
              <a:t>本演示走离线规则通道；设 OPENAI_BASE_URL 与 OPENAI_API_KEY 环境变量即切真机 HTTP 通道（urllib+超时，重试耗尽自动降级，不硬编码任何密钥）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20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工程化项目/m41_prompt_lab/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src/prompt_lab/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m41_prompt_lab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20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实测提升 +50%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对比表 3 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断服降级话术命中=是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决策记录完整=是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多轮 2 轮且上下文保持=是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能出回答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提升≥20%加对比表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提升门槛≥20%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断服不崩溃有降级话术；决策记录完整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提升≥35%或多轮对话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提升门槛≥35%（或多轮）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6B4E16"/>
                </a:solidFill>
                <a:latin typeface="微软雅黑"/>
              </a:rPr>
              <a:t>人工答辩项 1 条（代码不代判，答辩现场确认，逐条见下页 report.txt 截图）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实测值共 6 项，本页只列前 5 项，其余见下页 report.txt 截图。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m41_prompt_lab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20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6" name="Picture 15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19" name="Picture 18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2" name="Picture 21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项目：05-AI应用基础48课时版/工程化项目/m41_prompt_lab/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10:48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工具/ppt97/evidence/m41_prompt_lab/（capture97.py 真跑捕获，未改写数字）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20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M4-1 LLM 故障诊断·三版 Prompt 对比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问题（仅给症状，不含诊断关键词）: 3号泵振动在爬升，运转声音发闷，帮我看看。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[朴素] 质量分=0.5  较朴素 +0%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回答: 建议：检查电源。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[角色] 质量分=1.0  较朴素 +50%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回答: 建议：更换轴承（依据：3号泵振动在爬升，运转声…）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[示例] 质量分=1.0  较朴素 +50%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回答: 建议：更换轴承（依据：3号泵振动在爬升，运转声…）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说明: 本演示走 starter 的离线规则通道（口径一致、零依赖）；设 OPENAI_BASE_URL 或起 工具/mock…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下次课预告（第18周）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能搭建最小RAG问答链路——应用：见工单star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W17课中查①：'Connection refused'这个报错怎么排查？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本讲对应工单：《AI应用基础48课时版》分层任务工单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W12-第18次课-LLM故障诊断（下）：优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