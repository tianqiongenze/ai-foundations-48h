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3" r:id="rId45"/>
    <p:sldId id="296" r:id="rId48"/>
    <p:sldId id="297" r:id="rId49"/>
    <p:sldId id="299" r:id="rId51"/>
    <p:sldId id="301" r:id="rId53"/>
    <p:sldId id="305" r:id="rId57"/>
    <p:sldId id="308" r:id="rId60"/>
    <p:sldId id="310" r:id="rId62"/>
    <p:sldId id="312" r:id="rId64"/>
    <p:sldId id="315" r:id="rId67"/>
    <p:sldId id="316" r:id="rId68"/>
    <p:sldId id="317" r:id="rId69"/>
    <p:sldId id="318" r:id="rId70"/>
    <p:sldId id="366" r:id="rId65"/>
    <p:sldId id="367" r:id="rId63"/>
    <p:sldId id="368" r:id="rId61"/>
    <p:sldId id="369" r:id="rId72"/>
    <p:sldId id="370" r:id="rId59"/>
    <p:sldId id="365" r:id="rId66"/>
    <p:sldId id="319" r:id="rId71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46" r:id="rId98"/>
    <p:sldId id="353" r:id="rId105"/>
    <p:sldId id="358" r:id="rId110"/>
    <p:sldId id="359" r:id="rId111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8" Type="http://schemas.openxmlformats.org/officeDocument/2006/relationships/slide" Target="slides/slide20.xml"/><Relationship Id="rId40" Type="http://schemas.openxmlformats.org/officeDocument/2006/relationships/slide" Target="slides/slide21.xml"/><Relationship Id="rId42" Type="http://schemas.openxmlformats.org/officeDocument/2006/relationships/slide" Target="slides/slide22.xml"/><Relationship Id="rId45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7" Type="http://schemas.openxmlformats.org/officeDocument/2006/relationships/slide" Target="slides/slide28.xml"/><Relationship Id="rId59" Type="http://schemas.openxmlformats.org/officeDocument/2006/relationships/slide" Target="slides/slide66.xml"/><Relationship Id="rId60" Type="http://schemas.openxmlformats.org/officeDocument/2006/relationships/slide" Target="slides/slide29.xml"/><Relationship Id="rId61" Type="http://schemas.openxmlformats.org/officeDocument/2006/relationships/slide" Target="slides/slide64.xml"/><Relationship Id="rId62" Type="http://schemas.openxmlformats.org/officeDocument/2006/relationships/slide" Target="slides/slide30.xml"/><Relationship Id="rId63" Type="http://schemas.openxmlformats.org/officeDocument/2006/relationships/slide" Target="slides/slide37.xml"/><Relationship Id="rId64" Type="http://schemas.openxmlformats.org/officeDocument/2006/relationships/slide" Target="slides/slide31.xml"/><Relationship Id="rId65" Type="http://schemas.openxmlformats.org/officeDocument/2006/relationships/slide" Target="slides/slide36.xml"/><Relationship Id="rId66" Type="http://schemas.openxmlformats.org/officeDocument/2006/relationships/slide" Target="slides/slide38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9.xml"/><Relationship Id="rId72" Type="http://schemas.openxmlformats.org/officeDocument/2006/relationships/slide" Target="slides/slide65.xml"/><Relationship Id="rId73" Type="http://schemas.openxmlformats.org/officeDocument/2006/relationships/slide" Target="slides/slide40.xml"/><Relationship Id="rId75" Type="http://schemas.openxmlformats.org/officeDocument/2006/relationships/slide" Target="slides/slide41.xml"/><Relationship Id="rId77" Type="http://schemas.openxmlformats.org/officeDocument/2006/relationships/slide" Target="slides/slide42.xml"/><Relationship Id="rId79" Type="http://schemas.openxmlformats.org/officeDocument/2006/relationships/slide" Target="slides/slide43.xml"/><Relationship Id="rId81" Type="http://schemas.openxmlformats.org/officeDocument/2006/relationships/slide" Target="slides/slide44.xml"/><Relationship Id="rId82" Type="http://schemas.openxmlformats.org/officeDocument/2006/relationships/slide" Target="slides/slide45.xml"/><Relationship Id="rId84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5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105" Type="http://schemas.openxmlformats.org/officeDocument/2006/relationships/slide" Target="slides/slide59.xml"/><Relationship Id="rId110" Type="http://schemas.openxmlformats.org/officeDocument/2006/relationships/slide" Target="slides/slide60.xml"/><Relationship Id="rId111" Type="http://schemas.openxmlformats.org/officeDocument/2006/relationships/slide" Target="slides/slide61.xml"/><Relationship Id="rId115" Type="http://schemas.openxmlformats.org/officeDocument/2006/relationships/slide" Target="slides/slide62.xml"/><Relationship Id="rId116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开场30秒：《ResNet迁移学习（上）：基础实现》，80分钟=2课时×40分钟。课前已发工单+微课知识卡。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情境说书30秒：质检科只标了200张图，训练从零开始根本不够。林工：'站在巨人的肩膀上——ResNet迁移学习，小样本也能成事。'工单M…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详解B1·迁移学习：先读定义→场景为什么用它→看代码实例→扩展给A层。C/D层掌握前三格，A层加扩展格。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详解B2·冻结backbone：先读定义→场景为什么用它→看代码实例→扩展给A层。C/D层掌握前三格，A层加扩展格。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详解B3·分层学习率：先读定义→场景为什么用它→看代码实例→扩展给A层。C/D层掌握前三格，A层加扩展格。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详解B4·数据增强：先读定义→场景为什么用它→看代码实例→扩展给A层。C/D层掌握前三格，A层加扩展格。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详解B5·小样本陷阱：先读定义→场景为什么用它→看代码实例→扩展给A层。C/D层掌握前三格，A层加扩展格。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详解B6·CPU友好策略：先读定义→场景为什么用它→看代码实例→扩展给A层。C/D层掌握前三格，A层加扩展格。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演示《替换分类头》：跑通→逐行→改参数（演的核心素材）。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演示《微调解冻末段》：跑通→逐行→改参数（演的核心素材）。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工单发布：'设备智能运维中心工单M3-1'——及格线准确率≥75%+对比表。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错误速查：现场制造「内存爆」带学生三步排查。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预习知识点：迁移学习概念；ResNet冻结/微调策略 | 课中检查知识点：完成冻结/微调取舍实验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ResNet迁移学习（上）：基础实现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第15周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 · 数据增强：翻转裁剪让200张变2000张有效样本——应用：见工单starter与教师参考实现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技能线：能加载预训练ResNet并替换分类头——应用：见工单starter与教师参考实现；能完成冻结vs微调对比实验——应用：见工单starter与教师参考实现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M3-1《ResNet迁移学习（上）：基础实现》——本课工单即考核单元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课前测②：'预训练权重'用一句话说说你的理解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大模型·视觉应用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迁移学习概念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ResNet冻结/微调策略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能选CNN或LSTM并用指标赢下竞标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题目：课前测①：本课工单M3-1的及格线是什么？（答：准确率≥75%+对比表）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任务背景：质检科只标了200张图，训练从零开始根本不够。林工：'站在巨人的肩膀上——ResNet迁移学习，小样本也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知识详解：迁移学习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迁移学习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站在巨人肩上——ImageNet学过的视觉知识直接复用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缺陷样本只有几百张时从头训练必失败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MobileNetV2(weights='imagenet') 去头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误区：迁移万能——域差太大时预训练也帮不了多少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知识详解：冻结backbone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冻结backbone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锁死预训练层只训分类头——小样本第一选择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200张缺陷图训不动百万参数——只训最后几层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base.trainable=False 再加自己的Dense头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先冻结收敛再解冻微调——两阶段比一步到位稳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知识详解：分层学习率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分层学习率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底层通用特征小步、任务层大步——各层各走各的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解冻微调阶段防止冲坏预训练知识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底层lr=1e-5，顶层lr=1e-3——差10倍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误区：全程一个lr——底层大步会破坏已学特征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知识详解：数据增强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数据增强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翻转/裁剪/旋转让200张变2000张有效样本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缺陷角度多样但样本少——增强即免费扩样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ImageDataGenerator(rotation_range=15)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误区：增强过度——工业品固定朝向别乱翻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知识应用（4）：数据增强：翻转裁剪让200张变2000张有效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数据增强：翻转裁剪让200张变2000张有效样本。在两江智造产线上的用法：见工单starter与教师参考实现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知识详解：小样本陷阱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小样本陷阱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测试集也小指标波动大——多seed取均值才可信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报告写95%但换个seed变88%——单次不可靠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跑5个seed取mean±std写进报告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单次高分多为运气——波动区间比点估计诚实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知识详解：CPU友好策略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CPU友好策略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小图+冻结层几分钟出结果——没GPU也能练CNN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机房机器无显卡——架构选择绕开算力墙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输入缩到96×96 + 全冻结backbone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先CPU跑通全流程——GPU只是加速不是必须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能完成冻结vs微调对比实验——应用：见工单starter与教师参考实现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能使用数据增强扩充样本——应用：见工单starter与教师参考实现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能写实验对照表结论——应用：见工单starter与教师参考实现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关键代码：替换分类头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torchvision.models as M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 = M.resnet18(weights=M.ResNet18_Weights.IMAGENET1K_V1)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net.parameters(): p.requires_grad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net.fc = nn.Linear(net.fc.in_features,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关键代码：微调解冻末段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net.layer4.parameters(): p.requires_grad = True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opt = torch.optim.AdamW([{"params": net.fc.parameters(), "lr": 1e-3},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{"params": net.layer4.parameters(), "lr": 1e-5}])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本课决策题：ResNet迁移学习：备选方案决策矩阵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实施任务：工单M3-1《ResNet迁移学习（上）：基础实现》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准确率≥75%+对比表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实测最优准确率 1.0000 ｜ 规范率 97.39% ｜ 对照表实测行 4 条 ｜ 增强增益 冻结 -0.0050/微调 +0.4850 ｜ 决策记录 1 条 ｜ 曲线 1 张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准确率门槛≥0.7（实测 1.0000）</a:t>
            </a:r>
          </a:p>
          <a:p>
            <a:r>
              <a:rPr sz="1400" b="1">
                <a:solidFill>
                  <a:srgbClr val="0545E8"/>
                </a:solidFill>
              </a:rPr>
              <a:t>良好(C)    规范率门槛≥70% [达标] ｜ 功能OK ｜ 准确率≥0.75 且对照行≥2（实测 1.0000 / 4 行）</a:t>
            </a:r>
          </a:p>
          <a:p>
            <a:r>
              <a:rPr sz="1400" b="1">
                <a:solidFill>
                  <a:srgbClr val="0545E8"/>
                </a:solidFill>
              </a:rPr>
              <a:t>优秀(B)    规范率门槛≥70% [达标] ｜ 功能OK ｜ 准确率≥0.8 或增强有效（增益见上行）且决策记录≥1（实测 1）</a:t>
            </a:r>
          </a:p>
          <a:p>
            <a:r>
              <a:rPr sz="1400" b="1">
                <a:solidFill>
                  <a:srgbClr val="0545E8"/>
                </a:solidFill>
              </a:rPr>
              <a:t>优(A)     规范率门槛≥70% [达标] ｜ 功能OK ｜ 准确率≥0.85 且有训练曲线（实测 1.0000 / 1 张）</a:t>
            </a:r>
          </a:p>
          <a:p>
            <a:r>
              <a:rPr sz="1400" b="1">
                <a:solidFill>
                  <a:srgbClr val="0545E8"/>
                </a:solidFill>
              </a:rPr>
              <a:t>人工答辩项 3 条，教师答辩时确认：</a:t>
            </a:r>
          </a:p>
          <a:p>
            <a:r>
              <a:rPr sz="1400" b="1">
                <a:solidFill>
                  <a:srgbClr val="0545E8"/>
                </a:solidFill>
              </a:rPr>
              <a:t>- 决策结论与理由的口头陈述（工单：答辩必答）</a:t>
            </a:r>
          </a:p>
          <a:p>
            <a:r>
              <a:rPr sz="1400" b="1">
                <a:solidFill>
                  <a:srgbClr val="0545E8"/>
                </a:solidFill>
              </a:rPr>
              <a:t>- 企业元验收栏签认（功能可用/参数留痕/数据可信，值班师傅签字）</a:t>
            </a:r>
          </a:p>
          <a:p>
            <a:r>
              <a:rPr sz="1400" b="1">
                <a:solidFill>
                  <a:srgbClr val="0545E8"/>
                </a:solidFill>
              </a:rPr>
              <a:t>- 底座口径是否可接受（真ResNet=本地缓存离线载入 / 兜底=本地CNN，实测证据见报告底座口径段）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工程化项目/m31_transfer/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src/transfer_learning/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M3-1 ResNet迁移学习（概念版）·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世界: 海量无标注 2000 条 / 少量标注 16 条 / 测试 200 条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预训练特征提取器: PCA(8维) 在海量数据上一次性学成并**冻结**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冻结特征累计解释方差 = 0.330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对照（16条样本直连 192 维训头）: 测试准确率 = 0.915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迁移（冻结8维特征 + 只训分类头）: 测试准确率 = 0.960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增益 = +0.045 → 迁移显著胜出，预训练特征是维度灾难的解药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真实规律仅藏在少数测点维（其余为环境噪声维）；冻结+小样本头 是 ResNet 微调思想的最小可运行模型。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换fc层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只训头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准确率≥70%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冻结基线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解冻layer4微调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同seed对照表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准确率≥75%加对照表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增强增益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RandomResizedCrop等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结论写证据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≥80%或增强有效论证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冻结边界论证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逐层解冻实验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性能可训参数曲线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给出边界建议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准确率≥85%加曲线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内存爆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冻结加resize到128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微调后变差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lr过大冲毁权重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分层lr且末段1e-5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指标波动大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小样本单seed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3个seed取均值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D·学徒（≥60）：冻结版跑通——跟做保底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C·操作员（≥70）：对比实验——基础完成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B·组长（≥80）：增强增益——标准达成+帮带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A·师傅（≥90）：冻结边界论证——进阶拓展+费曼讲解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迁移学习=站在巨人肩上：ImageNet权重reuse到缺陷图——背后是统计/优化原理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学生代码框架/w7_xxx_starter.py——TODO注释即步骤提示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内存爆 · 微调后变差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知识：迁移学习=站在巨人肩上：ImageNet；冻结backbone只训分类头：小样本第；分层学习率：底层通用特征小步、任务层大步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技能：能加载预训练ResNet并替换分类头——应用：见工单starter与教师参考实现；能完成冻结vs微调对比实验——应用：见工单starter与教师参考实现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交付：工单M3-1《ResNet迁移学习（上）：基础实现》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能部署CPU预训练YOLO推理——应用：见工单s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m31_transfer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实测最优准确率 1.0000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规范率 97.39%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对照表实测行 4 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增强增益 冻结 -0.0050/微调 +0.4850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 1 条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准确率门槛≥0.7（实测 1.0000）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准确率≥0.75 且对照行≥2（实测 1.0000 / 4 行）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 或增强有效（增益见上行）且决策记录≥1（实测 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 且有训练曲线（实测 1.0000 / 1 张）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3 条（代码不代判，答辩现场确认）：决策结论与理由的口头陈述（工单：答辩必答）；企业元验收栏签认（功能可用/参数留痕/数据可信，值班师傅签字）；底座口径是否可接受（真ResNet=本地缓存离线载入 / 兜底=本地CNN，实测证据见报告底座口径段）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m31_transfer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项目：05-AI应用基础48课时版/工程化项目/m31_transfer/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10:50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工具/ppt97/evidence/m31_transfer/（capture97.py 真跑捕获，未改写数字）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m31_transfer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11356848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training_curves.png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755648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output/training_curves.png ｜ 48 KB ｜ run.py 本次落盘</a:t>
            </a:r>
          </a:p>
        </p:txBody>
      </p:sp>
      <p:pic>
        <p:nvPicPr>
          <p:cNvPr id="17" name="Picture 16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672" y="1993392"/>
            <a:ext cx="6343904" cy="4078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W10-第13次课-ResNet迁移学习（上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