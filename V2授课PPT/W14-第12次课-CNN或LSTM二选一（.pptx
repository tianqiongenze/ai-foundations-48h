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80" r:id="rId32"/>
    <p:sldId id="307" r:id="rId59"/>
    <p:sldId id="318" r:id="rId70"/>
    <p:sldId id="366" r:id="rId16"/>
    <p:sldId id="367" r:id="rId17"/>
    <p:sldId id="368" r:id="rId18"/>
    <p:sldId id="369" r:id="rId19"/>
    <p:sldId id="365" r:id="rId15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59" Type="http://schemas.openxmlformats.org/officeDocument/2006/relationships/slide" Target="slides/slide4.xml"/><Relationship Id="rId70" Type="http://schemas.openxmlformats.org/officeDocument/2006/relationships/slide" Target="slides/slide5.xml"/><Relationship Id="rId115" Type="http://schemas.openxmlformats.org/officeDocument/2006/relationships/slide" Target="slides/slide9.xml"/><Relationship Id="rId1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开场30秒：《CNN或LSTM二选一（竞标）（下）：优化与评价》，80分钟=2课时×40分钟。课前已发工单+微课知识卡。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情境说书30秒：分组竞标周：老周把两份需求拍在桌上——焊缝缺陷CNN、风机寿命LSTM，'各组选一题，答辩定预算。'工单M2-3b：二选…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工单发布：'设备智能运维中心工单M2-3b'——及格线指标达标+竞标书完整。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项目4 深度学习 | 预习知识点：CNN卷积/池化；LSTM时序依赖；分组竞标 | 课中检查知识点：能选CNN或LSTM并用指标赢下竞标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CNN或LSTM二选一（竞标）（下）：优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第14周 · 第12次课（2课时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 + ProcessOn（竞标书）+ Git/GitHub（每周提交）</a:t>
            </a:r>
          </a:p>
        </p:txBody>
      </p:sp>
      <p:pic>
        <p:nvPicPr>
          <p:cNvPr id="7" name="Picture 6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课中查①：'Conv输入报维度'这个报错怎么排查？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课中查②：优秀线赢得竞标且指标优秀你打算怎么冲？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分组竞标周：老周把两份需求拍在桌上——焊缝缺陷CNN、风机寿命LSTM，'各组选一题，答辩定预算。'工单M2-3b：二选一实战，卷积或门控，用指标赢下项目。</a:t>
            </a:r>
          </a:p>
        </p:txBody>
      </p:sp>
      <p:pic>
        <p:nvPicPr>
          <p:cNvPr id="9" name="Picture 8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CNN或LSTM二选一（竞标）（下）：优化与评价（实施要点）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实施任务：工单M2-3b《CNN或LSTM二选一（竞标）（下）：优化与评价》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指标达标+竞标书完整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赢得竞标且指标优秀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代码规范率 95.11%（工单把≥70%钉在 D 档）｜ 复现比对 一致 ｜ CNN(torch) acc 1.0000 ｜ LSTM 误差 0.2593 ｜ 决策矩阵 6 行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指标可复现；代码规范率≥70% ｜ 实测 同种子两次 RF 拟合留出 acc 一致（0.8175 vs 0.8175）；规范率 95.11%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规范率不另设线（工单仅 D 档设线，实测 95.11%） [达标] ｜ 功能OK ｜ CNN≥75% 或 LSTM 误差≤25%（仅认真卷积/真 LSTM 臂的实测数字） ｜ 实测 CNN(torch) acc=1.0000（线≥0.75）｜LSTM(torch) 窗口错误率=0.2593（线≤0.25）——兜底臂数字不认（require_real_engine=True）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规范率不另设线（工单仅 D 档设线，实测 95.11%） [达标] ｜ 功能OK ｜ CNN vs LSTM 两轮实测对比齐备；决策记录完整（竞标胜负/评委加分另人工） ｜ 实测 两轮对比：两臂真引擎同口径实测（acc 差 +0.2593、秒差 -0.248s）；决策记录 445 字（线 120）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规范率不另设线（工单仅 D 档设线，实测 95.11%） [达标] ｜ 功能OK ｜ 选型决策矩阵：候选×权重×实测得分→结论 ｜ 实测 矩阵 6 行（线≥4）；权重 acc/speed/env=0.5/0.3/0.2 和=1.0；结论成文 136 字（线≥20）</a:t>
            </a:r>
          </a:p>
          <a:p>
            <a:r>
              <a:rPr sz="1400" b="1">
                <a:solidFill>
                  <a:srgbClr val="0545E8"/>
                </a:solidFill>
              </a:rPr>
              <a:t>人工答辩项（程序不判、不许自称达标）：赢得竞标或评委加分：现场评委裁决，程序无实测依据（工单 B 档人评半，证据包=选型决策矩阵+两轮对比+泄漏核查）；企业元验收栏师傅签认：功能可用/参数留痕/数据可信（学校元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工程化项目/m23b_bidding/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src/bidding_lines/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M2-3b 竞标：CNN焊缝 vs LSTM风机（轻量基线）·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图像线（CNN焊缝·块统计特征3维）: 3折交叉验证 cv =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时序线（LSTM风机·RMS比值1维）  : 3折交叉验证 cv = 0.995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竞标建议: 轻量基线支持选「CNN焊缝」（差 0.005）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答辩要点: 基线≠上限——本表只证明'哪条路线更容易起步'；真模型预期增益需说明数据量、算力与标注成本三项证据。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能加载预训练ResNet并替换分类头——应用：见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课中查①：'Conv输入报维度'这个报错怎么排查？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m23b_bidding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代码规范率 95.11%（工单把≥70%钉在 D 档）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复现比对 一致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CNN(torch) acc 1.0000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LSTM 误差 0.2593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决策矩阵 6 行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同种子两次 RF 拟合留出 acc 一致（0.8175 vs 0.8175）；规范率 95.11%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 ｜ 指标可复现；代码规范率≥70%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LSTM(torch) 窗口错误率=0.2593（线≤0.25）——兜底臂数字不认（require_real_engine=True）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CNN≥75% 或 LSTM 误差≤25%（仅认真卷积/真 LSTM 臂的实测数字） ｜ 实测 CN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两轮对比：两臂真引擎同口径实测（acc 差 +0.2593、秒差 -0.248s）；决策记录 445 字（线 120）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CNN vs LSTM 两轮实测对比齐备；决策记录完整（竞标胜负/评委加分另人工）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矩阵 6 行（线≥4）；权重 acc/speed/env=0.5/0.3/0.2 和=1.0；结论成文 136 字（线≥20）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选型决策矩阵：候选×权重×实测得分→结论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m23b_bidding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项目：05-AI应用基础48课时版/工程化项目/m23b_bidding/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工具/ppt97/evidence/m23b_bidding/（capture97.py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W09-第12次课-CNN或LSTM二选一（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