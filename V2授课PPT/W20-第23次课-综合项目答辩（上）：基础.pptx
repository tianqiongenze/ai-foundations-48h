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2" r:id="rId74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1" r:id="rId43"/>
    <p:sldId id="294" r:id="rId46"/>
    <p:sldId id="297" r:id="rId49"/>
    <p:sldId id="298" r:id="rId50"/>
    <p:sldId id="300" r:id="rId52"/>
    <p:sldId id="303" r:id="rId55"/>
    <p:sldId id="307" r:id="rId59"/>
    <p:sldId id="310" r:id="rId62"/>
    <p:sldId id="312" r:id="rId64"/>
    <p:sldId id="314" r:id="rId66"/>
    <p:sldId id="317" r:id="rId69"/>
    <p:sldId id="318" r:id="rId70"/>
    <p:sldId id="319" r:id="rId71"/>
    <p:sldId id="375" r:id="rId58"/>
    <p:sldId id="376" r:id="rId78"/>
    <p:sldId id="320" r:id="rId72"/>
    <p:sldId id="368" r:id="rId67"/>
    <p:sldId id="369" r:id="rId65"/>
    <p:sldId id="370" r:id="rId63"/>
    <p:sldId id="371" r:id="rId61"/>
    <p:sldId id="367" r:id="rId68"/>
    <p:sldId id="321" r:id="rId73"/>
    <p:sldId id="323" r:id="rId75"/>
    <p:sldId id="325" r:id="rId77"/>
    <p:sldId id="327" r:id="rId79"/>
    <p:sldId id="329" r:id="rId81"/>
    <p:sldId id="331" r:id="rId83"/>
    <p:sldId id="332" r:id="rId84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6" r:id="rId98"/>
    <p:sldId id="347" r:id="rId99"/>
    <p:sldId id="348" r:id="rId100"/>
    <p:sldId id="349" r:id="rId101"/>
    <p:sldId id="356" r:id="rId108"/>
    <p:sldId id="361" r:id="rId113"/>
    <p:sldId id="362" r:id="rId114"/>
    <p:sldId id="366" r:id="rId118"/>
    <p:sldId id="373" r:id="rId60"/>
    <p:sldId id="374" r:id="rId7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3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70.xml"/><Relationship Id="rId59" Type="http://schemas.openxmlformats.org/officeDocument/2006/relationships/slide" Target="slides/slide30.xml"/><Relationship Id="rId60" Type="http://schemas.openxmlformats.org/officeDocument/2006/relationships/slide" Target="slides/slide68.xml"/><Relationship Id="rId61" Type="http://schemas.openxmlformats.org/officeDocument/2006/relationships/slide" Target="slides/slide41.xml"/><Relationship Id="rId62" Type="http://schemas.openxmlformats.org/officeDocument/2006/relationships/slide" Target="slides/slide31.xml"/><Relationship Id="rId63" Type="http://schemas.openxmlformats.org/officeDocument/2006/relationships/slide" Target="slides/slide40.xml"/><Relationship Id="rId64" Type="http://schemas.openxmlformats.org/officeDocument/2006/relationships/slide" Target="slides/slide32.xml"/><Relationship Id="rId65" Type="http://schemas.openxmlformats.org/officeDocument/2006/relationships/slide" Target="slides/slide39.xml"/><Relationship Id="rId66" Type="http://schemas.openxmlformats.org/officeDocument/2006/relationships/slide" Target="slides/slide33.xml"/><Relationship Id="rId67" Type="http://schemas.openxmlformats.org/officeDocument/2006/relationships/slide" Target="slides/slide38.xml"/><Relationship Id="rId68" Type="http://schemas.openxmlformats.org/officeDocument/2006/relationships/slide" Target="slides/slide42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37.xml"/><Relationship Id="rId73" Type="http://schemas.openxmlformats.org/officeDocument/2006/relationships/slide" Target="slides/slide43.xml"/><Relationship Id="rId74" Type="http://schemas.openxmlformats.org/officeDocument/2006/relationships/slide" Target="slides/slide2.xml"/><Relationship Id="rId75" Type="http://schemas.openxmlformats.org/officeDocument/2006/relationships/slide" Target="slides/slide44.xml"/><Relationship Id="rId76" Type="http://schemas.openxmlformats.org/officeDocument/2006/relationships/slide" Target="slides/slide69.xml"/><Relationship Id="rId77" Type="http://schemas.openxmlformats.org/officeDocument/2006/relationships/slide" Target="slides/slide45.xml"/><Relationship Id="rId78" Type="http://schemas.openxmlformats.org/officeDocument/2006/relationships/slide" Target="slides/slide71.xml"/><Relationship Id="rId79" Type="http://schemas.openxmlformats.org/officeDocument/2006/relationships/slide" Target="slides/slide46.xml"/><Relationship Id="rId81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6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8" Type="http://schemas.openxmlformats.org/officeDocument/2006/relationships/slide" Target="slides/slide60.xml"/><Relationship Id="rId99" Type="http://schemas.openxmlformats.org/officeDocument/2006/relationships/slide" Target="slides/slide61.xml"/><Relationship Id="rId100" Type="http://schemas.openxmlformats.org/officeDocument/2006/relationships/slide" Target="slides/slide62.xml"/><Relationship Id="rId101" Type="http://schemas.openxmlformats.org/officeDocument/2006/relationships/slide" Target="slides/slide63.xml"/><Relationship Id="rId108" Type="http://schemas.openxmlformats.org/officeDocument/2006/relationships/slide" Target="slides/slide64.xml"/><Relationship Id="rId113" Type="http://schemas.openxmlformats.org/officeDocument/2006/relationships/slide" Target="slides/slide65.xml"/><Relationship Id="rId114" Type="http://schemas.openxmlformats.org/officeDocument/2006/relationships/slide" Target="slides/slide66.xml"/><Relationship Id="rId118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详解B1·答辩四段论：先读定义→场景为什么用它→看代码实例→扩展给A层。C/D层掌握前三格，A层加扩展格。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详解B2·链路完整性：先读定义→场景为什么用它→看代码实例→扩展给A层。C/D层掌握前三格，A层加扩展格。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详解B3·创新点提炼：先读定义→场景为什么用它→看代码实例→扩展给A层。C/D层掌握前三格，A层加扩展格。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详解B4·评委三问预演：先读定义→场景为什么用它→看代码实例→扩展给A层。C/D层掌握前三格，A层加扩展格。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详解B5·档案袋定稿：先读定义→场景为什么用它→看代码实例→扩展给A层。C/D层掌握前三格，A层加扩展格。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详解B6·署名与致谢：先读定义→场景为什么用它→看代码实例→扩展给A层。C/D层掌握前三格，A层加扩展格。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演示《一键演示》：跑通→逐行→改参数（演的核心素材）。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演示《答辩检查单》：跑通→逐行→改参数（演的核心素材）。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错误速查：现场制造「演示现场翻车」带学生三步排查。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答辩导航图：自下而上讲'数据→特征→模型→服务→智能体'，每个方块对应一周工单——这就是'链路完整性'。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 · 评委三问预演：最难的坑？最大的取舍？下一步？——应用：见工单starter与教师参考实现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Z《综合项目答辩（上）：基础实现》——本课工单即考核单元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W20课前测①：本课工单Z的及格线是什么？（答：链路完整+能答基本问题）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W20课前测②：'链路串联'用一句话说说你的理解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项目8 大模型·综合应用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综合项目集成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端到端链路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答辩表达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课中检查｜上次课（W16）抽查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设计奖励函数并跑仿真调度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题目：W20课前测①：本课工单Z的及格线是什么？（答：链路完整+能答基本问题）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任务背景：答辩日。老周、林工、方总监坐镇：'把12周的模型串成一条线，讲给新员工听。'——综合项目答辩：从脏数据到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知识详解：答辩四段论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答辩四段论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问题-方案-指标-价值——5分钟讲完的骨架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评委平均每队5分钟——结构清晰是及格线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一页一段共四页，每页一个核心主张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误区：背景铺三页——评委三页后已没耐心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知识详解：链路完整性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链路完整性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数据-特征-模型-部署-智能体一图贯通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十二周成果的收口——一张图讲全程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架构图从传感器画到排产智能体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断链即失分——画完自查每段衔接有无缺环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知识详解：创新点提炼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创新点提炼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与照抄教程的三处不同即创新——差异点清单法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评创新分的抓手——不吹噟能自证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'教程用均值填充，我们改时序插值，因为…'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创新点必须能演示——说不出来的不算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知识详解：评委三问预演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评委三问预演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最难的坑？最大的取舍？下一步？——赛前必练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三问年年必问——提前备答案不现场抓瞎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每问准备30秒答案+一个具体例子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答'没有坑'是减分——没坑说明没真做过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知识应用（4）：评委三问预演：最难的坑？最大的取舍？下一步？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评委三问预演：最难的坑？最大的取舍？下一步？。在两江智造产线上的用法：见工单starter与教师参考实现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知识详解：档案袋定稿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档案袋定稿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代码-报告-曲线-工单十二周全归档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期末档案袋答辩的物料清单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按周编号目录：W07…W20各含工单+产物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档案袋平时攒——最后三天补不齐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知识详解：署名与致谢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署名与致谢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团队贡献表如实填报——分工可核查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组内贡献差异的正式记录——防搭便车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贡献表：数据/建模/部署/文档逐项写人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贡献表三方签字——事后争议有据可查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能5分钟答辩加3分钟答问——应用：见工单starter与教师参考实现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能回应技术质询——应用：见工单starter与教师参考实现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能定稿个人项目档案袋——应用：见工单starter与教师参考实现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关键代码：一键演示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run_all.py 12周链路一键跑通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"w1_clean.py"])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"w3_model.py"])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"w10_rag.py"])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print("端到端演示完成")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关键代码：答辩检查单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checklist = ["链路图一页", "核心指标3个", "创新点3处",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"坑与取舍各1", "演示已录屏备份"]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本课决策题：综合项目答辩：备选方案决策矩阵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实测达成档位（仅机器可判部分，未经答辩确认不得据此宣称）: 优(A) ｜ 3 项须人工答辩现场确认（见下行清单）｜ 证据链实测 5/5 层就绪 ｜ 基本问题实测命中 3/3 ｜ 决策记录完整=是 ｜ 本地 HTTP 部署演示实测=跑通（端口/状态码/字节数见部署演示节） ｜ 代码规范率实测 97.5%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功能机器OK｜人工待确认（预答辩评委放行（企业导师+组内互评 2/3 票，人工答辩确认）） ｜ 预答辩评委放行；代码规范率≥70%</a:t>
            </a:r>
          </a:p>
          <a:p>
            <a:r>
              <a:rPr sz="1400" b="1">
                <a:solidFill>
                  <a:srgbClr val="0545E8"/>
                </a:solidFill>
              </a:rPr>
              <a:t>良好(C)    功能OK ｜ 链路完整基本问题全答</a:t>
            </a:r>
          </a:p>
          <a:p>
            <a:r>
              <a:rPr sz="1400" b="1">
                <a:solidFill>
                  <a:srgbClr val="0545E8"/>
                </a:solidFill>
              </a:rPr>
              <a:t>优秀(B)    功能机器OK｜人工待确认（评委评分≥85（答辩当天人工打分）） ｜ 评委评分≥85；决策记录完整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功能机器OK｜人工待确认（创新亮点（答辩评委判定）） ｜ 创新亮点加部署演示</a:t>
            </a:r>
          </a:p>
          <a:p>
            <a:r>
              <a:rPr sz="1400" b="1">
                <a:solidFill>
                  <a:srgbClr val="0545E8"/>
                </a:solidFill>
              </a:rPr>
              <a:t>人工答辩项 3 条，教师答辩时确认：D 档：预答辩评委放行（企业导师+组内互评 2/3 票，人工答辩确认）；B 档：评委评分≥85（答辩当天人工打分）；A 档：创新亮点（答辩评委判定）</a:t>
            </a:r>
          </a:p>
          <a:p>
            <a:r>
              <a:rPr sz="1400" b="1">
                <a:solidFill>
                  <a:srgbClr val="0545E8"/>
                </a:solidFill>
              </a:rPr>
              <a:t>证据链 5/5；可上台</a:t>
            </a:r>
          </a:p>
          <a:p>
            <a:r>
              <a:rPr sz="1400" b="1">
                <a:solidFill>
                  <a:srgbClr val="0545E8"/>
                </a:solidFill>
              </a:rPr>
              <a:t>工单里评委放行/评分≥85/创新亮点属人工答辩项，报告如实标注，不冒充实测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工程化项目/z_defense/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src/defense_pack/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z_defense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3 项须人工答辩现场确认（见下行清单）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证据链实测 5/5 层就绪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基本问题实测命中 3/3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决策记录完整=是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本地 HTTP 部署演示实测=跑通（端口/状态码/字节数见部署演示节）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预答辩评委放行；代码规范率≥70%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功能机器OK ｜ 人工待确认（预答辩评委放行（企业导师+组内互评 2/3 票，人工答辩确认））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链路完整基本问题全答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评委评分≥85；决策记录完整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功能机器OK ｜ 人工待确认（评委评分≥85（答辩当天人工打分））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创新亮点加部署演示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功能机器OK ｜ 人工待确认（创新亮点（答辩评委判定））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z_defense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项目：05-AI应用基础48课时版/工程化项目/z_defense/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10:49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工具/ppt97/evidence/z_defense/（capture97.py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预答辩过关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链路图绘制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念稿排练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A层陪练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预答辩评委放行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功能机器OK ｜ 人工待确认（预答辩评委放行（企业导师+组内互评 2/3 票，人工答辩确认））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正式答辩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5分钟陈述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提交档案袋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链路完整基本问题全答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表达制胜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开场30秒钩子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指标对标工单线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时间盒控制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评委评分≥85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功能机器OK ｜ 人工待确认（评委评分≥85（答辩当天人工打分））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可部署演示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端到端一键run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异常恢复演示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署名开源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创新亮点加部署演示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功能机器OK ｜ 人工待确认（创新亮点（答辩评委判定））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演示现场翻车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提前录屏备份加环境冻结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超时被打断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细节讲太多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四段论加排练计时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被问倒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没准备取舍类问题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预演三问各写100字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D·学徒（≥60）：预答辩过关——跟做保底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C·操作员（≥70）：正式答辩——基础完成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B·组长（≥80）：表达制胜——标准达成+帮带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A·师傅（≥90）：可部署演示——进阶拓展+费曼讲解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12周成果综合链路（答辩一图贯通）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RAG问答(W18)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调度决策(W19)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服务层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推理服务(W16)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一键run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ML/CNN/ResNet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YOLO/LLM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特征层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特征字典()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清洗质检()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570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576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缺陷图/知识库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演示现场翻车 · 超时被打断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知识：答辩四段论：问题方案指标价值，5分钟讲完；链路完整性：数据特征模型部署智能体一图贯；创新点提炼：与照抄教程的三处不同即创新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交付：工单Z《综合项目答辩（上）：基础实现》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答辩四段论｜问题-方案-指标-价值——5分钟讲完的骨架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链路完整性｜数据-特征-模型-部署-智能体一图贯通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创新点提炼｜与照抄教程的三处不同即创新——差异点清单法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评委三问预演｜最难的坑？最大的取舍？下一步？——赛前必练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档案袋定稿｜代码-报告-曲线-工单十二周全归档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署名与致谢｜团队贡献表如实填报——分工可核查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误区：背景铺三页——评委三页后已没耐心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断链即失分——画完自查每段衔接有无缺环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创新点必须能演示——说不出来的不算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演示现场翻车 → 提前录屏备份加环境冻结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超时被打断 → 四段论加排练计时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被问倒 → 预演三问各写100字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及格线我能过吗——链路完整+能答基本问题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优秀线我够吗——创新亮点+表达优秀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技能点我能独立做出来吗——能组织12周资产成完整故事；能5分钟答辩加3分钟答问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答辩四段论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误区：背景铺三页——评委三页后已没耐心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问题-方案-指标-价值——5分钟讲完的骨架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评委平均每队5分钟——结构清晰是及格线 一页一段共四页，每页一个核心主张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链路完整性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断链即失分——画完自查每段衔接有无缺环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数据-特征-模型-部署-智能体一图贯通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十二周成果的收口——一张图讲全程 架构图从传感器画到排产智能体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创新点提炼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创新点必须能演示——说不出来的不算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与照抄教程的三处不同即创新——差异点清单法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评创新分的抓手——不吹噟能自证 '教程用均值填充，我们改时序插值，因为…'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W15-第23次课-综合项目答辩（上）：基础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