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9" r:id="rId11"/>
    <p:sldId id="260" r:id="rId12"/>
    <p:sldId id="261" r:id="rId13"/>
    <p:sldId id="262" r:id="rId14"/>
    <p:sldId id="264" r:id="rId16"/>
    <p:sldId id="265" r:id="rId17"/>
    <p:sldId id="267" r:id="rId19"/>
    <p:sldId id="268" r:id="rId20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6" r:id="rId38"/>
    <p:sldId id="288" r:id="rId40"/>
    <p:sldId id="290" r:id="rId42"/>
    <p:sldId id="292" r:id="rId44"/>
    <p:sldId id="294" r:id="rId46"/>
    <p:sldId id="296" r:id="rId48"/>
    <p:sldId id="297" r:id="rId49"/>
    <p:sldId id="299" r:id="rId51"/>
    <p:sldId id="303" r:id="rId55"/>
    <p:sldId id="306" r:id="rId58"/>
    <p:sldId id="308" r:id="rId60"/>
    <p:sldId id="310" r:id="rId62"/>
    <p:sldId id="312" r:id="rId64"/>
    <p:sldId id="313" r:id="rId65"/>
    <p:sldId id="314" r:id="rId66"/>
    <p:sldId id="315" r:id="rId67"/>
    <p:sldId id="316" r:id="rId68"/>
    <p:sldId id="364" r:id="rId63"/>
    <p:sldId id="365" r:id="rId72"/>
    <p:sldId id="366" r:id="rId61"/>
    <p:sldId id="367" r:id="rId74"/>
    <p:sldId id="363" r:id="rId70"/>
    <p:sldId id="317" r:id="rId69"/>
    <p:sldId id="319" r:id="rId71"/>
    <p:sldId id="321" r:id="rId73"/>
    <p:sldId id="323" r:id="rId75"/>
    <p:sldId id="325" r:id="rId77"/>
    <p:sldId id="327" r:id="rId79"/>
    <p:sldId id="328" r:id="rId80"/>
    <p:sldId id="330" r:id="rId82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1" r:id="rId93"/>
    <p:sldId id="342" r:id="rId94"/>
    <p:sldId id="343" r:id="rId95"/>
    <p:sldId id="344" r:id="rId96"/>
    <p:sldId id="351" r:id="rId103"/>
    <p:sldId id="356" r:id="rId108"/>
    <p:sldId id="357" r:id="rId109"/>
    <p:sldId id="361" r:id="rId113"/>
    <p:sldId id="362" r:id="rId1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4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1" Type="http://schemas.openxmlformats.org/officeDocument/2006/relationships/slide" Target="slides/slide18.xml"/><Relationship Id="rId32" Type="http://schemas.openxmlformats.org/officeDocument/2006/relationships/slide" Target="slides/slide19.xml"/><Relationship Id="rId33" Type="http://schemas.openxmlformats.org/officeDocument/2006/relationships/slide" Target="slides/slide20.xml"/><Relationship Id="rId38" Type="http://schemas.openxmlformats.org/officeDocument/2006/relationships/slide" Target="slides/slide21.xml"/><Relationship Id="rId40" Type="http://schemas.openxmlformats.org/officeDocument/2006/relationships/slide" Target="slides/slide22.xml"/><Relationship Id="rId42" Type="http://schemas.openxmlformats.org/officeDocument/2006/relationships/slide" Target="slides/slide23.xml"/><Relationship Id="rId44" Type="http://schemas.openxmlformats.org/officeDocument/2006/relationships/slide" Target="slides/slide24.xml"/><Relationship Id="rId46" Type="http://schemas.openxmlformats.org/officeDocument/2006/relationships/slide" Target="slides/slide25.xml"/><Relationship Id="rId48" Type="http://schemas.openxmlformats.org/officeDocument/2006/relationships/slide" Target="slides/slide26.xml"/><Relationship Id="rId49" Type="http://schemas.openxmlformats.org/officeDocument/2006/relationships/slide" Target="slides/slide27.xml"/><Relationship Id="rId51" Type="http://schemas.openxmlformats.org/officeDocument/2006/relationships/slide" Target="slides/slide28.xml"/><Relationship Id="rId55" Type="http://schemas.openxmlformats.org/officeDocument/2006/relationships/slide" Target="slides/slide29.xml"/><Relationship Id="rId58" Type="http://schemas.openxmlformats.org/officeDocument/2006/relationships/slide" Target="slides/slide30.xml"/><Relationship Id="rId60" Type="http://schemas.openxmlformats.org/officeDocument/2006/relationships/slide" Target="slides/slide31.xml"/><Relationship Id="rId61" Type="http://schemas.openxmlformats.org/officeDocument/2006/relationships/slide" Target="slides/slide66.xml"/><Relationship Id="rId62" Type="http://schemas.openxmlformats.org/officeDocument/2006/relationships/slide" Target="slides/slide32.xml"/><Relationship Id="rId63" Type="http://schemas.openxmlformats.org/officeDocument/2006/relationships/slide" Target="slides/slide38.xml"/><Relationship Id="rId64" Type="http://schemas.openxmlformats.org/officeDocument/2006/relationships/slide" Target="slides/slide33.xml"/><Relationship Id="rId65" Type="http://schemas.openxmlformats.org/officeDocument/2006/relationships/slide" Target="slides/slide34.xml"/><Relationship Id="rId66" Type="http://schemas.openxmlformats.org/officeDocument/2006/relationships/slide" Target="slides/slide35.xml"/><Relationship Id="rId67" Type="http://schemas.openxmlformats.org/officeDocument/2006/relationships/slide" Target="slides/slide36.xml"/><Relationship Id="rId68" Type="http://schemas.openxmlformats.org/officeDocument/2006/relationships/slide" Target="slides/slide37.xml"/><Relationship Id="rId69" Type="http://schemas.openxmlformats.org/officeDocument/2006/relationships/slide" Target="slides/slide41.xml"/><Relationship Id="rId70" Type="http://schemas.openxmlformats.org/officeDocument/2006/relationships/slide" Target="slides/slide40.xml"/><Relationship Id="rId71" Type="http://schemas.openxmlformats.org/officeDocument/2006/relationships/slide" Target="slides/slide42.xml"/><Relationship Id="rId72" Type="http://schemas.openxmlformats.org/officeDocument/2006/relationships/slide" Target="slides/slide39.xml"/><Relationship Id="rId73" Type="http://schemas.openxmlformats.org/officeDocument/2006/relationships/slide" Target="slides/slide43.xml"/><Relationship Id="rId74" Type="http://schemas.openxmlformats.org/officeDocument/2006/relationships/slide" Target="slides/slide67.xml"/><Relationship Id="rId75" Type="http://schemas.openxmlformats.org/officeDocument/2006/relationships/slide" Target="slides/slide44.xml"/><Relationship Id="rId77" Type="http://schemas.openxmlformats.org/officeDocument/2006/relationships/slide" Target="slides/slide45.xml"/><Relationship Id="rId79" Type="http://schemas.openxmlformats.org/officeDocument/2006/relationships/slide" Target="slides/slide46.xml"/><Relationship Id="rId80" Type="http://schemas.openxmlformats.org/officeDocument/2006/relationships/slide" Target="slides/slide47.xml"/><Relationship Id="rId82" Type="http://schemas.openxmlformats.org/officeDocument/2006/relationships/slide" Target="slides/slide48.xml"/><Relationship Id="rId84" Type="http://schemas.openxmlformats.org/officeDocument/2006/relationships/slide" Target="slides/slide49.xml"/><Relationship Id="rId85" Type="http://schemas.openxmlformats.org/officeDocument/2006/relationships/slide" Target="slides/slide50.xml"/><Relationship Id="rId86" Type="http://schemas.openxmlformats.org/officeDocument/2006/relationships/slide" Target="slides/slide51.xml"/><Relationship Id="rId87" Type="http://schemas.openxmlformats.org/officeDocument/2006/relationships/slide" Target="slides/slide52.xml"/><Relationship Id="rId88" Type="http://schemas.openxmlformats.org/officeDocument/2006/relationships/slide" Target="slides/slide53.xml"/><Relationship Id="rId89" Type="http://schemas.openxmlformats.org/officeDocument/2006/relationships/slide" Target="slides/slide54.xml"/><Relationship Id="rId90" Type="http://schemas.openxmlformats.org/officeDocument/2006/relationships/slide" Target="slides/slide55.xml"/><Relationship Id="rId91" Type="http://schemas.openxmlformats.org/officeDocument/2006/relationships/slide" Target="slides/slide56.xml"/><Relationship Id="rId93" Type="http://schemas.openxmlformats.org/officeDocument/2006/relationships/slide" Target="slides/slide57.xml"/><Relationship Id="rId94" Type="http://schemas.openxmlformats.org/officeDocument/2006/relationships/slide" Target="slides/slide58.xml"/><Relationship Id="rId95" Type="http://schemas.openxmlformats.org/officeDocument/2006/relationships/slide" Target="slides/slide59.xml"/><Relationship Id="rId96" Type="http://schemas.openxmlformats.org/officeDocument/2006/relationships/slide" Target="slides/slide60.xml"/><Relationship Id="rId103" Type="http://schemas.openxmlformats.org/officeDocument/2006/relationships/slide" Target="slides/slide61.xml"/><Relationship Id="rId108" Type="http://schemas.openxmlformats.org/officeDocument/2006/relationships/slide" Target="slides/slide62.xml"/><Relationship Id="rId109" Type="http://schemas.openxmlformats.org/officeDocument/2006/relationships/slide" Target="slides/slide63.xml"/><Relationship Id="rId113" Type="http://schemas.openxmlformats.org/officeDocument/2006/relationships/slide" Target="slides/slide64.xml"/><Relationship Id="rId114" Type="http://schemas.openxmlformats.org/officeDocument/2006/relationships/slide" Target="slides/slide6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开场30秒：《XGBoost参数调优（上）：基础实现》，80分钟=2课时×40分钟。课前已发工单+微课知识卡。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议程页30秒：指读分钟归属，强调课前已完成资讯计划。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过渡页：一句话点明为什么学、学了去哪。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念课程性质一行，指读证书衔接（30秒）。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决策10→实施40→检查10→实施30→评价10口径（4课时周两次课分摊）。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PRIMM之Predict。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点读关键动词，对应工单验收口径。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情境说书30秒：林工下了军令状：'F1再提3个点，调参不许超过两小时。'网格搜索、早停、特征筛选全用上——工单M2-2：XGBoost调…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先例后理。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详解B1·集成两流派：先读定义→场景为什么用它→看代码实例→扩展给A层。C/D层掌握前三格，A层加扩展格。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详解B2·XGB核心超参：先读定义→场景为什么用它→看代码实例→扩展给A层。C/D层掌握前三格，A层加扩展格。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详解B3·网格搜索：先读定义→场景为什么用它→看代码实例→扩展给A层。C/D层掌握前三格，A层加扩展格。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详解B4·早停：先读定义→场景为什么用它→看代码实例→扩展给A层。C/D层掌握前三格，A层加扩展格。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详解B5·调参工时账：先读定义→场景为什么用它→看代码实例→扩展给A层。C/D层掌握前三格，A层加扩展格。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应用页5：知识点放回产线场景——先看输出再看定义。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详解B6·交叉验证：先读定义→场景为什么用它→看代码实例→扩展给A层。C/D层掌握前三格，A层加扩展格。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技能点=做完你应该会。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演示《网格搜索》：跑通→逐行→改参数（演的核心素材）。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演示《曲线记录》：跑通→逐行→改参数（演的核心素材）。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流程图页：作为'我们现在在哪一步'的路标。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先决策再领工单。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决策矩阵：组内3分钟打分，结论理由入工单。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工单发布：'设备智能运维中心工单M2-2'——及格线F1≥0.72（2h内）。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D层跟做保底，领做做完即达标。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B层全功能+规范，帮带D/C。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A层进阶拓展+2分钟展示（费曼带徒）。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错误速查：现场制造「fit报JSON错」带学生三步排查。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避坑清单：每条问'为什么会踩'——把'注意'变成'知道为什么注意'。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收尾：检查+评价。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自检→互查签字→教师抽查。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命名'学号_姓名_工单号.zip'，24h反馈。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素养页：点1个真实案例（30秒）。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项目3 机器学习 | 预习知识点：集成学习(Bagging/Boosting)；XGBoost；网格搜索与早停 | 课中检查知识点：限时完成调优并记录工时账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XGBoost参数调优（上）：基础实现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第12周 · 第7次课（2课时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· 理实一体 · 配套：分层工单+starter · 本课主用：Jupyter（全程实训）+ PyCharm CE（starter编码）+ Git/GitHub（每周提交）</a:t>
            </a:r>
          </a:p>
        </p:txBody>
      </p:sp>
      <p:pic>
        <p:nvPicPr>
          <p:cNvPr id="7" name="Picture 6" descr="W7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目标+本课剧情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工单·分层·避坑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资讯·计划已课前线上完成——课堂从决策直接开始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67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怎么用好这套PPT（使用说明）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课前：只看①②③——定位/流程/目标，带问题来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课中：跟着④⑤走——知识卡打地基，工单练技能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卡住：查⑤避坑+错误速查，再举手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课后：⑦拓展自测+预习清单——闭环从课后开始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这份PPT=教材+工单说明书+复习提纲三合一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67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67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课程定位：AI应用基础（48课时版）（课程标准摘录）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专业核心课扩展版：48课时全谱系（数据→ML→DL→视觉→大模型→智能体）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AI应用工程师、工业视觉开发、工业互联网数据分析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1+X AI应用实践（初级=M1-M3/中级=M4/高级=M5）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前：无Python先修（零基础·并行开设） → 本课(第7周起·跳过W08/W09·至第20周·12周×4课时) → 后：项目实战/毕设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67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XGBoo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st参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集成思想：Bagging随机并行与Boosting串行纠错 · XGBoost核心超参：n_estimators/learning_rate/max_depth三角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网格搜索GridSearchCV：把调参变成可复现实验 · 早停early_stopping：验证集不涨就收手，防过拟合省时间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能跑通XGBoost基线与网格搜索——应用：见工单starter与教师参考实现 · 能在2小时内完成限时调优——应用：见工单starter与教师参考实现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67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技能线：能跑通XGBoost基线与网格搜索——应用：见工单starter与教师参考实现；能在2小时内完成限时调优——应用：见工单starter与教师参考实现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3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67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设备智能运维中心：AI应用工程师、工业视觉开发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M2-2《XGBoost参数调优（上）：基础实现》——本课工单即考核单元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1+X AI应用实践（初级=M1-M3/中级=M4）——本课工单即考点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世界职业院校技能大赛（人工智能赛道）——数据处理/模型赛项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67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67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67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67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学习目标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知识：集成思想：Bagging随机并行与Boosting串行纠错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5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能力：能跑通XGBoost基线与网格搜索——应用：见工单starter与教师参考实现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0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80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0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8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素质：数据诚信与工程纪律（课程思政）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67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课前测①：本课工单M2-2的及格线是什么？（答：F1≥0.72（2h内））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课前测②：'集成思想'用一句话说说你的理解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67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《人工智能应用基础项目式教程》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项目3 机器学习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集成学习(Bagging/Boosting)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XGBoost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0000" y="5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0000" y="494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网格搜索与早停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课中检查｜上次课（W3）抽查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能解读F1与业务代价(漏报/误报)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00000" y="360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67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题目：课前测①：本课工单M2-2的及格线是什么？（答：F1≥0.72（2h内））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常见错误：背概念不看场景；模型题不看数据分布先猜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本课回收：考点会在知识卡与随堂自测中再次出现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67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目标：集成思想：Bagging随机并行与Boosting串行纠错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67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目标：能跑通XGBoost基线与网格搜索——应用：见工单starter与教师参考实现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怎么证：工单'功能40%'全项+指标达标+运行截图贴过程记录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达标线：代码能跑+指标达工单线=过关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67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目标：数据诚信与工程纪律（课程思政融入）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怎么养：指标不造假/随机种子可复现/调参留痕——每个工单都在练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达标线：实验可复现+提交记录连续=过关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67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林工下了军令状：'F1再提3个点，调参不许超过两小时。'网格搜索、早停、特征筛选全用上——工单M2-2：XGBoost调优，在收益与工时之间做工程权衡。</a:t>
            </a:r>
          </a:p>
        </p:txBody>
      </p:sp>
      <p:pic>
        <p:nvPicPr>
          <p:cNvPr id="9" name="Picture 8" descr="W7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67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任务背景：林工下了军令状：'F1再提3个点，调参不许超过两小时。'网格搜索、早停、特征筛选全用上——工单M2-2：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冲突点：数据量/模型选型/算力时限——手工做不完，必须建模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决策点：用什么模型？怎么验证？指标线定多少？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67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67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知识详解：集成两流派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集成两流派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Bagging并行投票、Boosting串行纠错——两种组织法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单模型到瓶颈后的下一步——XGB属串行纠错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XGBClassifier(n_estimators=100)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误区：集成万能——数据烂特征差集成也救不了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67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知识详解：XGB核心超参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XGB核心超参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树数量/学习率/深度三角——互相牵制不能孤立调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准确率与训练时间平衡的三个旋钮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n_estimators=200, max_depth=4, lr=0.1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误区：树越多越好——早停和CV才是裁判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67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知识详解：网格搜索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网格搜索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GridSearchCV穷举组合+交叉验证——调参变可复现实验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答辩被问'参数怎么来的'——网格表即证据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GridSearchCV(model, param_grid, cv=5).fit(X,y)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组合爆炸警告——先粗格后细格两轮收敛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67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知识详解：早停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早停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验证集不涨就收手——省时间又防过拟合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树数量不好定时的自动裁判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early_stopping_rounds=20（XGB）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误区：patience设1——波动一轮就停学不充分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67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知识详解：调参工时账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调参工时账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收益曲线趋平即停——工程要算时间成本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通宵调参涨0.5%值不值——车间不等人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记录每轮收益：+3%→+1%→+0.2% 即收手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收益&lt;1%回去补数据——数据比参数值钱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67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知识应用（5）：调参工时账：收益曲线趋平即停，工程要算时间成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调参工时账：收益曲线趋平即停，工程要算时间成本。在两江智造产线上的用法：见工单starter与教师参考实现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67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知识详解：交叉验证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交叉验证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cv=5轮流留一块做测试——评估不被单次划分骗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报告里写90%必须有CV背书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cross_val_score(model, X, y, cv=5).mean()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时序数据别用随机CV——要按时间块切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67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能跑通XGBoost基线与网格搜索——应用：见工单starter与教师参考实现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能在2小时内完成限时调优——应用：见工单starter与教师参考实现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能绘制参数收益曲线——应用：见工单starter与教师参考实现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能写工时收益结论——应用：见工单starter与教师参考实现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67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关键代码：网格搜索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from sklearn.model_selection import GridSearchCV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grid = {"n_estimators": [100, 300], "max_depth": [3, 5], "learning_rate": [.05, .1]}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gs = GridSearchCV(XGBClassifier(eval_metric="logloss"), grid, cv=5).fit(X_tr, y_tr)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print(gs.best_params_, gs.best_score_)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67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关键代码：曲线记录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res = []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for n in [50, 100, 200, 300, 500]: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f = f1_score(y_te, XGBClassifier(n_estimators=n).fit(X_tr, y_tr).predict(X_te))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res.append((n, round(f, 3)))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67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本次课六步法流程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796000" y="2600000"/>
            <a:ext cx="16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决策：定方案·选模型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596000" y="2600000"/>
            <a:ext cx="16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实施一：数据+建模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96000" y="2600000"/>
            <a:ext cx="160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检查：自检互查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6000" y="2600000"/>
            <a:ext cx="1600000" cy="15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实施二：调优+拓展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96000" y="2600000"/>
            <a:ext cx="16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评价：当堂评分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96000" y="2600000"/>
            <a:ext cx="16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课后：微课预习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0000" y="46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六步法课堂化——每次课都知道现在在哪一步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67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本课术语表（听不懂时查这里）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术语①：集成思想——Bagging随机并行与Boosting串行纠错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术语②：XGBoost核心超参：n_estimators/learning_rate/max_depth三角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术语③：能跑通XGBoost基线与网格搜索——应用：见工单starter与教师参考实现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用法：教师说术语→学生查表——第一周建立'术语-含义'反射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67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67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XGBoost参数调优：备选方案决策矩阵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8" y="2000000"/>
            <a:ext cx="310896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2120000"/>
            <a:ext cx="310896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备选方案</a:t>
            </a:r>
          </a:p>
        </p:txBody>
      </p:sp>
      <p:sp>
        <p:nvSpPr>
          <p:cNvPr id="7" name="Rectangle 6"/>
          <p:cNvSpPr/>
          <p:nvPr/>
        </p:nvSpPr>
        <p:spPr>
          <a:xfrm>
            <a:off x="5952744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52744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可行性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1000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0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达标概率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49256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49256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工时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49256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49256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结论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700000"/>
            <a:ext cx="310896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280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方案A：按工单主线（starter起步）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52744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52744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01000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49256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49256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适中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49256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49256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推荐主干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5528" y="3320000"/>
            <a:ext cx="310896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8" y="342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方案B：自选技术路线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52744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52744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中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1000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1000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49256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49256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多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049256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49256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A层可选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95528" y="3940000"/>
            <a:ext cx="310896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5528" y="404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方案C：直接改现成项目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952744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52744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低（无过程分）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01000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01000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低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049256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49256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少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049256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049256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不建议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0000" y="468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组内打分3分钟，结论与理由写入工单决策记录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67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本课决策题：XGBoost参数调优：备选方案决策矩阵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问②值吗——精度/耗时/可复现性三角权衡（工程账）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67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实施任务：工单M2-2《XGBoost参数调优（上）：基础实现》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回顾预习卡与微课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知识精讲（先例后理）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演示代码骨架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基础实现（D/C层保底）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5. 小结+布置第2次课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F1≥0.72（2h内）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F1≥0.88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67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67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本次真跑实测输出（逐字取自 output/report.txt）</a:t>
            </a:r>
          </a:p>
          <a:p>
            <a:r>
              <a:rPr sz="1400" b="1">
                <a:solidFill>
                  <a:srgbClr val="0545E8"/>
                </a:solidFill>
              </a:rPr>
              <a:t>实测达成档位: 优(A) ｜ 同种子重跑两次逐位一致｜grid F1 实测 0.8315｜perf_counter 墙钟 11.678s（限时 7200s）｜曲线 4 档拐点 n=160（增益阈值 0.01）｜决策记录完整（result.json 回读校验）｜xgboost MISS → 兜底引擎=sklearn.GradientBoostingClassifier，口径已记录｜实测规范率 96.53%</a:t>
            </a:r>
          </a:p>
          <a:p>
            <a:r>
              <a:rPr sz="1400" b="1">
                <a:solidFill>
                  <a:srgbClr val="0545E8"/>
                </a:solidFill>
              </a:rPr>
              <a:t>及格(D)    规范率门槛≥70% [达标] ｜ 功能OK ｜ 基线可复现；代码规范率≥70%</a:t>
            </a:r>
          </a:p>
          <a:p>
            <a:r>
              <a:rPr sz="1400" b="1">
                <a:solidFill>
                  <a:srgbClr val="0545E8"/>
                </a:solidFill>
              </a:rPr>
              <a:t>良好(C)    规范率门槛≥70% [达标] ｜ 功能OK ｜ F1≥0.72限时内</a:t>
            </a:r>
          </a:p>
          <a:p>
            <a:r>
              <a:rPr sz="1400" b="1">
                <a:solidFill>
                  <a:srgbClr val="0545E8"/>
                </a:solidFill>
              </a:rPr>
              <a:t>优秀(B)    规范率门槛≥70% [达标] ｜ 功能OK ｜ 曲线完整拐点论证；决策记录完整</a:t>
            </a:r>
          </a:p>
          <a:p>
            <a:r>
              <a:rPr sz="1400" b="1">
                <a:solidFill>
                  <a:srgbClr val="0545E8"/>
                </a:solidFill>
              </a:rPr>
              <a:t>优(A)     规范率门槛≥70% [达标] ｜ 功能OK ｜ F1≥0.88或快速方案论证</a:t>
            </a:r>
          </a:p>
          <a:p>
            <a:r>
              <a:rPr sz="1400" b="1">
                <a:solidFill>
                  <a:srgbClr val="0545E8"/>
                </a:solidFill>
              </a:rPr>
              <a:t>优秀(B)「拐点论证」口头部分：为什么在拐点收手——答辩必答</a:t>
            </a:r>
          </a:p>
          <a:p>
            <a:r>
              <a:rPr sz="1400" b="1">
                <a:solidFill>
                  <a:srgbClr val="0545E8"/>
                </a:solidFill>
              </a:rPr>
              <a:t>优(A)「快速方案论证」答辩：随机预算近似穷举的工时账解释</a:t>
            </a:r>
          </a:p>
          <a:p>
            <a:r>
              <a:rPr sz="1400" b="1">
                <a:solidFill>
                  <a:srgbClr val="0545E8"/>
                </a:solidFill>
              </a:rPr>
              <a:t>决策矩阵小组打分（可行性/达标概率/工时）：课堂 3 分钟人工环节</a:t>
            </a:r>
          </a:p>
          <a:p>
            <a:r>
              <a:rPr sz="1400" b="1">
                <a:solidFill>
                  <a:srgbClr val="0545E8"/>
                </a:solidFill>
              </a:rPr>
              <a:t>企业元验收栏：值班师傅签认（功能可用/参数留痕/数据可信）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67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工程化项目/m22_tuning_cost/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src/tuning_cost/  config · core · io_utils · report · pipeline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67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M2-2 参数调优与工时账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模型: RandomForest(回退)   搜索空间: max_depth[3, 4, 5] × n_estimators[…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GridSearch(穷举)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最优参数: {'max_depth': 3, 'n_estimators': 50}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交叉验证 best_cv=0.884   测试 macro-F1=0.725   耗时 1.35s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RandomSearch(预算)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最优参数: {'n_estimators': 100, 'max_depth': 3}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交叉验证 best_cv=0.878   测试 macro-F1=0.725   耗时 0.80s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结论: 小搜索空间穷举可穷尽更稳；大空间随机预算以极小精度代价换大幅工时 → 工时账写进工单。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默认参数基线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XGBClassifier默认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fit和score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记录基线F1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基线可复现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67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网格搜索达标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定3参数网格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GridSearchCV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cv=5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F1≥0.72限时内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67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曲线与最优点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逐档记录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画参数F1曲线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标注拐点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曲线完整拐点论证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67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30分钟方案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只调3个关键参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对比全网格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给出快速recipe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F1≥0.88或快速方案论证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67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fit报JSON错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新版需eval_metric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构造时传入eval_metric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搜索跑不完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网格乘cv过大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先粗后细两轮搜索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验证好测试差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cv过拟合网格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留独立测试集终评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67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回顾预习卡与微课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知识精讲（先例后理）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演示代码骨架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0000" y="365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0000" y="3670000"/>
            <a:ext cx="480000" cy="4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0000" y="359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基础实现（D/C层保底）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0000" y="398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0000" y="400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0000" y="392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小结+布置第2次课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步骤1先看工单样例再动手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步骤2先看工单样例再动手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步骤3先看工单样例再动手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67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D·学徒（≥60）：默认参数基线——跟做保底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C·操作员（≥70）：网格搜索达标——基础完成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B·组长（≥80）：曲线与最优点——标准达成+帮带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A·师傅（≥90）：30分钟方案——进阶拓展+费曼讲解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67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指标达标：准确率/F1/耗时对齐工单及格线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随机种子已固定（random_state=42）——结果可复现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文件命名：学号_姓名_工单号.py+模型文件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conda环境正确（提示符显示(ai48)）再运行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67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67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67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提交物与评分（工单M2-2）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学号_姓名_M2-2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67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A层加餐：原理深挖（选读）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为什么有效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集成思想：Bagging随机并行与Boosting串行纠错——背后是统计/优化原理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怎么验证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改一个参数跑对比实验——用数据说话，不凭感觉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边界在哪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什么场景会失效？——数据漂移/样本不平衡/泄漏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延伸阅读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微课深化版+多解法手册——A层自己挖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67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可信AI：模型要有据可查，指标不许造假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工程纪律：限时调参与过程留痕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团队与档案：竞标协作，档案袋沉淀三年资产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67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67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torch安装失败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用--index-url cpu官方源；确认在ai48环境里装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模型指标波动大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设random_state=42；数据先shuffle再划分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ONNX推理不一致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对齐预处理——同一scaler/归一化参数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67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M2-2任务书——步骤/及格线/评分细则都在里面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学生代码框架/w4_xxx_starter.py——TODO注释即步骤提示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67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67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质检靠老师傅目检，漏检率高且疲劳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分类模型+阈值规则——先自动化易判样本，人只复核疑难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M2-2的技能点即其最小实现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视觉检测（M3）/大模型辅助诊断（M4）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67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函数封装+管道化——可复用，B层路线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集成/调参/特征工程组合拳——冲指标，A层路线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先让它跑起来→再让它对→最后让它准（KISS原则）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67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可解释性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不迷信黑盒——每个预测能说出'为什么'才敢上线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算力节约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CPU优先调优——绿色计算从课堂开始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模型抄袭=岗位上的'无证驾驶'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67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XGBoo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st参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集成思想：Bagging随机并行与Boosting串行纠错 · XGBoost核心超参：n_estimators/learning_rate/max_depth三角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能跑通XGBoost基线与网格搜索——应用：见工单starter与教师参考实现 · 能在2小时内完成限时调优——应用：见工单starter与教师参考实现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fit报JSON错 · 搜索跑不完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工单M2-2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67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知识：集成思想：Bagging随机并行与Boo；XGBoost核心超参：n_estima；网格搜索GridSearchCV：把调参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技能：能跑通XGBoost基线与网格搜索——应用：见工单starter与教师参考实现；能在2小时内完成限时调优——应用：见工单starter与教师参考实现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交付：工单M2-2《XGBoost参数调优（上）：基础实现》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习惯：调参每进一步就commit——每周至少1次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67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睡前自查三问（30秒）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问①今天的核心概念能一句话说清吗？——说不清回看知识卡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问②工单步骤全部勾完了吗？——没勾的明早第一件事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问③Git推送今天做了吗？——每周至少1次，工程素养分依据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三问通过=今天闭环；明天从微课开始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67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67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下次课预告（第12周）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能搭建并训练MLP分类器——应用：见工单star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课前测①：本课工单M2-2的及格线是什么？（答：F1≥0.72（2h内））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m22_tuning_cost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67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同种子重跑两次逐位一致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grid F1 实测 0.8315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perf_counter 墙钟 11.678s（限时 7200s）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曲线 4 档拐点 n=160（增益阈值 0.01）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决策记录完整（result.json 回读校验）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基线可复现；代码规范率≥70%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F1≥0.72限时内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曲线完整拐点论证；决策记录完整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F1≥0.88或快速方案论证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6B4E16"/>
                </a:solidFill>
                <a:latin typeface="微软雅黑"/>
              </a:rPr>
              <a:t>人工答辩项 0 条：四档门槛均由代码实测判定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实测值共 7 项，本页只列前 5 项，其余见下页 report.txt 截图。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m22_tuning_cost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67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6" name="Picture 15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19" name="Picture 18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2" name="Picture 21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项目：05-AI应用基础48课时版/工程化项目/m22_tuning_cost/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10:47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工具/ppt97/evidence/m22_tuning_cost/（capture97.py 真跑捕获，未改写数字）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W07-第7次课-XGBoost参数调优（</dc:title>
  <dc:subject>AI48授课PPT（v9风格+讲稿）</dc:subject>
  <dc:creator>工业互联网应用专业教学资源库</dc:creator>
  <cp:keywords>两江智造;AI48;岗课赛证创;课程思政;双创中心302</cp:keywords>
  <dc:description>48课时扩展版·每页备注为教师讲稿</dc:description>
  <cp:lastModifiedBy>Steve Canny</cp:lastModifiedBy>
  <cp:revision>1</cp:revision>
  <dcterms:created xsi:type="dcterms:W3CDTF">2026-09-09T00:00:00Z</dcterms:created>
  <dcterms:modified xsi:type="dcterms:W3CDTF">2026-09-09T00:00:00Z</dcterms:modified>
  <cp:category>高职高专教学文件</cp:category>
</cp:coreProperties>
</file>