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74" r:id="rId26"/>
    <p:sldId id="280" r:id="rId32"/>
    <p:sldId id="305" r:id="rId57"/>
    <p:sldId id="316" r:id="rId68"/>
    <p:sldId id="364" r:id="rId16"/>
    <p:sldId id="365" r:id="rId17"/>
    <p:sldId id="366" r:id="rId18"/>
    <p:sldId id="367" r:id="rId19"/>
    <p:sldId id="363" r:id="rId15"/>
    <p:sldId id="361" r:id="rId113"/>
    <p:sldId id="362" r:id="rId1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6" Type="http://schemas.openxmlformats.org/officeDocument/2006/relationships/slide" Target="slides/slide2.xml"/><Relationship Id="rId32" Type="http://schemas.openxmlformats.org/officeDocument/2006/relationships/slide" Target="slides/slide3.xml"/><Relationship Id="rId57" Type="http://schemas.openxmlformats.org/officeDocument/2006/relationships/slide" Target="slides/slide4.xml"/><Relationship Id="rId68" Type="http://schemas.openxmlformats.org/officeDocument/2006/relationships/slide" Target="slides/slide5.xml"/><Relationship Id="rId113" Type="http://schemas.openxmlformats.org/officeDocument/2006/relationships/slide" Target="slides/slide9.xml"/><Relationship Id="rId114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开场30秒：《传统分类：逻辑回归+决策树（下）：优化与评价》，80分钟=2课时×40分钟。课前已发工单+微课知识卡。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情境说书30秒：泵站分类模型1.0上线。老周盯着混淆矩阵问：'漏报一个轴承磨损，停线损失多少？误报一次，又要白跑几趟？'——工单M2-1…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步骤清单与工单一一对应。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工单发布：'设备智能运维中心工单M2-1a'——及格线F1≥0.70且口径正确。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项目3 机器学习 | 预习知识点：train/test划分；逻辑回归与决策树；混淆矩阵与F1 | 课中检查知识点：能解读F1与业务代价(漏报/误报)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传统分类：逻辑回归+决策树（下）：优化与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第11周 · 第6次课（2课时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6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课中查①：'F1为0且accuracy高'这个报错怎么排查？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课中查②：优秀线F1≥0.85你打算怎么冲？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泵站分类模型1.0上线。老周盯着混淆矩阵问：'漏报一个轴承磨损，停线损失多少？误报一次，又要白跑几趟？'——工单M2-1a：逻辑回归与决策树同台，用F1和业务代价说话。</a:t>
            </a:r>
          </a:p>
        </p:txBody>
      </p:sp>
      <p:pic>
        <p:nvPicPr>
          <p:cNvPr id="9" name="Picture 8" descr="W6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传统分类：逻辑回归+决策树（下）：优化与评价（实施要点）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错误速查复盘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优化冲刺（B/A层）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三层质检互查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当堂评分与反馈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下次课预告+微课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实施任务：工单M2-1a《传统分类：逻辑回归+决策树（下）：优化与评价》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错误速查复盘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优化冲刺（B/A层）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三层质检互查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当堂评分与反馈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下次课预告+微课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F1≥0.70且口径正确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F1≥0.85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本次真跑实测输出（逐字取自 output/report.txt）</a:t>
            </a:r>
          </a:p>
          <a:p>
            <a:r>
              <a:rPr sz="1400" b="1">
                <a:solidFill>
                  <a:srgbClr val="0545E8"/>
                </a:solidFill>
              </a:rPr>
              <a:t>实测达成档位: 优秀(B) ｜ 基线acc LR 0.707/DT 0.707｜最优 DT macro F1 实测 0.706（口径 average=macro，OvR pos_label 逐类登记）｜阈值曲线每类最少19 点（共 57 点）｜决策记录完整（result.json 回读校验）｜实测规范率 96.22%</a:t>
            </a:r>
          </a:p>
          <a:p>
            <a:r>
              <a:rPr sz="1400" b="1">
                <a:solidFill>
                  <a:srgbClr val="0545E8"/>
                </a:solidFill>
              </a:rPr>
              <a:t>及格(D)    规范率门槛≥70% [达标] ｜ 功能OK ｜ 基线accuracy输出；代码规范率≥70%</a:t>
            </a:r>
          </a:p>
          <a:p>
            <a:r>
              <a:rPr sz="1400" b="1">
                <a:solidFill>
                  <a:srgbClr val="0545E8"/>
                </a:solidFill>
              </a:rPr>
              <a:t>良好(C)    规范率门槛≥70% [达标] ｜ 功能OK ｜ F1≥0.70口径正确</a:t>
            </a:r>
          </a:p>
          <a:p>
            <a:r>
              <a:rPr sz="1400" b="1">
                <a:solidFill>
                  <a:srgbClr val="0545E8"/>
                </a:solidFill>
              </a:rPr>
              <a:t>优秀(B)    规范率门槛≥70% [达标] ｜ 功能OK ｜ 给出阈值方案与理由；决策记录完整</a:t>
            </a:r>
          </a:p>
          <a:p>
            <a:r>
              <a:rPr sz="1400" b="1">
                <a:solidFill>
                  <a:srgbClr val="0545E8"/>
                </a:solidFill>
              </a:rPr>
              <a:t>优(A)     规范率门槛≥70% [未达标] ｜ 功能缺 ｜ F1≥0.85或方案论证充分</a:t>
            </a:r>
          </a:p>
          <a:p>
            <a:r>
              <a:rPr sz="1400" b="1">
                <a:solidFill>
                  <a:srgbClr val="0545E8"/>
                </a:solidFill>
              </a:rPr>
              <a:t>优(A) 备选路「方案论证充分」：口头答辩 + 评审评委签认，代码不代判</a:t>
            </a:r>
          </a:p>
          <a:p>
            <a:r>
              <a:rPr sz="1400" b="1">
                <a:solidFill>
                  <a:srgbClr val="0545E8"/>
                </a:solidFill>
              </a:rPr>
              <a:t>决策矩阵小组打分（可行性/达标概率/工时）：课堂 3 分钟人工环节</a:t>
            </a:r>
          </a:p>
          <a:p>
            <a:r>
              <a:rPr sz="1400" b="1">
                <a:solidFill>
                  <a:srgbClr val="0545E8"/>
                </a:solidFill>
              </a:rPr>
              <a:t>企业元验收栏：值班师傅签认（功能可用/参数留痕/数据可信）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项目位置与一键运行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工程化项目/m21a_classic_clf/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run.py          # 输出 output/report.txt + result.json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-m pytest -q    # 全量测试应全绿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目录结构（23 个文件）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config/rules.yaml      规则外置：改配置不改代码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src/classic_clf/  config · core · io_utils · report · pipeline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tests/      正常 / 边界 / 异常三档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国标与 TOGAF 落地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GB/T 9385 需求规格 / 15532 测试 / 8567 文档 / 8566 过程组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TOGAF 四域：业务 · 数据 · 应用 · 技术架构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docs/07 ADR-001 架构决策记录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=== 工单 M2-1a 传统分类：逻辑回归 vs 决策树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数据: 300 条三态样本（正常/轴承磨损/叶轮堵塞）· 训练 225 / 测试 75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解A 逻辑回归: acc=0.707  macro-F1=0.701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混淆矩阵（行=真实 / 列=预测）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                  正常      轴承磨损      叶轮堵塞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正常                13         7         5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轴承磨损               5        19         1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叶轮堵塞               2         2        21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结论: 逻辑回归可解释强、决策树易读；漏报（把故障判为正常）是产线最贵的错误 → 决策矩阵权重给'召回率'。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下次课预告（第12周）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能跑通XGBoost基线与网格搜索——应用：见工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课中查①：'F1为0且accuracy高'这个报错怎么排查？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实测验收 · m21a_classic_clf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12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1371600"/>
            <a:ext cx="12188952" cy="713232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426464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B5533A"/>
                </a:solidFill>
                <a:latin typeface="微软雅黑"/>
              </a:rPr>
              <a:t>实测达成档位</a:t>
            </a:r>
          </a:p>
          <a:p>
            <a:r>
              <a:rPr sz="1400" b="1">
                <a:solidFill>
                  <a:srgbClr val="B5533A"/>
                </a:solidFill>
                <a:latin typeface="微软雅黑"/>
              </a:rPr>
              <a:t>优秀(B)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基线acc LR 0.707/DT 0.707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01184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46904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最优 DT macro F1 实测 0.706（口径 average=macr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01968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47688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阈值曲线每类最少19 点（共 57 点）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02752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48472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决策记录完整（result.json 回读校验）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03536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49256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实测规范率 96.22%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2212848"/>
          <a:ext cx="11274552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120640"/>
                <a:gridCol w="3886200"/>
                <a:gridCol w="1078992"/>
              </a:tblGrid>
              <a:tr h="56692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档位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工单验收标准（原文）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本次实测判定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及格(D)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基线accuracy输出；代码规范率≥70%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规范率门槛≥70% [达标] ｜ 功能OK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良好(C)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F1≥0.70口径正确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规范率门槛≥70% [达标] ｜ 功能OK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优秀(B)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给出阈值方案与理由；决策记录完整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规范率门槛≥70% [达标] ｜ 功能OK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优(A)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F1≥0.85或方案论证充分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规范率门槛≥70% [未达标] ｜ 功能缺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B5533A"/>
                          </a:solidFill>
                          <a:latin typeface="微软雅黑"/>
                        </a:rPr>
                        <a:t>✗ 未达标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27" name="Rectangle 26"/>
          <p:cNvSpPr/>
          <p:nvPr/>
        </p:nvSpPr>
        <p:spPr>
          <a:xfrm>
            <a:off x="457200" y="5138928"/>
            <a:ext cx="11274552" cy="1261872"/>
          </a:xfrm>
          <a:prstGeom prst="rect">
            <a:avLst/>
          </a:prstGeom>
          <a:solidFill>
            <a:srgbClr val="FFF7E8"/>
          </a:solidFill>
          <a:ln>
            <a:solidFill>
              <a:srgbClr val="E8C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5212080"/>
            <a:ext cx="1092708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4E16"/>
                </a:solidFill>
                <a:latin typeface="微软雅黑"/>
              </a:rPr>
              <a:t>人工答辩项 0 条：四档门槛均由代码实测判定</a:t>
            </a:r>
          </a:p>
          <a:p>
            <a:r>
              <a:rPr sz="1050" b="0">
                <a:solidFill>
                  <a:srgbClr val="6B4E16"/>
                </a:solidFill>
                <a:latin typeface="微软雅黑"/>
              </a:rPr>
              <a:t>档位是算出来的：判定值由 run.py 本次真跑产生；工单未给数字的门槛在报告里标注为「兜底口径·非工单数字」。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实跑截图证据 · m21a_classic_clf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12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① run.py 实跑终端输出（逐字捕获）</a:t>
            </a:r>
          </a:p>
        </p:txBody>
      </p:sp>
      <p:pic>
        <p:nvPicPr>
          <p:cNvPr id="16" name="Picture 15" descr="shot_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038" y="1773936"/>
            <a:ext cx="4472722" cy="1956816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6327648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② pytest 全绿终端输出（逐字捕获）</a:t>
            </a:r>
          </a:p>
        </p:txBody>
      </p:sp>
      <p:pic>
        <p:nvPicPr>
          <p:cNvPr id="19" name="Picture 18" descr="shot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4486" y="1773936"/>
            <a:ext cx="4472722" cy="1956816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457200" y="3877056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③ report.txt「验收档位判定（实测）」段</a:t>
            </a:r>
          </a:p>
        </p:txBody>
      </p:sp>
      <p:pic>
        <p:nvPicPr>
          <p:cNvPr id="22" name="Picture 21" descr="shot_rep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038" y="4169664"/>
            <a:ext cx="4472722" cy="195681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327648" y="3877056"/>
            <a:ext cx="5486400" cy="2304288"/>
          </a:xfrm>
          <a:prstGeom prst="rect">
            <a:avLst/>
          </a:prstGeom>
          <a:solidFill>
            <a:srgbClr val="F7F9FB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④ 采集口径（可复现）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7376" y="4187952"/>
            <a:ext cx="52669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项目：05-AI应用基础48课时版/工程化项目/m21a_classic_clf/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命令：/opt/anaconda3/bin/python run.py ｜ /opt/anaconda3/bin/python -m pytest -q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采集：工具/ppt97/capture97.py（2026-10-28 10:47 真跑逐字捕获输出）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渲染：工具/ppt97/terminal_png.py（终端截图，不改写任何数字）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退出码：run=0 ｜ pytest=0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档位判定取自 output/report.txt「验收档位判定（实测）」段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25449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698"/>
                </a:solidFill>
                <a:latin typeface="微软雅黑"/>
              </a:rPr>
              <a:t>截图内容逐字取自 工具/ppt97/evidence/m21a_classic_clf/（capture97.py 真跑捕获，未改写数字）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W06-第6次课-传统分类：逻辑回归+决策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