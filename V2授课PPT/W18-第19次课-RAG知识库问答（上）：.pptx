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60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1" r:id="rId43"/>
    <p:sldId id="292" r:id="rId44"/>
    <p:sldId id="294" r:id="rId46"/>
    <p:sldId id="296" r:id="rId48"/>
    <p:sldId id="299" r:id="rId51"/>
    <p:sldId id="302" r:id="rId54"/>
    <p:sldId id="306" r:id="rId58"/>
    <p:sldId id="309" r:id="rId61"/>
    <p:sldId id="311" r:id="rId63"/>
    <p:sldId id="313" r:id="rId65"/>
    <p:sldId id="316" r:id="rId68"/>
    <p:sldId id="317" r:id="rId69"/>
    <p:sldId id="318" r:id="rId70"/>
    <p:sldId id="319" r:id="rId71"/>
    <p:sldId id="367" r:id="rId66"/>
    <p:sldId id="368" r:id="rId64"/>
    <p:sldId id="369" r:id="rId62"/>
    <p:sldId id="370" r:id="rId73"/>
    <p:sldId id="366" r:id="rId67"/>
    <p:sldId id="320" r:id="rId72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47" r:id="rId99"/>
    <p:sldId id="354" r:id="rId106"/>
    <p:sldId id="359" r:id="rId111"/>
    <p:sldId id="360" r:id="rId112"/>
    <p:sldId id="364" r:id="rId116"/>
    <p:sldId id="365" r:id="rId117"/>
    <p:sldId id="372" r:id="rId75"/>
    <p:sldId id="373" r:id="rId5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1" Type="http://schemas.openxmlformats.org/officeDocument/2006/relationships/slide" Target="slides/slide27.xml"/><Relationship Id="rId54" Type="http://schemas.openxmlformats.org/officeDocument/2006/relationships/slide" Target="slides/slide28.xml"/><Relationship Id="rId58" Type="http://schemas.openxmlformats.org/officeDocument/2006/relationships/slide" Target="slides/slide29.xml"/><Relationship Id="rId59" Type="http://schemas.openxmlformats.org/officeDocument/2006/relationships/slide" Target="slides/slide69.xml"/><Relationship Id="rId60" Type="http://schemas.openxmlformats.org/officeDocument/2006/relationships/slide" Target="slides/slide67.xml"/><Relationship Id="rId61" Type="http://schemas.openxmlformats.org/officeDocument/2006/relationships/slide" Target="slides/slide30.xml"/><Relationship Id="rId62" Type="http://schemas.openxmlformats.org/officeDocument/2006/relationships/slide" Target="slides/slide39.xml"/><Relationship Id="rId63" Type="http://schemas.openxmlformats.org/officeDocument/2006/relationships/slide" Target="slides/slide31.xml"/><Relationship Id="rId64" Type="http://schemas.openxmlformats.org/officeDocument/2006/relationships/slide" Target="slides/slide38.xml"/><Relationship Id="rId65" Type="http://schemas.openxmlformats.org/officeDocument/2006/relationships/slide" Target="slides/slide32.xml"/><Relationship Id="rId66" Type="http://schemas.openxmlformats.org/officeDocument/2006/relationships/slide" Target="slides/slide37.xml"/><Relationship Id="rId67" Type="http://schemas.openxmlformats.org/officeDocument/2006/relationships/slide" Target="slides/slide41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6.xml"/><Relationship Id="rId72" Type="http://schemas.openxmlformats.org/officeDocument/2006/relationships/slide" Target="slides/slide42.xml"/><Relationship Id="rId73" Type="http://schemas.openxmlformats.org/officeDocument/2006/relationships/slide" Target="slides/slide40.xml"/><Relationship Id="rId74" Type="http://schemas.openxmlformats.org/officeDocument/2006/relationships/slide" Target="slides/slide43.xml"/><Relationship Id="rId75" Type="http://schemas.openxmlformats.org/officeDocument/2006/relationships/slide" Target="slides/slide68.xml"/><Relationship Id="rId76" Type="http://schemas.openxmlformats.org/officeDocument/2006/relationships/slide" Target="slides/slide44.xml"/><Relationship Id="rId78" Type="http://schemas.openxmlformats.org/officeDocument/2006/relationships/slide" Target="slides/slide45.xml"/><Relationship Id="rId80" Type="http://schemas.openxmlformats.org/officeDocument/2006/relationships/slide" Target="slides/slide46.xml"/><Relationship Id="rId82" Type="http://schemas.openxmlformats.org/officeDocument/2006/relationships/slide" Target="slides/slide47.xml"/><Relationship Id="rId83" Type="http://schemas.openxmlformats.org/officeDocument/2006/relationships/slide" Target="slides/slide48.xml"/><Relationship Id="rId85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6" Type="http://schemas.openxmlformats.org/officeDocument/2006/relationships/slide" Target="slides/slide62.xml"/><Relationship Id="rId111" Type="http://schemas.openxmlformats.org/officeDocument/2006/relationships/slide" Target="slides/slide63.xml"/><Relationship Id="rId112" Type="http://schemas.openxmlformats.org/officeDocument/2006/relationships/slide" Target="slides/slide64.xml"/><Relationship Id="rId116" Type="http://schemas.openxmlformats.org/officeDocument/2006/relationships/slide" Target="slides/slide65.xml"/><Relationship Id="rId117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开场30秒：《RAG知识库问答（上）：基础实现》，80分钟=2课时×40分钟。课前已发工单+微课知识卡。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情境说书30秒：值班助手1.0总爱'一本正经地胡说'。林工：'让它有据可查——RAG。'知识库、检索、引用标注三件套——工单M4-2：让…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详解B1·RAG三步：先读定义→场景为什么用它→看代码实例→扩展给A层。C/D层掌握前三格，A层加扩展格。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详解B2·切分粒度：先读定义→场景为什么用它→看代码实例→扩展给A层。C/D层掌握前三格，A层加扩展格。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详解B3·检索双解：先读定义→场景为什么用它→看代码实例→扩展给A层。C/D层掌握前三格，A层加扩展格。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详解B4·引用标注：先读定义→场景为什么用它→看代码实例→扩展给A层。C/D层掌握前三格，A层加扩展格。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详解B5·幻觉治理：先读定义→场景为什么用它→看代码实例→扩展给A层。C/D层掌握前三格，A层加扩展格。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详解B6·评测分口径：先读定义→场景为什么用它→看代码实例→扩展给A层。C/D层掌握前三格，A层加扩展格。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演示《教学版检索》：跑通→逐行→改参数（演的核心素材）。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演示《引用生成》：跑通→逐行→改参数（演的核心素材）。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工单发布：'设备智能运维中心工单M4-2'——及格线检索≥80%+引用完整。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错误速查：现场制造「检索全不中」带学生三步排查。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预习知识点：RAG(检索增强生成)；知识库切分/向量检索/引用标注 | 课中检查知识点：搭建最小RAG链路；回答带出处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RAG知识库问答（上）：基础实现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第18周 · 第19次课（2课时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RAG知识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库问答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RAG三步：知识切分向量检索引用生成——应用：见工单starter与教师参考实现 · 切分粒度：太碎丢上下文太整检索糊，先按条目——应用：见工单starter与教师参考实现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检索双解：重合度打分(教学直观)→Chroma向量库(工程实现，见01包rag_chroma_demo) · 引用标注：每条建议挂条目ID可点开溯源——应用：见工单starter与教师参考实现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能搭建最小RAG问答链路——应用：见工单starter与教师参考实现 · 能调top-k与相关度阈值——应用：见工单starter与教师参考实现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技能线：能搭建最小RAG问答链路——应用：见工单starter与教师参考实现；能调top-k与相关度阈值——应用：见工单starter与教师参考实现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M4-2《RAG知识库问答（上）：基础实现》——本课工单即考核单元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知识：RAG三步：知识切分向量检索引用生成——应用：见工单starter与教师参考实现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能力：能搭建最小RAG问答链路——应用：见工单starter与教师参考实现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W18课前测①：本课工单M4-2的及格线是什么？（答：检索≥80%+引用完整）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W18课前测②：'知识切分'用一句话说说你的理解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项目6-7 大模型·语言应用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RAG(检索增强生成)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知识库切分/向量检索/引用标注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三版Prompt对比提升≥20%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本地mock调用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题目：W18课前测①：本课工单M4-2的及格线是什么？（答：检索≥80%+引用完整）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目标：RAG三步：知识切分向量检索引用生成——应用：见工单starter与教师参考实现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目标：能搭建最小RAG问答链路——应用：见工单starter与教师参考实现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pic>
        <p:nvPicPr>
          <p:cNvPr id="9" name="Picture 8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任务背景：值班助手1.0总爱'一本正经地胡说'。林工：'让它有据可查——RAG。'知识库、检索、引用标注三件套——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知识详解：RAG三步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RAG三步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知识切分→向量检索→引用生成——开卷考试三步抄法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让LLM答企业内部资料——不靠死记硬背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检索top3条目→拼进prompt→生成带引用答案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误区：全资料塞prompt——token贵且答非所问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知识详解：切分粒度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切分粒度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太碎丢上下文、太整检索糊——先按条目切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维修手册按故障条目切——每条自成一体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chunk_size=500, overlap=50 起步再调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粒度没有万能值——用检索准确率反推调整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知识应用（2）：切分粒度：太碎丢上下文太整检索糊，先按条目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切分粒度：太碎丢上下文太整检索糊，先按条目。在两江智造产线上的用法：见工单starter与教师参考实现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知识详解：检索双解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检索双解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重合度打分直观→Chroma向量库工程实现——两解递进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教学先用关键词打分理解检索原理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collection.query(embeddings, n_results=3)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误区：检索=模糊匹配——语义检索靠向量相似度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知识详解：引用标注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引用标注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每条建议挂条目ID——可点开溯源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质检员要核实AI说的对不对——溯源即信任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answer += ' [依据: 手册§3.2]'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无引用的AI建议=口头承诺——产线只认可溯源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知识详解：幻觉治理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幻觉治理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检索为空时宁说'查无依据'不硬编——底线意识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手册里没有的故障必须坦白不知道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not hits: return '未在资料中找到依据'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幻觉是RAG头号风险——'我不知道'是好答案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知识详解：评测分口径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评测分口径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检索准确率与生成质量分开评——两头各管各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答错时先定位：检索没找到还是生成编造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检索命中率单独统计，再评答案质量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混评找不到病灶——分开测才能对症下药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能搭建最小RAG问答链路——应用：见工单starter与教师参考实现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能调top-k与相关度阈值——应用：见工单starter与教师参考实现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能输出带引用的回答——应用：见工单starter与教师参考实现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能做有无RAG对比评测——应用：见工单starter与教师参考实现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关键代码：教学版检索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retrieve(q, k=3):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sims = [(cosine(q_vec, d_vec), doc) for doc, d_vec in ZIP]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sorted(sims, reverse=True)[:k]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关键代码：引用生成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ctx = "\n".join(f"[{i}] {d}" for i, (s, d) in enumerate(hits))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prompt = f"依据以下条目回答，标注[编号]:\n{ctx}\n问题: {q}"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RAG知识库问答：备选方案决策矩阵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本课决策题：RAG知识库问答：备选方案决策矩阵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实施任务：工单M4-2《RAG知识库问答（上）：基础实现》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检索≥80%+引用完整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检索≥90%+生成质量优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幻觉案例实测 3 条 ｜ 检索命中率（RRF 融合通道 recall@3）100.0% ｜ 引用覆盖率 100% ｜ 可溯源比例 100% ｜ 融合说明 2 行 ｜ 决策记录完整=是 ｜ 代码规范率实测 95.8%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幻觉案例≥2条；代码规范率≥70%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检索≥80%有引用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检索≥85%可溯源；决策记录完整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功能OK ｜ 检索≥90%加融合说明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RAG 底线='有据可查+诚实拒答'；查无依据的查询用于发现知识库盲区</a:t>
            </a:r>
          </a:p>
          <a:p>
            <a:r>
              <a:rPr sz="1400" b="1">
                <a:solidFill>
                  <a:srgbClr val="0545E8"/>
                </a:solidFill>
              </a:rPr>
              <a:t>检索双解：关键词精确匹配型号/编码，jieba+TF-IDF 语义重合描述类查询，RRF 融合两路互补（工单B03）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工程化项目/m42_rag/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src/rag48/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幻觉案例实测 3 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检索命中率（RRF 融合通道 recall@3）100.0%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引用覆盖率 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可溯源比例 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融合说明 2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幻觉案例≥2条；代码规范率≥70%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检索≥80%有引用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检索≥85%可溯源；决策记录完整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检索≥90%加融合说明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项目：05-AI应用基础48课时版/工程化项目/m42_rag/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工具/ppt97/evidence/m42_rag/（capture97.py 真跑捕获，未改写数字）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无RAG基线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直接问LLM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记录幻觉例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留证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幻觉案例≥2条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链路跑通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知识切分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检索top3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拼Prompt生成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检索≥80%有引用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参数调优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k对比3档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阈值过滤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评测表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检索≥85%可溯源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多源融合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手册工单两库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结果融合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冲突消解策略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检索≥90%加融合说明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检索全不中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query与库用词不搭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同义词扩展中文bigram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引用编号错乱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拼接时重排了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编号一次性生成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回答仍幻觉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检索空还硬答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空结果走查无依据分支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D·学徒（≥60）：无RAG基线——跟做保底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C·操作员（≥70）：链路跑通——基础完成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B·组长（≥80）：参数调优——标准达成+帮带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A·师傅（≥90）：多源融合——进阶拓展+费曼讲解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提交物与评分（工单M4-2）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学号_姓名_M4-2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RAG三步：知识切分向量检索引用生成——应用：见工单starter与教师参考实现——背后是统计/优化原理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学生代码框架/w10_xxx_starter.py——TODO注释即步骤提示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RAG知识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库问答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RAG三步：知识切分向量检索引用生成——应用：见工单starter与教师参考实现 · 切分粒度：太碎丢上下文太整检索糊，先按条目——应用：见工单starter与教师参考实现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能搭建最小RAG问答链路——应用：见工单starter与教师参考实现 · 能调top-k与相关度阈值——应用：见工单starter与教师参考实现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检索全不中 · 引用编号错乱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工单M4-2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知识：RAG三步：知识切分向量检索引用生成；切分粒度：太碎丢上下文太整检索糊，先按条；检索双解：重合度打分(教学直观)→Chr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技能：能搭建最小RAG问答链路——应用：见工单starter与教师参考实现；能调top-k与相关度阈值——应用：见工单starter与教师参考实现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交付：工单M4-2《RAG知识库问答（上）：基础实现》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能跑通仿真环境随机基线——应用：见工单start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W18课前测①：本课工单M4-2的及格线是什么？（答：检索≥80%+引用完整）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W13-第19次课-RAG知识库问答（上）：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