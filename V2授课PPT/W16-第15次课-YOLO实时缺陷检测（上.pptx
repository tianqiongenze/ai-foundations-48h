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89" r:id="rId41"/>
    <p:sldId id="291" r:id="rId43"/>
    <p:sldId id="294" r:id="rId46"/>
    <p:sldId id="297" r:id="rId49"/>
    <p:sldId id="299" r:id="rId51"/>
    <p:sldId id="302" r:id="rId54"/>
    <p:sldId id="305" r:id="rId57"/>
    <p:sldId id="308" r:id="rId60"/>
    <p:sldId id="310" r:id="rId62"/>
    <p:sldId id="312" r:id="rId64"/>
    <p:sldId id="315" r:id="rId67"/>
    <p:sldId id="316" r:id="rId68"/>
    <p:sldId id="317" r:id="rId69"/>
    <p:sldId id="318" r:id="rId70"/>
    <p:sldId id="366" r:id="rId65"/>
    <p:sldId id="367" r:id="rId63"/>
    <p:sldId id="368" r:id="rId72"/>
    <p:sldId id="369" r:id="rId61"/>
    <p:sldId id="370" r:id="rId74"/>
    <p:sldId id="365" r:id="rId66"/>
    <p:sldId id="319" r:id="rId71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3" r:id="rId95"/>
    <p:sldId id="344" r:id="rId96"/>
    <p:sldId id="345" r:id="rId97"/>
    <p:sldId id="346" r:id="rId98"/>
    <p:sldId id="353" r:id="rId105"/>
    <p:sldId id="358" r:id="rId110"/>
    <p:sldId id="359" r:id="rId111"/>
    <p:sldId id="363" r:id="rId115"/>
    <p:sldId id="364" r:id="rId1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3" Type="http://schemas.openxmlformats.org/officeDocument/2006/relationships/slide" Target="slides/slide24.xml"/><Relationship Id="rId46" Type="http://schemas.openxmlformats.org/officeDocument/2006/relationships/slide" Target="slides/slide25.xml"/><Relationship Id="rId49" Type="http://schemas.openxmlformats.org/officeDocument/2006/relationships/slide" Target="slides/slide26.xml"/><Relationship Id="rId51" Type="http://schemas.openxmlformats.org/officeDocument/2006/relationships/slide" Target="slides/slide27.xml"/><Relationship Id="rId54" Type="http://schemas.openxmlformats.org/officeDocument/2006/relationships/slide" Target="slides/slide28.xml"/><Relationship Id="rId57" Type="http://schemas.openxmlformats.org/officeDocument/2006/relationships/slide" Target="slides/slide29.xml"/><Relationship Id="rId60" Type="http://schemas.openxmlformats.org/officeDocument/2006/relationships/slide" Target="slides/slide30.xml"/><Relationship Id="rId61" Type="http://schemas.openxmlformats.org/officeDocument/2006/relationships/slide" Target="slides/slide66.xml"/><Relationship Id="rId62" Type="http://schemas.openxmlformats.org/officeDocument/2006/relationships/slide" Target="slides/slide31.xml"/><Relationship Id="rId63" Type="http://schemas.openxmlformats.org/officeDocument/2006/relationships/slide" Target="slides/slide38.xml"/><Relationship Id="rId64" Type="http://schemas.openxmlformats.org/officeDocument/2006/relationships/slide" Target="slides/slide32.xml"/><Relationship Id="rId65" Type="http://schemas.openxmlformats.org/officeDocument/2006/relationships/slide" Target="slides/slide37.xml"/><Relationship Id="rId66" Type="http://schemas.openxmlformats.org/officeDocument/2006/relationships/slide" Target="slides/slide39.xml"/><Relationship Id="rId67" Type="http://schemas.openxmlformats.org/officeDocument/2006/relationships/slide" Target="slides/slide33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36.xml"/><Relationship Id="rId71" Type="http://schemas.openxmlformats.org/officeDocument/2006/relationships/slide" Target="slides/slide40.xml"/><Relationship Id="rId72" Type="http://schemas.openxmlformats.org/officeDocument/2006/relationships/slide" Target="slides/slide65.xml"/><Relationship Id="rId73" Type="http://schemas.openxmlformats.org/officeDocument/2006/relationships/slide" Target="slides/slide41.xml"/><Relationship Id="rId74" Type="http://schemas.openxmlformats.org/officeDocument/2006/relationships/slide" Target="slides/slide67.xml"/><Relationship Id="rId75" Type="http://schemas.openxmlformats.org/officeDocument/2006/relationships/slide" Target="slides/slide42.xml"/><Relationship Id="rId77" Type="http://schemas.openxmlformats.org/officeDocument/2006/relationships/slide" Target="slides/slide43.xml"/><Relationship Id="rId79" Type="http://schemas.openxmlformats.org/officeDocument/2006/relationships/slide" Target="slides/slide44.xml"/><Relationship Id="rId81" Type="http://schemas.openxmlformats.org/officeDocument/2006/relationships/slide" Target="slides/slide45.xml"/><Relationship Id="rId82" Type="http://schemas.openxmlformats.org/officeDocument/2006/relationships/slide" Target="slides/slide46.xml"/><Relationship Id="rId84" Type="http://schemas.openxmlformats.org/officeDocument/2006/relationships/slide" Target="slides/slide47.xml"/><Relationship Id="rId86" Type="http://schemas.openxmlformats.org/officeDocument/2006/relationships/slide" Target="slides/slide48.xml"/><Relationship Id="rId87" Type="http://schemas.openxmlformats.org/officeDocument/2006/relationships/slide" Target="slides/slide49.xml"/><Relationship Id="rId88" Type="http://schemas.openxmlformats.org/officeDocument/2006/relationships/slide" Target="slides/slide50.xml"/><Relationship Id="rId89" Type="http://schemas.openxmlformats.org/officeDocument/2006/relationships/slide" Target="slides/slide51.xml"/><Relationship Id="rId90" Type="http://schemas.openxmlformats.org/officeDocument/2006/relationships/slide" Target="slides/slide52.xml"/><Relationship Id="rId91" Type="http://schemas.openxmlformats.org/officeDocument/2006/relationships/slide" Target="slides/slide53.xml"/><Relationship Id="rId92" Type="http://schemas.openxmlformats.org/officeDocument/2006/relationships/slide" Target="slides/slide54.xml"/><Relationship Id="rId93" Type="http://schemas.openxmlformats.org/officeDocument/2006/relationships/slide" Target="slides/slide55.xml"/><Relationship Id="rId95" Type="http://schemas.openxmlformats.org/officeDocument/2006/relationships/slide" Target="slides/slide56.xml"/><Relationship Id="rId96" Type="http://schemas.openxmlformats.org/officeDocument/2006/relationships/slide" Target="slides/slide57.xml"/><Relationship Id="rId97" Type="http://schemas.openxmlformats.org/officeDocument/2006/relationships/slide" Target="slides/slide58.xml"/><Relationship Id="rId98" Type="http://schemas.openxmlformats.org/officeDocument/2006/relationships/slide" Target="slides/slide59.xml"/><Relationship Id="rId105" Type="http://schemas.openxmlformats.org/officeDocument/2006/relationships/slide" Target="slides/slide60.xml"/><Relationship Id="rId110" Type="http://schemas.openxmlformats.org/officeDocument/2006/relationships/slide" Target="slides/slide61.xml"/><Relationship Id="rId111" Type="http://schemas.openxmlformats.org/officeDocument/2006/relationships/slide" Target="slides/slide62.xml"/><Relationship Id="rId115" Type="http://schemas.openxmlformats.org/officeDocument/2006/relationships/slide" Target="slides/slide63.xml"/><Relationship Id="rId116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开场30秒：《YOLO实时缺陷检测（上）：基础实现》，80分钟=2课时×40分钟。课前已发工单+微课知识卡。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情境说书30秒：产线节拍又升了。老周批了CPU算力：'实时检测，速度与精度你自己权衡。'工单M3-2：YOLO缺陷检测，阈值、输入尺寸与…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详解B1·检测=分类+定位：先读定义→场景为什么用它→看代码实例→扩展给A层。C/D层掌握前三格，A层加扩展格。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详解B2·置信度阈值：先读定义→场景为什么用它→看代码实例→扩展给A层。C/D层掌握前三格，A层加扩展格。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详解B3·输入尺寸权衡：先读定义→场景为什么用它→看代码实例→扩展给A层。C/D层掌握前三格，A层加扩展格。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详解B4·FPS测量口径：先读定义→场景为什么用它→看代码实例→扩展给A层。C/D层掌握前三格，A层加扩展格。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详解B5·mAP指标：先读定义→场景为什么用它→看代码实例→扩展给A层。C/D层掌握前三格，A层加扩展格。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详解B6·工程权衡三问：先读定义→场景为什么用它→看代码实例→扩展给A层。C/D层掌握前三格，A层加扩展格。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演示《ONNX推理口径》：跑通→逐行→改参数（演的核心素材）。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演示《阈值过滤》：跑通→逐行→改参数（演的核心素材）。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工单发布：'设备智能运维中心工单M3-2'——及格线mAP≥0.60+FPS表完整。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错误速查：现场制造「FPS波动大」带学生三步排查。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预习知识点：YOLO检测原理(边界框/置信度)；mAP与FPS | 课中检查知识点：CPU实时检测mAP≥0.70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YOLO实时缺陷检测（上）：基础实现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第16周 · 第15次课（2课时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YOLO实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时缺陷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 · 置信度阈值：低阈值召回高但误检多，业务定夺——应用：见工单starter与教师参考实现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 · FPS测量口径：纯推理vs含前后处理，先约定再比较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 · 能调阈值与尺寸并记录mAP和FPS——应用：见工单starter与教师参考实现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技能线：能部署CPU预训练YOLO推理——应用：见工单starter与教师参考实现；能调阈值与尺寸并记录mAP和FPS——应用：见工单starter与教师参考实现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M3-2《YOLO实时缺陷检测（上）：基础实现》——本课工单即考核单元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知识：检测=分类+定位：YOLO一次前向出全部候选框——应用：见工单starter与教师参考实现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能力：能部署CPU预训练YOLO推理——应用：见工单starter与教师参考实现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W16课前测①：本课工单M3-2的及格线是什么？（答：mAP≥0.60+FPS表完整）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W16课前测②：'检测头直观'用一句话说说你的理解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项目5 大模型·视觉应用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YOLO检测原理(边界框/置信度)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mAP与FPS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完成冻结/微调取舍实验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题目：W16课前测①：本课工单M3-2的及格线是什么？（答：mAP≥0.60+FPS表完整）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目标：检测=分类+定位：YOLO一次前向出全部候选框——应用：见工单starter与教师参考实现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目标：能部署CPU预训练YOLO推理——应用：见工单starter与教师参考实现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产线节拍又升了。老周批了CPU算力：'实时检测，速度与精度你自己权衡。'工单M3-2：YOLO缺陷检测，阈值、输入尺寸与FPS的三方博弈。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任务背景：产线节拍又升了。老周批了CPU算力：'实时检测，速度与精度你自己权衡。'工单M3-2：YOLO缺陷检测，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知识详解：检测=分类+定位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检测=分类+定位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不只说'有缺陷'还要框出'在哪'——一次前向出全部框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质检要定位缺陷位置指导返修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yolo.predict(img) 返回boxes+scores+classes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分类只能答有/无——要位置就得检测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知识应用（1）：检测=分类+定位：YOLO一次前向出全部候选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检测=分类+定位：YOLO一次前向出全部候选框。在两江智造产线上的用法：见工单starter与教师参考实现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知识详解：置信度阈值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置信度阈值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低阈值召回高误检多、高阈值反之——业务定夺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漏检代价高的场景阈值调低宁可多报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conf=0.25 起步，按混淆矩阵调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阈值不是拍的——用PR曲线按业务代价选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知识详解：输入尺寸权衡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输入尺寸权衡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640到320速度翻倍精度让步——像素即算力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边缘盒子算力有限时的第一调节旋钮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imgsz=320 推理时间约减半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小目标缩图会看不见——先看缺陷最小尺寸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知识详解：FPS测量口径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FPS测量口径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纯推理vs含前后处理——口径不同数字差几倍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两台设备比速度先统一口径再比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计时含预处理+推理+后处理全链路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只报纯推理FPS是耍流氓——节拍看全链路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知识详解：mAP指标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mAP指标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多阈值下平均精度——统一测试集才有意义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检测任务综合得分——框的准不准看它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results.val() 出 mAP@0.5 与 mAP@0.5:0.95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mAP没统一数据集不能比——别人的榜不是你的卷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知识详解：工程权衡三问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工程权衡三问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漏一个的代价？误一个的代价？节拍多少？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缺陷检测上线评审的标准三问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三问答案写进部署方案——阈值与模型随之定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三问答不出就别上线——指标好看不等于敢用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能调阈值与尺寸并记录mAP和FPS——应用：见工单starter与教师参考实现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能产出三方权衡报告——应用：见工单starter与教师参考实现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能做产线节拍适配建议——应用：见工单starter与教师参考实现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关键代码：ONNX推理口径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onnxruntime as ort, 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sess = ort.InferenceSession("yolo.onnx")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t0 = time.perf_counter()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out = sess.run(None, {"images": x})[0]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print("FPS≈", 1 / (time.perf_counter() - t0))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关键代码：阈值过滤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conf = out[4:].max(0)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keep = conf &gt; 0.4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boxes = xywh[keep]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YOLO实时缺陷检测：备选方案决策矩阵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本课决策题：YOLO实时缺陷检测：备选方案决策矩阵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实施任务：工单M3-2《YOLO实时缺陷检测（上）：基础实现》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mAP≥0.60+FPS表完整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本次真跑实测输出（逐字取自 output/report.txt）</a:t>
            </a:r>
          </a:p>
          <a:p>
            <a:r>
              <a:rPr sz="1400" b="1">
                <a:solidFill>
                  <a:srgbClr val="0545E8"/>
                </a:solidFill>
              </a:rPr>
              <a:t>实测达成档位: 优(A) ｜ 实测 AP@0.5 0.8272 ｜ 扫描表 3 行/30 格（应 30 格）｜ 推荐点实测 AP 0.8272 ｜ win16 实测加速 +33.5% ｜ 决策记录 1 条 ｜ 规范率 96.88%</a:t>
            </a:r>
          </a:p>
          <a:p>
            <a:r>
              <a:rPr sz="1400" b="1">
                <a:solidFill>
                  <a:srgbClr val="0545E8"/>
                </a:solidFill>
              </a:rPr>
              <a:t>及格(D)    规范率门槛≥70% [达标] ｜ 功能OK ｜ 基线 mAP 有数（实测 0.8272）</a:t>
            </a:r>
          </a:p>
          <a:p>
            <a:r>
              <a:rPr sz="1400" b="1">
                <a:solidFill>
                  <a:srgbClr val="0545E8"/>
                </a:solidFill>
              </a:rPr>
              <a:t>良好(C)    规范率门槛≥70% [达标] ｜ 功能OK ｜ AP@0.5≥0.6 且表完整（实测 0.8272 / 3 行 30 格，应 30 格）</a:t>
            </a:r>
          </a:p>
          <a:p>
            <a:r>
              <a:rPr sz="1400" b="1">
                <a:solidFill>
                  <a:srgbClr val="0545E8"/>
                </a:solidFill>
              </a:rPr>
              <a:t>优秀(B)    规范率门槛≥70% [达标] ｜ 功能OK ｜ 推荐点+理由挂在实测数字+决策记录≥1（实测推荐 AP 0.8272，理由含实测数字=True，决策记录 1 条）</a:t>
            </a:r>
          </a:p>
          <a:p>
            <a:r>
              <a:rPr sz="1400" b="1">
                <a:solidFill>
                  <a:srgbClr val="0545E8"/>
                </a:solidFill>
              </a:rPr>
              <a:t>优(A)     规范率门槛≥70% [达标] ｜ 功能OK ｜ AP@0.5≥0.75 或 加速≥50%（实测 0.8272 / +33.5%）</a:t>
            </a:r>
          </a:p>
          <a:p>
            <a:r>
              <a:rPr sz="1400" b="1">
                <a:solidFill>
                  <a:srgbClr val="0545E8"/>
                </a:solidFill>
              </a:rPr>
              <a:t>人工答辩项 3 条，教师答辩时确认：</a:t>
            </a:r>
          </a:p>
          <a:p>
            <a:r>
              <a:rPr sz="1400" b="1">
                <a:solidFill>
                  <a:srgbClr val="0545E8"/>
                </a:solidFill>
              </a:rPr>
              <a:t>- 推荐理由的口头陈述与答辩问答（工单：方案对比周必答）</a:t>
            </a:r>
          </a:p>
          <a:p>
            <a:r>
              <a:rPr sz="1400" b="1">
                <a:solidFill>
                  <a:srgbClr val="0545E8"/>
                </a:solidFill>
              </a:rPr>
              <a:t>- 企业元验收栏签认（功能可用/参数留痕/数据可信，值班师傅签字）</a:t>
            </a:r>
          </a:p>
          <a:p>
            <a:r>
              <a:rPr sz="1400" b="1">
                <a:solidFill>
                  <a:srgbClr val="0545E8"/>
                </a:solidFill>
              </a:rPr>
              <a:t>- ONNX 通道未运行时的兜底口径是否可接受（见报告 ONNX 段）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工程化项目/m32_yolo/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src/yolo_detect/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M3-2 YOLO实时缺陷检测（零依赖检测器）·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输入: 64×64 产线图 · 真值框(x,y,w,h) = (30, 40, 8, 8)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检测结果: 框=(32, 40, 8, 8)  缺陷分=0.658  IoU=0.60（目标≥0.5）  FPS≈5300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滑窗尺寸 × 性能取舍表（YOLO调参的本质：感受野 vs 速度 vs 定位精度）: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win   IoU     FPS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 4   0.25    1295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16   0.00   16855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实测最优窗口 win=8（IoU=0.60）—— 窗口过小则单窗信噪比低易误检，过大则定位粗化，存在最优值；FPS 随窗口增大…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真机路径: ultralytics YOLOv8n 离线权重（data/weights/yolov8n.onnx）→ 同口径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默认参数推理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跑测试集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基线mAP有数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双维扫描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阈值3档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尺寸2档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表化mAP和FPS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mAP≥0.60表完整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权衡报告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业务代价假设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选工作点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节拍适配建议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给出推荐点及理由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速度冲优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ONNX量化半精度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对比加速比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精度损失可控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mAP≥0.75或加速≥50%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FPS波动大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首帧含warmup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先跑3帧预热再计时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框全叠一起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未做NMS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按类做非极大值抑制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mAP对不上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测试集口径不同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统一测试集与IoU0.5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D·学徒（≥60）：默认参数推理——跟做保底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C·操作员（≥70）：双维扫描——基础完成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B·组长（≥80）：权衡报告——标准达成+帮带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A·师傅（≥90）：速度冲优——进阶拓展+费曼讲解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学生代码框架/w8_xxx_starter.py——TODO注释即步骤提示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YOLO实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时缺陷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 · 置信度阈值：低阈值召回高但误检多，业务定夺——应用：见工单starter与教师参考实现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 · 能调阈值与尺寸并记录mAP和FPS——应用：见工单starter与教师参考实现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FPS波动大 · 框全叠一起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知识：检测=分类+定位：YOLO一次前向出全部；置信度阈值：低阈值召回高但误检多，业务定；输入尺寸：640到320，速度翻倍精度让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技能：能部署CPU预训练YOLO推理——应用：见工单starter与教师参考实现；能调阈值与尺寸并记录mAP和FPS——应用：见工单starter与教师参考实现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交付：工单M3-2《YOLO实时缺陷检测（上）：基础实现》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67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能调用本地LLM服务完成诊断问答——应用：见工单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W16课前测①：本课工单M3-2的及格线是什么？（答：mAP≥0.60+FPS表完整）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m32_yolo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 AP@0.5 0.8272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扫描表 3 行/30 格（应 30 格）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推荐点实测 AP 0.8272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win16 实测加速 +33.5%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决策记录 1 条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基线 mAP 有数（实测 0.8272）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AP@0.5≥0.6 且表完整（实测 0.8272 / 3 行 30 格，应 30 格）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推荐点+理由挂在实测数字+决策记录≥1（实测推荐 AP 0.8272，理由含实测数字=True，决策记录 1 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AP@0.5≥0.75 或 加速≥50%（实测 0.8272 / +33.5%）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3 条（代码不代判，答辩现场确认）：推荐理由的口头陈述与答辩问答（工单：方案对比周必答）；企业元验收栏签认（功能可用/参数留痕/数据可信，值班师傅签字）；ONNX 通道未运行时的兜底口径是否可接受（见报告 ONNX 段）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m32_yolo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6" name="Picture 15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19" name="Picture 18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2" name="Picture 21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项目：05-AI应用基础48课时版/工程化项目/m32_yolo/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10:48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工具/ppt97/evidence/m32_yolo/（capture97.py 真跑捕获，未改写数字）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m32_yolo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annotated_scene1.png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output/annotated_scene1.png ｜ 114 KB ｜ run.py 本次落盘</a:t>
            </a:r>
          </a:p>
        </p:txBody>
      </p:sp>
      <p:pic>
        <p:nvPicPr>
          <p:cNvPr id="17" name="Picture 16" descr="annotated_scen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993392"/>
            <a:ext cx="4078224" cy="407822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327648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annotated_scene2.png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output/annotated_scene2.png ｜ 115 KB ｜ run.py 本次落盘</a:t>
            </a:r>
          </a:p>
        </p:txBody>
      </p:sp>
      <p:pic>
        <p:nvPicPr>
          <p:cNvPr id="21" name="Picture 20" descr="annotated_scen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1993392"/>
            <a:ext cx="4078224" cy="40782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W11-第15次课-YOLO实时缺陷检测（上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