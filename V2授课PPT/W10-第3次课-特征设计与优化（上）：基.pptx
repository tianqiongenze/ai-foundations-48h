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6" r:id="rId59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298" r:id="rId50"/>
    <p:sldId id="301" r:id="rId53"/>
    <p:sldId id="304" r:id="rId56"/>
    <p:sldId id="306" r:id="rId58"/>
    <p:sldId id="308" r:id="rId60"/>
    <p:sldId id="311" r:id="rId63"/>
    <p:sldId id="312" r:id="rId64"/>
    <p:sldId id="313" r:id="rId65"/>
    <p:sldId id="314" r:id="rId66"/>
    <p:sldId id="362" r:id="rId62"/>
    <p:sldId id="363" r:id="rId70"/>
    <p:sldId id="364" r:id="rId61"/>
    <p:sldId id="365" r:id="rId72"/>
    <p:sldId id="361" r:id="rId68"/>
    <p:sldId id="315" r:id="rId67"/>
    <p:sldId id="317" r:id="rId69"/>
    <p:sldId id="319" r:id="rId71"/>
    <p:sldId id="321" r:id="rId73"/>
    <p:sldId id="323" r:id="rId75"/>
    <p:sldId id="325" r:id="rId77"/>
    <p:sldId id="326" r:id="rId78"/>
    <p:sldId id="328" r:id="rId80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9" r:id="rId91"/>
    <p:sldId id="340" r:id="rId92"/>
    <p:sldId id="341" r:id="rId93"/>
    <p:sldId id="342" r:id="rId94"/>
    <p:sldId id="349" r:id="rId101"/>
    <p:sldId id="354" r:id="rId106"/>
    <p:sldId id="355" r:id="rId107"/>
    <p:sldId id="359" r:id="rId111"/>
    <p:sldId id="360" r:id="rId112"/>
    <p:sldId id="367" r:id="rId74"/>
    <p:sldId id="368" r:id="rId5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50" Type="http://schemas.openxmlformats.org/officeDocument/2006/relationships/slide" Target="slides/slide27.xml"/><Relationship Id="rId53" Type="http://schemas.openxmlformats.org/officeDocument/2006/relationships/slide" Target="slides/slide28.xml"/><Relationship Id="rId56" Type="http://schemas.openxmlformats.org/officeDocument/2006/relationships/slide" Target="slides/slide29.xml"/><Relationship Id="rId57" Type="http://schemas.openxmlformats.org/officeDocument/2006/relationships/slide" Target="slides/slide68.xml"/><Relationship Id="rId58" Type="http://schemas.openxmlformats.org/officeDocument/2006/relationships/slide" Target="slides/slide30.xml"/><Relationship Id="rId59" Type="http://schemas.openxmlformats.org/officeDocument/2006/relationships/slide" Target="slides/slide66.xml"/><Relationship Id="rId60" Type="http://schemas.openxmlformats.org/officeDocument/2006/relationships/slide" Target="slides/slide31.xml"/><Relationship Id="rId61" Type="http://schemas.openxmlformats.org/officeDocument/2006/relationships/slide" Target="slides/slide38.xml"/><Relationship Id="rId62" Type="http://schemas.openxmlformats.org/officeDocument/2006/relationships/slide" Target="slides/slide36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Relationship Id="rId67" Type="http://schemas.openxmlformats.org/officeDocument/2006/relationships/slide" Target="slides/slide41.xml"/><Relationship Id="rId68" Type="http://schemas.openxmlformats.org/officeDocument/2006/relationships/slide" Target="slides/slide40.xml"/><Relationship Id="rId69" Type="http://schemas.openxmlformats.org/officeDocument/2006/relationships/slide" Target="slides/slide42.xml"/><Relationship Id="rId70" Type="http://schemas.openxmlformats.org/officeDocument/2006/relationships/slide" Target="slides/slide37.xml"/><Relationship Id="rId71" Type="http://schemas.openxmlformats.org/officeDocument/2006/relationships/slide" Target="slides/slide43.xml"/><Relationship Id="rId72" Type="http://schemas.openxmlformats.org/officeDocument/2006/relationships/slide" Target="slides/slide39.xml"/><Relationship Id="rId73" Type="http://schemas.openxmlformats.org/officeDocument/2006/relationships/slide" Target="slides/slide44.xml"/><Relationship Id="rId74" Type="http://schemas.openxmlformats.org/officeDocument/2006/relationships/slide" Target="slides/slide67.xml"/><Relationship Id="rId75" Type="http://schemas.openxmlformats.org/officeDocument/2006/relationships/slide" Target="slides/slide45.xml"/><Relationship Id="rId77" Type="http://schemas.openxmlformats.org/officeDocument/2006/relationships/slide" Target="slides/slide46.xml"/><Relationship Id="rId78" Type="http://schemas.openxmlformats.org/officeDocument/2006/relationships/slide" Target="slides/slide47.xml"/><Relationship Id="rId80" Type="http://schemas.openxmlformats.org/officeDocument/2006/relationships/slide" Target="slides/slide48.xml"/><Relationship Id="rId82" Type="http://schemas.openxmlformats.org/officeDocument/2006/relationships/slide" Target="slides/slide49.xml"/><Relationship Id="rId83" Type="http://schemas.openxmlformats.org/officeDocument/2006/relationships/slide" Target="slides/slide50.xml"/><Relationship Id="rId84" Type="http://schemas.openxmlformats.org/officeDocument/2006/relationships/slide" Target="slides/slide51.xml"/><Relationship Id="rId85" Type="http://schemas.openxmlformats.org/officeDocument/2006/relationships/slide" Target="slides/slide52.xml"/><Relationship Id="rId86" Type="http://schemas.openxmlformats.org/officeDocument/2006/relationships/slide" Target="slides/slide53.xml"/><Relationship Id="rId87" Type="http://schemas.openxmlformats.org/officeDocument/2006/relationships/slide" Target="slides/slide54.xml"/><Relationship Id="rId88" Type="http://schemas.openxmlformats.org/officeDocument/2006/relationships/slide" Target="slides/slide55.xml"/><Relationship Id="rId89" Type="http://schemas.openxmlformats.org/officeDocument/2006/relationships/slide" Target="slides/slide56.xml"/><Relationship Id="rId91" Type="http://schemas.openxmlformats.org/officeDocument/2006/relationships/slide" Target="slides/slide57.xml"/><Relationship Id="rId92" Type="http://schemas.openxmlformats.org/officeDocument/2006/relationships/slide" Target="slides/slide58.xml"/><Relationship Id="rId93" Type="http://schemas.openxmlformats.org/officeDocument/2006/relationships/slide" Target="slides/slide59.xml"/><Relationship Id="rId94" Type="http://schemas.openxmlformats.org/officeDocument/2006/relationships/slide" Target="slides/slide60.xml"/><Relationship Id="rId101" Type="http://schemas.openxmlformats.org/officeDocument/2006/relationships/slide" Target="slides/slide61.xml"/><Relationship Id="rId106" Type="http://schemas.openxmlformats.org/officeDocument/2006/relationships/slide" Target="slides/slide62.xml"/><Relationship Id="rId107" Type="http://schemas.openxmlformats.org/officeDocument/2006/relationships/slide" Target="slides/slide63.xml"/><Relationship Id="rId111" Type="http://schemas.openxmlformats.org/officeDocument/2006/relationships/slide" Target="slides/slide64.xml"/><Relationship Id="rId112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开场30秒：《特征设计与优化（上）：基础实现》，80分钟=2课时×40分钟。课前已发工单+微课知识卡。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情境说书30秒：数据洗净了，林工却摇头：'同样的模型，好特征胜过换模型。'他递来一张特征字典模板：'从振动里造出10个特征，让我看见你的…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详解B1·特征=体检指标：先读定义→场景为什么用它→看代码实例→扩展给A层。C/D层掌握前三格，A层加扩展格。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详解B2·特征字典：先读定义→场景为什么用它→看代码实例→扩展给A层。C/D层掌握前三格，A层加扩展格。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详解B3·相关性初筛：先读定义→场景为什么用它→看代码实例→扩展给A层。C/D层掌握前三格，A层加扩展格。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详解B4·特征重要性：先读定义→场景为什么用它→看代码实例→扩展给A层。C/D层掌握前三格，A层加扩展格。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详解B5·好特征胜过换模型：先读定义→场景为什么用它→看代码实例→扩展给A层。C/D层掌握前三格，A层加扩展格。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详解B6·特征泄漏预警：先读定义→场景为什么用它→看代码实例→扩展给A层。C/D层掌握前三格，A层加扩展格。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演示《时域特征》：跑通→逐行→改参数（演的核心素材）。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演示《重要性排序》：跑通→逐行→改参数（演的核心素材）。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工单发布：'设备智能运维中心工单M1-1b'——及格线特征≥10个且字典完整。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错误速查：现场制造「resample报错」带学生三步排查。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预习知识点：EDA探索；特征构造(差值/比值/统计量)；特征重要性 | 课中检查知识点：能造≥10个特征并用重要性证明价值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特征设计与优化（上）：基础实现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第10周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特征设计与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优化（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 · 特征字典：名称/公式/物理意义/取值范围四栏缺一不可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相关性初筛：|r|&gt;0.95的特征对留一个即可（冗余） · 特征重要性（树模型feature_importances_）：让数据投票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 · 能写规范特征字典——应用：见工单starter与教师参考实现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技能线：能从振动序列构造≥10个特征——应用：见工单starter与教师参考实现；能写规范特征字典——应用：见工单starter与教师参考实现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M1-1b《特征设计与优化（上）：基础实现》——本课工单即考核单元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知识：特征=给模型的体检指标：时域（均值/峰值/RMS）与频域（主频/带宽）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能力：能从振动序列构造≥10个特征——应用：见工单starter与教师参考实现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课前测①：本课工单M1-1b的及格线是什么？（答：特征≥10个且字典完整）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课前测②：'时域/频域特征'用一句话说说你的理解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项目3 机器学习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EDA探索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特征构造(差值/比值/统计量)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特征重要性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能输出结构化质量报告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能说出IQR比3σ稳健的原因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题目：课前测①：本课工单M1-1b的及格线是什么？（答：特征≥10个且字典完整）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目标：特征=给模型的体检指标：时域（均值/峰值/RMS）与频域（主频/带宽）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目标：能从振动序列构造≥10个特征——应用：见工单starter与教师参考实现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数据洗净了，林工却摇头：'同样的模型，好特征胜过换模型。'他递来一张特征字典模板：'从振动里造出10个特征，让我看见你的巧思。'工单M1-1b：EDA+特征工程，用特征重要性证明你的设计值钱。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任务背景：数据洗净了，林工却摇头：'同样的模型，好特征胜过换模型。'他递来一张特征字典模板：'从振动里造出10个特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知识详解：特征=体检指标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特征=体检指标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从原始波形提炼有意义的量——模型只吃指标不吃波形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振动均值/RMS/主频——时域与频域两族特征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feats = {'rms': np.sqrt((x**2).mean())}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误区：特征越多越好——冗余特征拖慢还扰模型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知识详解：特征字典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特征字典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名称/公式/物理意义/取值范围四栏成文——特征户口本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特征交接给下一人——不看代码也懂每个特征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docs/features.md 每特征一行四栏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没字典的特征半年后自己都看不懂——文档即资产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知识详解：相关性初筛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相关性初筛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|r|&gt;0.95的特征对留一个——信息重复就该裁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温度与电阻强相关——留物理意义更清的那个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df.corr() 热力图一眼看穿冗余对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误区：阈值只设|r|&gt;0.99——0.95更实用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知识详解：特征重要性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特征重要性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树模型给特征打分——让数据投票谁重要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向车间解释模型看什么——可解释性入口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model.feature_importances_ 排序画条形图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重要性高≠因果——只是对预测贡献大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知识详解：好特征胜过换模型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好特征胜过换模型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同模型下特征增益常大于算法升级——先磨刀再换刀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准确率卡住时先问：特征榨干了吗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加'峰值因子'比换XGB更有效时先加特征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误区：急着上深度学习——先榨干特征红利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知识详解：特征泄漏预警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特征泄漏预警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用了未来才知道的列——线下虚高线上翻车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把'故障后维修记录'当特征是典型事故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逐列自问：这一列在预测时刻拿得到吗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分数突然99%先查泄漏——线下第一杀手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能写规范特征字典——应用：见工单starter与教师参考实现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能用重要性排序精选子集——应用：见工单starter与教师参考实现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能做A/B对比证明特征价值——应用：见工单starter与教师参考实现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关键代码：时域特征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 = df.set_index("ts").resample("10min")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feat = g.agg(["mean", "max", "std"])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feat["rms"] = (df["vib"] ** 2).resample("10min").mean() ** .5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关键代码：重要性排序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sklearn.ensemble import RandomForestClassifier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rf = RandomForestClassifier(n_estimators=100).fit(X, y)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 = pd.Series(rf.feature_importances_, index=X.columns).sort_values()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特征设计与优化：备选方案决策矩阵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本课决策题：特征设计与优化：备选方案决策矩阵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实施任务：工单M1-1b《特征设计与优化（上）：基础实现》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特征≥10个且字典完整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特征-30%性能不降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400" b="1">
                <a:solidFill>
                  <a:srgbClr val="0545E8"/>
                </a:solidFill>
              </a:rPr>
              <a:t>实测达成档位: 优(A) ｜ 代码规范率 93.53%（工单把≥70%钉在 D 档）｜ 特征 18 个（最小集 acc 0.4778）｜ 消融砍 33.3% 后 acc -0.0028 ｜ Top3 内新特征 2 个</a:t>
            </a:r>
          </a:p>
          <a:p>
            <a:r>
              <a:rPr sz="1400" b="1">
                <a:solidFill>
                  <a:srgbClr val="0545E8"/>
                </a:solidFill>
              </a:rPr>
              <a:t>及格(D)    规范率门槛≥70% [达标] ｜ 功能OK ｜ 5 特征表能跑通；代码规范率≥70% ｜ 实测 最小集 5 特征跑通：4 折×3 种子 CV acc 0.4778；规范率 93.53%</a:t>
            </a:r>
          </a:p>
          <a:p>
            <a:r>
              <a:rPr sz="1400" b="1">
                <a:solidFill>
                  <a:srgbClr val="0545E8"/>
                </a:solidFill>
              </a:rPr>
              <a:t>良好(C)    规范率不另设线（工单仅 D 档设线，实测 93.53%） [达标] ｜ 功能OK ｜ ≥10 特征且字典完整（名称/公式/含义/单位/范围五栏成文） ｜ 实测 特征 18 个（线 10）；字典五栏成文 5/5，缺空 0 处</a:t>
            </a:r>
          </a:p>
          <a:p>
            <a:r>
              <a:rPr sz="1400" b="1">
                <a:solidFill>
                  <a:srgbClr val="0545E8"/>
                </a:solidFill>
              </a:rPr>
              <a:t>优秀(B)    规范率不另设线（工单仅 D 档设线，实测 93.53%） [达标] ｜ 功能OK ｜ 特征砍 30% 性能不降（消融验证）；决策记录完整 ｜ 实测 尾部砍 33.3%（6 个）后 acc -0.0028（红线 ±0.030）；决策记录 295 字</a:t>
            </a:r>
          </a:p>
          <a:p>
            <a:r>
              <a:rPr sz="1400" b="1">
                <a:solidFill>
                  <a:srgbClr val="0545E8"/>
                </a:solidFill>
              </a:rPr>
              <a:t>优(A)     规范率不另设线（工单仅 D 档设线，实测 93.53%） [达标] ｜ 功能OK ｜ 新特征进 Top3 且有物理解释 ｜ 实测 Top3 内 v1.1 新特征 2 个：f_ratio2x、f_hf_ratio；物理解释成文 46 字</a:t>
            </a:r>
          </a:p>
          <a:p>
            <a:r>
              <a:rPr sz="1400" b="1">
                <a:solidFill>
                  <a:srgbClr val="0545E8"/>
                </a:solidFill>
              </a:rPr>
              <a:t>人工答辩项（程序不判、不许自称达标）：口头答辩：为什么比值型特征对工况免疫（企业元师傅签认）；解释说服力：新特征物理解释是否讲得通（程序只判成文+字数达标）；工单末页学习反思单三问（计入过程分 10%）</a:t>
            </a:r>
          </a:p>
          <a:p>
            <a:r>
              <a:rPr sz="1400" b="1">
                <a:solidFill>
                  <a:srgbClr val="0545E8"/>
                </a:solidFill>
              </a:rPr>
              <a:t>D 层 [达成] 5 特征表能跑通（最小集出指标）+ 代码规范率≥70% ｜ 前 5 特征（t_mean/t_std/t_rms/t_ptp/t_max）4 折×3 种子 CV 跑通：acc 0.4778 / macro-F1 0.47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工程化项目/m11b_feature_design/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src/feature_design48/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m11b_feature_design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代码规范率 93.53%（工单把≥70%钉在 D 档）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特征 18 个（最小集 acc 0.4778）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消融砍 33.3% 后 acc -0.0028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Top3 内新特征 2 个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最小集 5 特征跑通：4 折×3 种子 CV acc 0.4778；规范率 93.53%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 ｜ 5 特征表能跑通；代码规范率≥70%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特征 18 个（线 10）；字典五栏成文 5/5，缺空 0 处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93.53%） [达标] ｜ 功能OK ｜ ≥10 特征且字典完整（名称/公式/含义/单位/范围五栏成文）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尾部砍 33.3%（6 个）后 acc -0.0028（红线 ±0.030）；决策记录 295 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93.53%） [达标] ｜ 功能OK ｜ 特征砍 30% 性能不降（消融验证）；决策记录完整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Top3 内 v1.1 新特征 2 个：f_ratio2x、f_hf_ratio；物理解释成文 46 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93.53%） [达标] ｜ 功能OK ｜ 新特征进 Top3 且有物理解释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m11b_feature_design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项目：05-AI应用基础48课时版/工程化项目/m11b_feature_design/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10:50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工具/ppt97/evidence/m11b_feature_design/（capture97.py 真跑捕获，未改写数字）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M1-1b 特征设计与优化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特征矩阵: 80 样本 × 5 特征  训练准确率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特征重要性排序: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1. a16   0.580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2. rms   0.258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3. ptp   0.111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4. kurt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5. a8  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频域 16Hz 幅值（磨损的二倍频指纹）判别力最强 → 特征设计直接决定模型上限。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跟做5个时域特征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groupby窗口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算mean/max/std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拼成特征表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5特征表能跑通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 ｜ 5 特征表能跑通；代码规范率≥70%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10特征加字典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补RMS峰峰值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加频域主频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字典四栏填全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≥10特征且字典完整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规范率不另设线（工单仅 D 档设线，实测 93.53%） [达标] ｜ 功能OK ｜ ≥10 特征且字典完整（名称/公式/含义/单位/范围五栏成文）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精选子集A/B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重要性排序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取Top-k做A/B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记录性能数量曲线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特征-30%性能不降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规范率不另设线（工单仅 D 档设线，实测 93.53%） [达标] ｜ 功能OK ｜ 特征砍 30% 性能不降（消融验证）；决策记录完整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业务洞察特征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结合泵机理造新特征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如温升速率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验证增益并写洞察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新特征进Top3且有物理解释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规范率不另设线（工单仅 D 档设线，实测 93.53%） [达标] ｜ 功能OK ｜ 新特征进 Top3 且有物理解释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resample报错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ts不是DatetimeIndex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set_index后或parse_dates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特征全0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窗口内数据缺失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先做W1清洗再回填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重要性集中1个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存在泄漏列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检查是否用了标签衍生信息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D·学徒（≥60）：跟做5个时域特征——跟做保底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C·操作员（≥70）：10特征加字典——基础完成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B·组长（≥80）：精选子集A/B——标准达成+帮带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A·师傅（≥90）：业务洞察特征——进阶拓展+费曼讲解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提交物与评分（工单M1-1b）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学号_姓名_M1-1b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M1-1b任务书——步骤/及格线/评分细则都在里面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学生代码框架/w2_xxx_starter.py——TODO注释即步骤提示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M1-1b的技能点即其最小实现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特征设计与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优化（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 · 特征字典：名称/公式/物理意义/取值范围四栏缺一不可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 · 能写规范特征字典——应用：见工单starter与教师参考实现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resample报错 · 特征全0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工单M1-1b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知识：特征=给模型的体检指标：时域（均值/峰值；特征字典：名称/公式/物理意义/取值范围；相关性初筛：|r|&gt;0.95的特征对留一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技能：能从振动序列构造≥10个特征——应用：见工单starter与教师参考实现；能写规范特征字典——应用：见工单starter与教师参考实现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交付：工单M1-1b《特征设计与优化（上）：基础实现》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能跑通LR与决策树双模型——应用：见工单star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课前测①：本课工单M1-1b的及格线是什么？（答：特征≥10个且字典完整）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W05-第3次课-特征设计与优化（上）：基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