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59"/>
    <p:sldId id="257" r:id="rId9"/>
    <p:sldId id="259" r:id="rId11"/>
    <p:sldId id="260" r:id="rId12"/>
    <p:sldId id="261" r:id="rId13"/>
    <p:sldId id="262" r:id="rId14"/>
    <p:sldId id="264" r:id="rId16"/>
    <p:sldId id="265" r:id="rId17"/>
    <p:sldId id="267" r:id="rId19"/>
    <p:sldId id="268" r:id="rId20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6" r:id="rId38"/>
    <p:sldId id="288" r:id="rId40"/>
    <p:sldId id="290" r:id="rId42"/>
    <p:sldId id="292" r:id="rId44"/>
    <p:sldId id="294" r:id="rId46"/>
    <p:sldId id="296" r:id="rId48"/>
    <p:sldId id="298" r:id="rId50"/>
    <p:sldId id="301" r:id="rId53"/>
    <p:sldId id="304" r:id="rId56"/>
    <p:sldId id="306" r:id="rId58"/>
    <p:sldId id="308" r:id="rId60"/>
    <p:sldId id="311" r:id="rId63"/>
    <p:sldId id="312" r:id="rId64"/>
    <p:sldId id="313" r:id="rId65"/>
    <p:sldId id="369" r:id="rId76"/>
    <p:sldId id="370" r:id="rId55"/>
    <p:sldId id="314" r:id="rId66"/>
    <p:sldId id="362" r:id="rId62"/>
    <p:sldId id="363" r:id="rId70"/>
    <p:sldId id="364" r:id="rId61"/>
    <p:sldId id="365" r:id="rId72"/>
    <p:sldId id="361" r:id="rId68"/>
    <p:sldId id="315" r:id="rId67"/>
    <p:sldId id="317" r:id="rId69"/>
    <p:sldId id="319" r:id="rId71"/>
    <p:sldId id="321" r:id="rId73"/>
    <p:sldId id="323" r:id="rId75"/>
    <p:sldId id="325" r:id="rId77"/>
    <p:sldId id="326" r:id="rId78"/>
    <p:sldId id="328" r:id="rId80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9" r:id="rId91"/>
    <p:sldId id="340" r:id="rId92"/>
    <p:sldId id="341" r:id="rId93"/>
    <p:sldId id="342" r:id="rId94"/>
    <p:sldId id="349" r:id="rId101"/>
    <p:sldId id="354" r:id="rId106"/>
    <p:sldId id="355" r:id="rId107"/>
    <p:sldId id="359" r:id="rId111"/>
    <p:sldId id="360" r:id="rId112"/>
    <p:sldId id="367" r:id="rId74"/>
    <p:sldId id="368" r:id="rId5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8" Type="http://schemas.openxmlformats.org/officeDocument/2006/relationships/slide" Target="slides/slide22.xml"/><Relationship Id="rId40" Type="http://schemas.openxmlformats.org/officeDocument/2006/relationships/slide" Target="slides/slide23.xml"/><Relationship Id="rId42" Type="http://schemas.openxmlformats.org/officeDocument/2006/relationships/slide" Target="slides/slide24.xml"/><Relationship Id="rId44" Type="http://schemas.openxmlformats.org/officeDocument/2006/relationships/slide" Target="slides/slide25.xml"/><Relationship Id="rId46" Type="http://schemas.openxmlformats.org/officeDocument/2006/relationships/slide" Target="slides/slide26.xml"/><Relationship Id="rId48" Type="http://schemas.openxmlformats.org/officeDocument/2006/relationships/slide" Target="slides/slide27.xml"/><Relationship Id="rId50" Type="http://schemas.openxmlformats.org/officeDocument/2006/relationships/slide" Target="slides/slide28.xml"/><Relationship Id="rId53" Type="http://schemas.openxmlformats.org/officeDocument/2006/relationships/slide" Target="slides/slide29.xml"/><Relationship Id="rId55" Type="http://schemas.openxmlformats.org/officeDocument/2006/relationships/slide" Target="slides/slide37.xml"/><Relationship Id="rId56" Type="http://schemas.openxmlformats.org/officeDocument/2006/relationships/slide" Target="slides/slide30.xml"/><Relationship Id="rId57" Type="http://schemas.openxmlformats.org/officeDocument/2006/relationships/slide" Target="slides/slide70.xml"/><Relationship Id="rId58" Type="http://schemas.openxmlformats.org/officeDocument/2006/relationships/slide" Target="slides/slide31.xml"/><Relationship Id="rId59" Type="http://schemas.openxmlformats.org/officeDocument/2006/relationships/slide" Target="slides/slide2.xml"/><Relationship Id="rId60" Type="http://schemas.openxmlformats.org/officeDocument/2006/relationships/slide" Target="slides/slide32.xml"/><Relationship Id="rId61" Type="http://schemas.openxmlformats.org/officeDocument/2006/relationships/slide" Target="slides/slide41.xml"/><Relationship Id="rId62" Type="http://schemas.openxmlformats.org/officeDocument/2006/relationships/slide" Target="slides/slide39.xml"/><Relationship Id="rId63" Type="http://schemas.openxmlformats.org/officeDocument/2006/relationships/slide" Target="slides/slide33.xml"/><Relationship Id="rId64" Type="http://schemas.openxmlformats.org/officeDocument/2006/relationships/slide" Target="slides/slide34.xml"/><Relationship Id="rId65" Type="http://schemas.openxmlformats.org/officeDocument/2006/relationships/slide" Target="slides/slide35.xml"/><Relationship Id="rId66" Type="http://schemas.openxmlformats.org/officeDocument/2006/relationships/slide" Target="slides/slide38.xml"/><Relationship Id="rId67" Type="http://schemas.openxmlformats.org/officeDocument/2006/relationships/slide" Target="slides/slide44.xml"/><Relationship Id="rId68" Type="http://schemas.openxmlformats.org/officeDocument/2006/relationships/slide" Target="slides/slide43.xml"/><Relationship Id="rId69" Type="http://schemas.openxmlformats.org/officeDocument/2006/relationships/slide" Target="slides/slide45.xml"/><Relationship Id="rId70" Type="http://schemas.openxmlformats.org/officeDocument/2006/relationships/slide" Target="slides/slide40.xml"/><Relationship Id="rId71" Type="http://schemas.openxmlformats.org/officeDocument/2006/relationships/slide" Target="slides/slide46.xml"/><Relationship Id="rId72" Type="http://schemas.openxmlformats.org/officeDocument/2006/relationships/slide" Target="slides/slide42.xml"/><Relationship Id="rId73" Type="http://schemas.openxmlformats.org/officeDocument/2006/relationships/slide" Target="slides/slide47.xml"/><Relationship Id="rId74" Type="http://schemas.openxmlformats.org/officeDocument/2006/relationships/slide" Target="slides/slide69.xml"/><Relationship Id="rId75" Type="http://schemas.openxmlformats.org/officeDocument/2006/relationships/slide" Target="slides/slide48.xml"/><Relationship Id="rId76" Type="http://schemas.openxmlformats.org/officeDocument/2006/relationships/slide" Target="slides/slide36.xml"/><Relationship Id="rId77" Type="http://schemas.openxmlformats.org/officeDocument/2006/relationships/slide" Target="slides/slide49.xml"/><Relationship Id="rId78" Type="http://schemas.openxmlformats.org/officeDocument/2006/relationships/slide" Target="slides/slide50.xml"/><Relationship Id="rId80" Type="http://schemas.openxmlformats.org/officeDocument/2006/relationships/slide" Target="slides/slide51.xml"/><Relationship Id="rId82" Type="http://schemas.openxmlformats.org/officeDocument/2006/relationships/slide" Target="slides/slide52.xml"/><Relationship Id="rId83" Type="http://schemas.openxmlformats.org/officeDocument/2006/relationships/slide" Target="slides/slide53.xml"/><Relationship Id="rId84" Type="http://schemas.openxmlformats.org/officeDocument/2006/relationships/slide" Target="slides/slide54.xml"/><Relationship Id="rId85" Type="http://schemas.openxmlformats.org/officeDocument/2006/relationships/slide" Target="slides/slide55.xml"/><Relationship Id="rId86" Type="http://schemas.openxmlformats.org/officeDocument/2006/relationships/slide" Target="slides/slide56.xml"/><Relationship Id="rId87" Type="http://schemas.openxmlformats.org/officeDocument/2006/relationships/slide" Target="slides/slide57.xml"/><Relationship Id="rId88" Type="http://schemas.openxmlformats.org/officeDocument/2006/relationships/slide" Target="slides/slide58.xml"/><Relationship Id="rId89" Type="http://schemas.openxmlformats.org/officeDocument/2006/relationships/slide" Target="slides/slide59.xml"/><Relationship Id="rId91" Type="http://schemas.openxmlformats.org/officeDocument/2006/relationships/slide" Target="slides/slide60.xml"/><Relationship Id="rId92" Type="http://schemas.openxmlformats.org/officeDocument/2006/relationships/slide" Target="slides/slide61.xml"/><Relationship Id="rId93" Type="http://schemas.openxmlformats.org/officeDocument/2006/relationships/slide" Target="slides/slide62.xml"/><Relationship Id="rId94" Type="http://schemas.openxmlformats.org/officeDocument/2006/relationships/slide" Target="slides/slide63.xml"/><Relationship Id="rId101" Type="http://schemas.openxmlformats.org/officeDocument/2006/relationships/slide" Target="slides/slide64.xml"/><Relationship Id="rId106" Type="http://schemas.openxmlformats.org/officeDocument/2006/relationships/slide" Target="slides/slide65.xml"/><Relationship Id="rId107" Type="http://schemas.openxmlformats.org/officeDocument/2006/relationships/slide" Target="slides/slide66.xml"/><Relationship Id="rId111" Type="http://schemas.openxmlformats.org/officeDocument/2006/relationships/slide" Target="slides/slide67.xml"/><Relationship Id="rId112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开场30秒：《特征设计与优化（上）：基础实现》，80分钟=2课时×40分钟。课前已发工单+微课知识卡。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议程页30秒：指读分钟归属，强调课前已完成资讯计划。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过渡页：一句话点明为什么学、学了去哪。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念课程性质一行，指读证书衔接（30秒）。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决策10→实施40→检查10→实施30→评价10口径（4课时周两次课分摊）。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PRIMM之Predict。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点读关键动词，对应工单验收口径。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情境说书30秒：数据洗净了，林工却摇头：'同样的模型，好特征胜过换模型。'他递来一张特征字典模板：'从振动里造出10个特征，让我看见你的…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先例后理。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详解B1·特征=体检指标：先读定义→场景为什么用它→看代码实例→扩展给A层。C/D层掌握前三格，A层加扩展格。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详解B2·特征字典：先读定义→场景为什么用它→看代码实例→扩展给A层。C/D层掌握前三格，A层加扩展格。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详解B3·相关性初筛：先读定义→场景为什么用它→看代码实例→扩展给A层。C/D层掌握前三格，A层加扩展格。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详解B4·特征重要性：先读定义→场景为什么用它→看代码实例→扩展给A层。C/D层掌握前三格，A层加扩展格。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详解B5·好特征胜过换模型：先读定义→场景为什么用它→看代码实例→扩展给A层。C/D层掌握前三格，A层加扩展格。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详解B6·特征泄漏预警：先读定义→场景为什么用它→看代码实例→扩展给A层。C/D层掌握前三格，A层加扩展格。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技能点=做完你应该会。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演示《时域特征》：跑通→逐行→改参数（演的核心素材）。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演示《重要性排序》：跑通→逐行→改参数（演的核心素材）。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先决策再领工单。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决策矩阵：组内3分钟打分，结论理由入工单。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工单发布：'设备智能运维中心工单M1-1b'——及格线特征≥10个且字典完整。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D层跟做保底，领做做完即达标。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B层全功能+规范，帮带D/C。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A层进阶拓展+2分钟展示（费曼带徒）。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错误速查：现场制造「resample报错」带学生三步排查。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避坑清单：每条问'为什么会踩'——把'注意'变成'知道为什么注意'。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收尾：检查+评价。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自检→互查签字→教师抽查。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命名'学号_姓名_工单号.zip'，24h反馈。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素养页：点1个真实案例（30秒）。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预习知识点：EDA探索；特征构造(差值/比值/统计量)；特征重要性 | 课中检查知识点：能造≥10个特征并用重要性证明价值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特征设计与优化（上）：基础实现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第10周 · 第3次课（2课时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工单·分层·避坑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资讯·计划已课前线上完成——课堂从决策直接开始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怎么用好这套PPT（使用说明）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课前：只看①②③——定位/流程/目标，带问题来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课中：跟着④⑤走——知识卡打地基，工单练技能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卡住：查⑤避坑+错误速查，再举手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课后：⑦拓展自测+预习清单——闭环从课后开始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这份PPT=教材+工单说明书+复习提纲三合一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课程定位：AI应用基础（48课时版）（课程标准摘录）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专业核心课扩展版：48课时全谱系（数据→ML→DL→视觉→大模型→智能体）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AI应用工程师、工业视觉开发、工业互联网数据分析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1+X AI应用实践（初级=M1-M3/中级=M4/高级=M5）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前：无Python先修（零基础·并行开设） → 本课(第7周起·跳过W08/W09·至第20周·12周×4课时) → 后：项目实战/毕设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特征设计与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优化（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 · 特征字典：名称/公式/物理意义/取值范围四栏缺一不可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相关性初筛：|r|&gt;0.95的特征对留一个即可（冗余） · 特征重要性（树模型feature_importances_）：让数据投票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 · 能写规范特征字典——应用：见工单starter与教师参考实现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技能线：能从振动序列构造≥10个特征——应用：见工单starter与教师参考实现；能写规范特征字典——应用：见工单starter与教师参考实现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设备智能运维中心：AI应用工程师、工业视觉开发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M1-1b《特征设计与优化（上）：基础实现》——本课工单即考核单元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1+X AI应用实践（初级=M1-M3/中级=M4）——本课工单即考点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世界职业院校技能大赛（人工智能赛道）——数据处理/模型赛项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知识：特征=给模型的体检指标：时域（均值/峰值/RMS）与频域（主频/带宽）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能力：能从振动序列构造≥10个特征——应用：见工单starter与教师参考实现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0000" y="2200000"/>
            <a:ext cx="3300000" cy="34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00000" y="2200000"/>
            <a:ext cx="33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00000" y="228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80000" y="3100000"/>
            <a:ext cx="2940000" cy="2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素质：数据诚信与工程纪律（课程思政）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课前测①：本课工单M1-1b的及格线是什么？（答：特征≥10个且字典完整）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课前测②：'时域/频域特征'用一句话说说你的理解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《人工智能应用基础项目式教程》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项目3 机器学习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EDA探索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特征构造(差值/比值/统计量)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特征重要性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课中检查｜上次课（W1）抽查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能输出结构化质量报告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58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0000" y="362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50000" y="354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能说出IQR比3σ稳健的原因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00000" y="438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题目：课前测①：本课工单M1-1b的及格线是什么？（答：特征≥10个且字典完整）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常见错误：背概念不看场景；模型题不看数据分布先猜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本课回收：考点会在知识卡与随堂自测中再次出现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目标：特征=给模型的体检指标：时域（均值/峰值/RMS）与频域（主频/带宽）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目标：能从振动序列构造≥10个特征——应用：见工单starter与教师参考实现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怎么证：工单'功能40%'全项+指标达标+运行截图贴过程记录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达标线：代码能跑+指标达工单线=过关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目标：数据诚信与工程纪律（课程思政融入）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怎么养：指标不造假/随机种子可复现/调参留痕——每个工单都在练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达标线：实验可复现+提交记录连续=过关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数据洗净了，林工却摇头：'同样的模型，好特征胜过换模型。'他递来一张特征字典模板：'从振动里造出10个特征，让我看见你的巧思。'工单M1-1b：EDA+特征工程，用特征重要性证明你的设计值钱。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任务背景：数据洗净了，林工却摇头：'同样的模型，好特征胜过换模型。'他递来一张特征字典模板：'从振动里造出10个特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冲突点：数据量/模型选型/算力时限——手工做不完，必须建模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决策点：用什么模型？怎么验证？指标线定多少？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知识详解：特征=体检指标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特征=体检指标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从原始波形提炼有意义的量——模型只吃指标不吃波形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振动均值/RMS/主频——时域与频域两族特征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feats = {'rms': np.sqrt((x**2).mean())}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误区：特征越多越好——冗余特征拖慢还扰模型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知识详解：特征字典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特征字典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名称/公式/物理意义/取值范围四栏成文——特征户口本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特征交接给下一人——不看代码也懂每个特征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docs/features.md 每特征一行四栏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没字典的特征半年后自己都看不懂——文档即资产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知识详解：相关性初筛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相关性初筛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|r|&gt;0.95的特征对留一个——信息重复就该裁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温度与电阻强相关——留物理意义更清的那个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df.corr() 热力图一眼看穿冗余对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误区：阈值只设|r|&gt;0.99——0.95更实用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知识详解：特征重要性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特征重要性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树模型给特征打分——让数据投票谁重要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向车间解释模型看什么——可解释性入口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model.feature_importances_ 排序画条形图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重要性高≠因果——只是对预测贡献大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知识详解：好特征胜过换模型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好特征胜过换模型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同模型下特征增益常大于算法升级——先磨刀再换刀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准确率卡住时先问：特征榨干了吗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加'峰值因子'比换XGB更有效时先加特征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误区：急着上深度学习——先榨干特征红利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知识详解：特征泄漏预警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特征泄漏预警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用了未来才知道的列——线下虚高线上翻车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把'故障后维修记录'当特征是典型事故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逐列自问：这一列在预测时刻拿得到吗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分数突然99%先查泄漏——线下第一杀手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能写规范特征字典——应用：见工单starter与教师参考实现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能用重要性排序精选子集——应用：见工单starter与教师参考实现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能做A/B对比证明特征价值——应用：见工单starter与教师参考实现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关键代码：时域特征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g = df.set_index("ts").resample("10min")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feat = g.agg(["mean", "max", "std"])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feat["rms"] = (df["vib"] ** 2).resample("10min").mean() ** .5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关键代码：重要性排序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sklearn.ensemble import RandomForestClassifier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rf = RandomForestClassifier(n_estimators=100).fit(X, 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imp = pd.Series(rf.feature_importances_, index=X.columns).sort_values()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本次课六步法流程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决策：定方案·选模型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5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实施一：数据+建模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96000" y="2600000"/>
            <a:ext cx="16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检查：自检互查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6000" y="2600000"/>
            <a:ext cx="16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实施二：调优+拓展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96000" y="2600000"/>
            <a:ext cx="16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评价：当堂评分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6000" y="2600000"/>
            <a:ext cx="16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56000" y="2720000"/>
            <a:ext cx="14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课后：微课预习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六步法课堂化——每次课都知道现在在哪一步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特征设计与优化：备选方案决策矩阵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795528" y="2000000"/>
            <a:ext cx="310896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2120000"/>
            <a:ext cx="310896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备选方案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952744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2744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可行性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1000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达标概率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工时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49256" y="2000000"/>
            <a:ext cx="201168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49256" y="2120000"/>
            <a:ext cx="201168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结论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70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8" y="280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方案A：按工单主线（starter起步）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52744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52744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适中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6" y="270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6" y="280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推荐主干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5528" y="3320000"/>
            <a:ext cx="310896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42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方案B：自选技术路线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52744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2744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1000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中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49256" y="3320000"/>
            <a:ext cx="201168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49256" y="342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A层可选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8" y="3940000"/>
            <a:ext cx="310896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" y="4040000"/>
            <a:ext cx="310896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方案C：直接改现成项目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52744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52744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低（无过程分）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低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少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049256" y="3940000"/>
            <a:ext cx="201168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49256" y="4040000"/>
            <a:ext cx="201168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不建议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组内打分3分钟，结论与理由写入工单决策记录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本课决策题：特征设计与优化：备选方案决策矩阵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问②值吗——精度/耗时/可复现性三角权衡（工程账）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特征=体检指标｜从原始波形提炼有意义的量——模型只吃指标不吃波形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特征字典｜名称/公式/物理意义/取值范围四栏成文——特征户口本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相关性初筛｜|r|&gt;0.95的特征对留一个——信息重复就该裁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特征重要性｜树模型给特征打分——让数据投票谁重要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好特征胜过换模型｜同模型下特征增益常大于算法升级——先磨刀再换刀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特征泄漏预警｜用了未来才知道的列——线下虚高线上翻车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误区：特征越多越好——冗余特征拖慢还扰模型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没字典的特征半年后自己都看不懂——文档即资产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误区：阈值只设|r|&gt;0.99——0.95更实用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resample报错 → set_index后或parse_dates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特征全0 → 先做W1清洗再回填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重要性集中1个 → 检查是否用了标签衍生信息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及格线我能过吗——特征≥10个且字典完整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优秀线我够吗——特征-30%性能不降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技能点我能独立做出来吗——能从振动序列构造≥10个特征；能写规范特征字典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特征=体检指标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误区：特征越多越好——冗余特征拖慢还扰模型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从原始波形提炼有意义的量——模型只吃指标不吃波形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振动均值/RMS/主频——时域与频域两族特征 feats = {'rms': np.sqrt((x**2).mean())}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特征字典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没字典的特征半年后自己都看不懂——文档即资产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名称/公式/物理意义/取值范围四栏成文——特征户口本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特征交接给下一人——不看代码也懂每个特征 docs/features.md 每特征一行四栏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相关性初筛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误区：阈值只设|r|&gt;0.99——0.95更实用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|r|&gt;0.95的特征对留一个——信息重复就该裁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温度与电阻强相关——留物理意义更清的那个 df.corr() 热力图一眼看穿冗余对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实施任务：工单M1-1b《特征设计与优化（上）：基础实现》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回顾预习卡与微课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知识精讲（先例后理）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演示代码骨架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基础实现（D/C层保底）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小结+布置第2次课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特征≥10个且字典完整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特征-30%性能不降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150" b="1">
                <a:solidFill>
                  <a:srgbClr val="0545E8"/>
                </a:solidFill>
              </a:rPr>
              <a:t>实测达成档位: 优(A) ｜ 代码规范率 93.53%（工单把≥70%钉在 D 档）｜ 特征 18 个（最小集 acc 0.4778）｜ 消融砍 33.3% 后 acc -0.0028 ｜ Top3 内新特征 2 个</a:t>
            </a:r>
          </a:p>
          <a:p>
            <a:r>
              <a:rPr sz="1150" b="1">
                <a:solidFill>
                  <a:srgbClr val="0545E8"/>
                </a:solidFill>
              </a:rPr>
              <a:t>及格(D)    规范率门槛≥70% [达标] ｜ 功能OK ｜ 5 特征表能跑通；代码规范率≥70% ｜ 实测 最小集 5 特征跑通：4 折×3 种子 CV acc 0.4778；规范率 93.53%</a:t>
            </a:r>
          </a:p>
          <a:p>
            <a:r>
              <a:rPr sz="1150" b="1">
                <a:solidFill>
                  <a:srgbClr val="0545E8"/>
                </a:solidFill>
              </a:rPr>
              <a:t>良好(C)    规范率不另设线（工单仅 D 档设线，实测 93.53%） [达标] ｜ 功能OK ｜ ≥10 特征且字典完整（名称/公式/含义/单位/范围五栏成文） ｜ 实测 特征 18 个（线 10）；字典五栏成文 5/5，缺空 0 处</a:t>
            </a:r>
          </a:p>
          <a:p>
            <a:r>
              <a:rPr sz="1150" b="1">
                <a:solidFill>
                  <a:srgbClr val="0545E8"/>
                </a:solidFill>
              </a:rPr>
              <a:t>优秀(B)    规范率不另设线（工单仅 D 档设线，实测 93.53%） [达标] ｜ 功能OK ｜ 特征砍 30% 性能不降（消融验证）；决策记录完整 ｜ 实测 尾部砍 33.3%（6 个）后 acc -0.0028（红线 ±0.030）；决策记录 295 字</a:t>
            </a:r>
          </a:p>
          <a:p>
            <a:r>
              <a:rPr sz="1150" b="1">
                <a:solidFill>
                  <a:srgbClr val="0545E8"/>
                </a:solidFill>
              </a:rPr>
              <a:t>……（后续 3 行全文逐字见 工程化项目/output/report.txt）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工程化项目/m11b_feature_design/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src/feature_design48/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代码规范率 93.53%（工单把≥70%钉在 D 档）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特征 18 个（最小集 acc 0.4778）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消融砍 33.3% 后 acc -0.0028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Top3 内新特征 2 个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最小集 5 特征跑通：4 折×3 种子 CV acc 0.4778；规范率 93.53%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 ｜ 5 特征表能跑通；代码规范率≥70%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特征 18 个（线 10）；字典五栏成文 5/5，缺空 0 处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≥10 特征且字典完整（名称/公式/含义/单位/范围五栏成文）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尾部砍 33.3%（6 个）后 acc -0.0028（红线 ±0.030）；决策记录 295 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特征砍 30% 性能不降（消融验证）；决策记录完整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实测 Top3 内 v1.1 新特征 2 个：f_ratio2x、f_hf_ratio；物理解释成文 46 字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规范率不另设线（工单仅 D 档设线，实测 93.53%） [达标] ｜ 功能OK ｜ 新特征进 Top3 且有物理解释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10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m11b_feature_design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项目：05-AI应用基础48课时版/工程化项目/m11b_feature_design/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10:50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工具/ppt97/evidence/m11b_feature_design/（capture97.py 真跑捕获，未改写数字）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M1-1b 特征设计与优化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特征矩阵: 80 样本 × 5 特征  训练准确率 1.000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特征重要性排序: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1. a16   0.580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2. rms   0.258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3. ptp   0.111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4. kurt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5. a8    0.025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频域 16Hz 幅值（磨损的二倍频指纹）判别力最强 → 特征设计直接决定模型上限。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跟做5个时域特征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groupby窗口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算mean/max/std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拼成特征表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5特征表能跑通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 ｜ 5 特征表能跑通；代码规范率≥70%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10特征加字典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补RMS峰峰值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加频域主频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字典四栏填全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≥10特征且字典完整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93.53%） [达标] ｜ 功能OK ｜ ≥10 特征且字典完整（名称/公式/含义/单位/范围五栏成文）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精选子集A/B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重要性排序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取Top-k做A/B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记录性能数量曲线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特征-30%性能不降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93.53%） [达标] ｜ 功能OK ｜ 特征砍 30% 性能不降（消融验证）；决策记录完整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业务洞察特征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结合泵机理造新特征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如温升速率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验证增益并写洞察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新特征进Top3且有物理解释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规范率不另设线（工单仅 D 档设线，实测 93.53%） [达标] ｜ 功能OK ｜ 新特征进 Top3 且有物理解释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resample报错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ts不是DatetimeIndex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set_index后或parse_dates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特征全0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窗口内数据缺失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先做W1清洗再回填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重要性集中1个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存在泄漏列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检查是否用了标签衍生信息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回顾预习卡与微课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知识精讲（先例后理）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演示代码骨架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0000" y="365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000" y="3670000"/>
            <a:ext cx="480000" cy="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0000" y="359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基础实现（D/C层保底）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000" y="398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000" y="400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0000" y="392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小结+布置第2次课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步骤1先看工单样例再动手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步骤2先看工单样例再动手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步骤3先看工单样例再动手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D·学徒（≥60）：跟做5个时域特征——跟做保底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C·操作员（≥70）：10特征加字典——基础完成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B·组长（≥80）：精选子集A/B——标准达成+帮带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A·师傅（≥90）：业务洞察特征——进阶拓展+费曼讲解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指标达标：准确率/F1/耗时对齐工单及格线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随机种子已固定（random_state=42）——结果可复现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文件命名：学号_姓名_工单号.py+模型文件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conda环境正确（提示符显示(ai48)）再运行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70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70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提交物与评分（工单M1-1b）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学号_姓名_M1-1b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A层加餐：原理深挖（选读）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为什么有效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特征=给模型的体检指标：时域（均值/峰值/RMS）与频域（主频/带宽）——背后是统计/优化原理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怎么验证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改一个参数跑对比实验——用数据说话，不凭感觉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边界在哪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什么场景会失效？——数据漂移/样本不平衡/泄漏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延伸阅读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微课深化版+多解法手册——A层自己挖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可信AI：模型要有据可查，指标不许造假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工程纪律：限时调参与过程留痕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团队与档案：竞标协作，档案袋沉淀三年资产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70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70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torch安装失败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用--index-url cpu官方源；确认在ai48环境里装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模型指标波动大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设random_state=42；数据先shuffle再划分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ONNX推理不一致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对齐预处理——同一scaler/归一化参数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70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学生代码框架/w2_xxx_starter.py——TODO注释即步骤提示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70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质检靠老师傅目检，漏检率高且疲劳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分类模型+阈值规则——先自动化易判样本，人只复核疑难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M1-1b的技能点即其最小实现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视觉检测（M3）/大模型辅助诊断（M4）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函数封装+管道化——可复用，B层路线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集成/调参/特征工程组合拳——冲指标，A层路线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先让它跑起来→再让它对→最后让它准（KISS原则）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可解释性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不迷信黑盒——每个预测能说出'为什么'才敢上线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算力节约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CPU优先调优——绿色计算从课堂开始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模型抄袭=岗位上的'无证驾驶'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70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特征设计与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优化（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特征=给模型的体检指标：时域（均值/峰值/RMS）与频域（主频/带宽） · 特征字典：名称/公式/物理意义/取值范围四栏缺一不可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能从振动序列构造≥10个特征——应用：见工单starter与教师参考实现 · 能写规范特征字典——应用：见工单starter与教师参考实现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resample报错 · 特征全0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工单M1-1b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知识：特征=给模型的体检指标：时域（均值/峰值；特征字典：名称/公式/物理意义/取值范围；相关性初筛：|r|&gt;0.95的特征对留一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技能：能从振动序列构造≥10个特征——应用：见工单starter与教师参考实现；能写规范特征字典——应用：见工单starter与教师参考实现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交付：工单M1-1b《特征设计与优化（上）：基础实现》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习惯：调参每进一步就commit——每周至少1次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睡前自查三问（30秒）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问①今天的核心概念能一句话说清吗？——说不清回看知识卡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问②工单步骤全部勾完了吗？——没勾的明早第一件事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问③Git推送今天做了吗？——每周至少1次，工程素养分依据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三问通过=今天闭环；明天从微课开始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70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70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下次课预告（第10周）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能跑通LR与决策树双模型——应用：见工单star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课前测①：本课工单M1-1b的及格线是什么？（答：特征≥10个且字典完整）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W05-第3次课-特征设计与优化（上）：基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