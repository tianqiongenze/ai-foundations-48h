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20"/>
    <p:sldId id="274" r:id="rId26"/>
    <p:sldId id="280" r:id="rId32"/>
    <p:sldId id="308" r:id="rId60"/>
    <p:sldId id="374" r:id="rId23"/>
    <p:sldId id="375" r:id="rId24"/>
    <p:sldId id="376" r:id="rId25"/>
    <p:sldId id="319" r:id="rId71"/>
    <p:sldId id="367" r:id="rId16"/>
    <p:sldId id="368" r:id="rId17"/>
    <p:sldId id="369" r:id="rId18"/>
    <p:sldId id="370" r:id="rId19"/>
    <p:sldId id="366" r:id="rId15"/>
    <p:sldId id="364" r:id="rId116"/>
    <p:sldId id="365" r:id="rId117"/>
    <p:sldId id="372" r:id="rId21"/>
    <p:sldId id="373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1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2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3.xml"/><Relationship Id="rId32" Type="http://schemas.openxmlformats.org/officeDocument/2006/relationships/slide" Target="slides/slide4.xml"/><Relationship Id="rId60" Type="http://schemas.openxmlformats.org/officeDocument/2006/relationships/slide" Target="slides/slide5.xml"/><Relationship Id="rId71" Type="http://schemas.openxmlformats.org/officeDocument/2006/relationships/slide" Target="slides/slide6.xml"/><Relationship Id="rId116" Type="http://schemas.openxmlformats.org/officeDocument/2006/relationships/slide" Target="slides/slide12.xml"/><Relationship Id="rId117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开场30秒：《RAG知识库问答（下）：优化与评价》，80分钟=2课时×40分钟。课前已发工单+微课知识卡。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情境说书30秒：值班助手1.0总爱'一本正经地胡说'。林工：'让它有据可查——RAG。'知识库、检索、引用标注三件套——工单M4-2：让…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工单发布：'设备智能运维中心工单M4-2'——及格线检索≥80%+引用完整。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项目6-7 大模型·语言应用 | 预习知识点：RAG(检索增强生成)；知识库切分/向量检索/引用标注 | 课中检查知识点：搭建最小RAG链路；回答带出处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RAG知识库问答（下）：优化与评价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第18周 · 第20次课（2课时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W18课中查①：'检索全不中'这个报错怎么排查？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W18课中查②：优秀线检索≥90%+生成质量优你打算怎么冲？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值班助手1.0总爱'一本正经地胡说'。林工：'让它有据可查——RAG。'知识库、检索、引用标注三件套——工单M4-2：让每条建议都挂着出处。</a:t>
            </a:r>
          </a:p>
        </p:txBody>
      </p:sp>
      <p:pic>
        <p:nvPicPr>
          <p:cNvPr id="9" name="Picture 8" descr="W1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RAG知识库问答（下）：优化与评价（实施要点）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实施任务：工单M4-2《RAG知识库问答（下）：优化与评价》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检索≥80%+引用完整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检索≥90%+生成质量优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幻觉案例实测 3 条 ｜ 检索命中率（RRF 融合通道 recall@3）100.0% ｜ 引用覆盖率 100% ｜ 可溯源比例 100% ｜ 融合说明 2 行 ｜ 决策记录完整=是 ｜ 代码规范率实测 95.8%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幻觉案例≥2条；代码规范率≥70%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功能OK ｜ 检索≥80%有引用</a:t>
            </a:r>
          </a:p>
          <a:p>
            <a:r>
              <a:rPr sz="1400" b="1">
                <a:solidFill>
                  <a:srgbClr val="0545E8"/>
                </a:solidFill>
              </a:rPr>
              <a:t>优秀(B)    功能OK ｜ 检索≥85%可溯源；决策记录完整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功能OK ｜ 检索≥90%加融合说明</a:t>
            </a:r>
          </a:p>
          <a:p>
            <a:r>
              <a:rPr sz="140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400" b="1">
                <a:solidFill>
                  <a:srgbClr val="0545E8"/>
                </a:solidFill>
              </a:rPr>
              <a:t>RAG 底线='有据可查+诚实拒答'；查无依据的查询用于发现知识库盲区</a:t>
            </a:r>
          </a:p>
          <a:p>
            <a:r>
              <a:rPr sz="1400" b="1">
                <a:solidFill>
                  <a:srgbClr val="0545E8"/>
                </a:solidFill>
              </a:rPr>
              <a:t>检索双解：关键词精确匹配型号/编码，jieba+TF-IDF 语义重合描述类查询，RRF 融合两路互补（工单B03）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工程化项目/m42_rag/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src/rag48/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m42_rag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幻觉案例实测 3 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检索命中率（RRF 融合通道 recall@3）100.0%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引用覆盖率 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可溯源比例 100%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融合说明 2 行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幻觉案例≥2条；代码规范率≥70%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检索≥80%有引用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检索≥85%可溯源；决策记录完整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检索≥90%加融合说明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m42_rag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项目：05-AI应用基础48课时版/工程化项目/m42_rag/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工具/ppt97/evidence/m42_rag/（capture97.py 真跑捕获，未改写数字）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M4-2 RAG 知识库问答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知识库: data/knowledge_base.json  共 20 条（设备运维规范×7/故障排查指南×7/工艺参数标准×…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Q: 泵振动超标要看哪个标准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A: 依据知识库: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- [设备运维规范] 泵类设备振动速度有效值超过4.5mm/s应列入重点关注，超过7.1mm/s必须停机检查。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- [设备运维规范] 风机轴承振动加速度包络值突增30%以上时，应安排停机检查滚道点蚀与保持架磨损。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→ 建议：按上述条款执行并回填工单。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Q: 电机电流高但转速正常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升级解: ChromaDB 向量检索（教师参考/rag_chroma_demo.py）——语义相近但字面不重合的查询也能命中。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能跑通仿真环境随机基线——应用：见工单start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W18课中查①：'检索全不中'这个报错怎么排查？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RAG三步｜知识切分→向量检索→引用生成——开卷考试三步抄法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切分粒度｜太碎丢上下文、太整检索糊——先按条目切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检索双解｜重合度打分直观→Chroma向量库工程实现——两解递进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引用标注｜每条建议挂条目ID——可点开溯源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幻觉治理｜检索为空时宁说'查无依据'不硬编——底线意识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评测分口径｜检索准确率与生成质量分开评——两头各管各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误区：全资料塞prompt——token贵且答非所问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粒度没有万能值——用检索准确率反推调整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误区：检索=模糊匹配——语义检索靠向量相似度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检索全不中 → 同义词扩展中文bigram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引用编号错乱 → 编号一次性生成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回答仍幻觉 → 空结果走查无依据分支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及格线我能过吗——检索≥80%+引用完整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优秀线我够吗——检索≥90%+生成质量优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技能点我能独立做出来吗——能搭建最小RAG问答链路；能调top-k与相关度阈值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素材来源：同周《第19次课-RAG知识库问答（上）：》知识卡与避坑清单（逐字摘录）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RAG三步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误区：全资料塞prompt——token贵且答非所问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知识切分→向量检索→引用生成——开卷考试三步抄法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让LLM答企业内部资料——不靠死记硬背 检索top3条目→拼进prompt→生成带引用答案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切分粒度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粒度没有万能值——用检索准确率反推调整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太碎丢上下文、太整检索糊——先按条目切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维修手册按故障条目切——每条自成一体 chunk_size=500, overlap=50 起步再调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检索双解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误区：检索=模糊匹配——语义检索靠向量相似度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重合度打分直观→Chroma向量库工程实现——两解递进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教学先用关键词打分理解检索原理 collection.query(embeddings, n_results=3)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检索全不中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原因：query与库用词不搭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解决：同义词扩展中文bigram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引用编号错乱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原因：拼接时重排了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解决：编号一次性生成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回答仍幻觉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原因：检索空还硬答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解决：空结果走查无依据分支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素材来源：同周《第19次课-RAG知识库问答（上）：》知识卡与避坑清单（逐字摘录）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W13-第20次课-RAG知识库问答（下）：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