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8" r:id="rId59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89" r:id="rId41"/>
    <p:sldId id="291" r:id="rId43"/>
    <p:sldId id="293" r:id="rId45"/>
    <p:sldId id="295" r:id="rId47"/>
    <p:sldId id="298" r:id="rId50"/>
    <p:sldId id="300" r:id="rId52"/>
    <p:sldId id="303" r:id="rId55"/>
    <p:sldId id="306" r:id="rId58"/>
    <p:sldId id="308" r:id="rId60"/>
    <p:sldId id="310" r:id="rId62"/>
    <p:sldId id="312" r:id="rId64"/>
    <p:sldId id="313" r:id="rId65"/>
    <p:sldId id="314" r:id="rId66"/>
    <p:sldId id="315" r:id="rId67"/>
    <p:sldId id="371" r:id="rId78"/>
    <p:sldId id="372" r:id="rId56"/>
    <p:sldId id="316" r:id="rId68"/>
    <p:sldId id="364" r:id="rId63"/>
    <p:sldId id="365" r:id="rId72"/>
    <p:sldId id="366" r:id="rId61"/>
    <p:sldId id="367" r:id="rId74"/>
    <p:sldId id="363" r:id="rId70"/>
    <p:sldId id="317" r:id="rId69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1" r:id="rId93"/>
    <p:sldId id="342" r:id="rId94"/>
    <p:sldId id="343" r:id="rId95"/>
    <p:sldId id="344" r:id="rId96"/>
    <p:sldId id="351" r:id="rId103"/>
    <p:sldId id="356" r:id="rId108"/>
    <p:sldId id="357" r:id="rId109"/>
    <p:sldId id="361" r:id="rId113"/>
    <p:sldId id="362" r:id="rId114"/>
    <p:sldId id="369" r:id="rId76"/>
    <p:sldId id="370" r:id="rId5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8" Type="http://schemas.openxmlformats.org/officeDocument/2006/relationships/slide" Target="slides/slide22.xml"/><Relationship Id="rId40" Type="http://schemas.openxmlformats.org/officeDocument/2006/relationships/slide" Target="slides/slide23.xml"/><Relationship Id="rId41" Type="http://schemas.openxmlformats.org/officeDocument/2006/relationships/slide" Target="slides/slide24.xml"/><Relationship Id="rId43" Type="http://schemas.openxmlformats.org/officeDocument/2006/relationships/slide" Target="slides/slide25.xml"/><Relationship Id="rId45" Type="http://schemas.openxmlformats.org/officeDocument/2006/relationships/slide" Target="slides/slide26.xml"/><Relationship Id="rId47" Type="http://schemas.openxmlformats.org/officeDocument/2006/relationships/slide" Target="slides/slide27.xml"/><Relationship Id="rId50" Type="http://schemas.openxmlformats.org/officeDocument/2006/relationships/slide" Target="slides/slide28.xml"/><Relationship Id="rId52" Type="http://schemas.openxmlformats.org/officeDocument/2006/relationships/slide" Target="slides/slide29.xml"/><Relationship Id="rId55" Type="http://schemas.openxmlformats.org/officeDocument/2006/relationships/slide" Target="slides/slide30.xml"/><Relationship Id="rId56" Type="http://schemas.openxmlformats.org/officeDocument/2006/relationships/slide" Target="slides/slide39.xml"/><Relationship Id="rId57" Type="http://schemas.openxmlformats.org/officeDocument/2006/relationships/slide" Target="slides/slide72.xml"/><Relationship Id="rId58" Type="http://schemas.openxmlformats.org/officeDocument/2006/relationships/slide" Target="slides/slide31.xml"/><Relationship Id="rId59" Type="http://schemas.openxmlformats.org/officeDocument/2006/relationships/slide" Target="slides/slide2.xml"/><Relationship Id="rId60" Type="http://schemas.openxmlformats.org/officeDocument/2006/relationships/slide" Target="slides/slide32.xml"/><Relationship Id="rId61" Type="http://schemas.openxmlformats.org/officeDocument/2006/relationships/slide" Target="slides/slide43.xml"/><Relationship Id="rId62" Type="http://schemas.openxmlformats.org/officeDocument/2006/relationships/slide" Target="slides/slide33.xml"/><Relationship Id="rId63" Type="http://schemas.openxmlformats.org/officeDocument/2006/relationships/slide" Target="slides/slide41.xml"/><Relationship Id="rId64" Type="http://schemas.openxmlformats.org/officeDocument/2006/relationships/slide" Target="slides/slide34.xml"/><Relationship Id="rId65" Type="http://schemas.openxmlformats.org/officeDocument/2006/relationships/slide" Target="slides/slide35.xml"/><Relationship Id="rId66" Type="http://schemas.openxmlformats.org/officeDocument/2006/relationships/slide" Target="slides/slide36.xml"/><Relationship Id="rId67" Type="http://schemas.openxmlformats.org/officeDocument/2006/relationships/slide" Target="slides/slide37.xml"/><Relationship Id="rId68" Type="http://schemas.openxmlformats.org/officeDocument/2006/relationships/slide" Target="slides/slide40.xml"/><Relationship Id="rId69" Type="http://schemas.openxmlformats.org/officeDocument/2006/relationships/slide" Target="slides/slide46.xml"/><Relationship Id="rId70" Type="http://schemas.openxmlformats.org/officeDocument/2006/relationships/slide" Target="slides/slide45.xml"/><Relationship Id="rId71" Type="http://schemas.openxmlformats.org/officeDocument/2006/relationships/slide" Target="slides/slide47.xml"/><Relationship Id="rId72" Type="http://schemas.openxmlformats.org/officeDocument/2006/relationships/slide" Target="slides/slide42.xml"/><Relationship Id="rId73" Type="http://schemas.openxmlformats.org/officeDocument/2006/relationships/slide" Target="slides/slide48.xml"/><Relationship Id="rId74" Type="http://schemas.openxmlformats.org/officeDocument/2006/relationships/slide" Target="slides/slide44.xml"/><Relationship Id="rId75" Type="http://schemas.openxmlformats.org/officeDocument/2006/relationships/slide" Target="slides/slide49.xml"/><Relationship Id="rId76" Type="http://schemas.openxmlformats.org/officeDocument/2006/relationships/slide" Target="slides/slide71.xml"/><Relationship Id="rId77" Type="http://schemas.openxmlformats.org/officeDocument/2006/relationships/slide" Target="slides/slide50.xml"/><Relationship Id="rId78" Type="http://schemas.openxmlformats.org/officeDocument/2006/relationships/slide" Target="slides/slide38.xml"/><Relationship Id="rId79" Type="http://schemas.openxmlformats.org/officeDocument/2006/relationships/slide" Target="slides/slide51.xml"/><Relationship Id="rId80" Type="http://schemas.openxmlformats.org/officeDocument/2006/relationships/slide" Target="slides/slide52.xml"/><Relationship Id="rId82" Type="http://schemas.openxmlformats.org/officeDocument/2006/relationships/slide" Target="slides/slide53.xml"/><Relationship Id="rId84" Type="http://schemas.openxmlformats.org/officeDocument/2006/relationships/slide" Target="slides/slide54.xml"/><Relationship Id="rId85" Type="http://schemas.openxmlformats.org/officeDocument/2006/relationships/slide" Target="slides/slide55.xml"/><Relationship Id="rId86" Type="http://schemas.openxmlformats.org/officeDocument/2006/relationships/slide" Target="slides/slide56.xml"/><Relationship Id="rId87" Type="http://schemas.openxmlformats.org/officeDocument/2006/relationships/slide" Target="slides/slide57.xml"/><Relationship Id="rId88" Type="http://schemas.openxmlformats.org/officeDocument/2006/relationships/slide" Target="slides/slide58.xml"/><Relationship Id="rId89" Type="http://schemas.openxmlformats.org/officeDocument/2006/relationships/slide" Target="slides/slide59.xml"/><Relationship Id="rId90" Type="http://schemas.openxmlformats.org/officeDocument/2006/relationships/slide" Target="slides/slide60.xml"/><Relationship Id="rId91" Type="http://schemas.openxmlformats.org/officeDocument/2006/relationships/slide" Target="slides/slide61.xml"/><Relationship Id="rId93" Type="http://schemas.openxmlformats.org/officeDocument/2006/relationships/slide" Target="slides/slide62.xml"/><Relationship Id="rId94" Type="http://schemas.openxmlformats.org/officeDocument/2006/relationships/slide" Target="slides/slide63.xml"/><Relationship Id="rId95" Type="http://schemas.openxmlformats.org/officeDocument/2006/relationships/slide" Target="slides/slide64.xml"/><Relationship Id="rId96" Type="http://schemas.openxmlformats.org/officeDocument/2006/relationships/slide" Target="slides/slide65.xml"/><Relationship Id="rId103" Type="http://schemas.openxmlformats.org/officeDocument/2006/relationships/slide" Target="slides/slide66.xml"/><Relationship Id="rId108" Type="http://schemas.openxmlformats.org/officeDocument/2006/relationships/slide" Target="slides/slide67.xml"/><Relationship Id="rId109" Type="http://schemas.openxmlformats.org/officeDocument/2006/relationships/slide" Target="slides/slide68.xml"/><Relationship Id="rId113" Type="http://schemas.openxmlformats.org/officeDocument/2006/relationships/slide" Target="slides/slide69.xml"/><Relationship Id="rId114" Type="http://schemas.openxmlformats.org/officeDocument/2006/relationships/slide" Target="slides/slide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开场30秒：《传统分类：逻辑回归+决策树（上）：基础实现》，80分钟=2课时×40分钟。课前已发工单+微课知识卡。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情境说书30秒：泵站分类模型1.0上线。老周盯着混淆矩阵问：'漏报一个轴承磨损，停线损失多少？误报一次，又要白跑几趟？'——工单M2-1…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详解B1·分类建模五步：先读定义→场景为什么用它→看代码实例→扩展给A层。C/D层掌握前三格，A层加扩展格。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详解B2·分层划分：先读定义→场景为什么用它→看代码实例→扩展给A层。C/D层掌握前三格，A层加扩展格。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详解B3·逻辑回归：先读定义→场景为什么用它→看代码实例→扩展给A层。C/D层掌握前三格，A层加扩展格。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详解B4·决策树：先读定义→场景为什么用它→看代码实例→扩展给A层。C/D层掌握前三格，A层加扩展格。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详解B5·混淆矩阵四格：先读定义→场景为什么用它→看代码实例→扩展给A层。C/D层掌握前三格，A层加扩展格。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详解B6·F1调和平均：先读定义→场景为什么用它→看代码实例→扩展给A层。C/D层掌握前三格，A层加扩展格。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演示《双模型对比》：跑通→逐行→改参数（演的核心素材）。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演示《混淆矩阵》：跑通→逐行→改参数（演的核心素材）。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工单发布：'设备智能运维中心工单M2-1a'——及格线F1≥0.70且口径正确。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错误速查：现场制造「F1为0且accuracy高」带学生三步排查。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预习知识点：train/test划分；逻辑回归与决策树；混淆矩阵与F1 | 课中检查知识点：能解读F1与业务代价(漏报/误报)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传统分类：逻辑回归+决策树（上）：基础实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第11周 · 第5次课（2课时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传统分类：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逻辑回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分类建模五步：划分-训练-预测-评估-选型记录——应用：见工单starter与教师参考实现 · train_test分层划分：类别比例保持一致（stratify=y）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逻辑回归：线性打分过sigmoid，输出可解释概率 · 决策树：一连串if-else，可视化即规则——应用：见工单starter与教师参考实现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能跑通LR与决策树双模型——应用：见工单starter与教师参考实现 · 能计算并解读混淆矩阵与F1——应用：见工单starter与教师参考实现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技能线：能跑通LR与决策树双模型——应用：见工单starter与教师参考实现；能计算并解读混淆矩阵与F1——应用：见工单starter与教师参考实现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M2-1a《传统分类：逻辑回归+决策树（上）：基础实现》——本课工单即考核单元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知识：分类建模五步：划分-训练-预测-评估-选型记录——应用：见工单starter与教师参考实现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能力：能跑通LR与决策树双模型——应用：见工单starter与教师参考实现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课前测①：本课工单M2-1a的及格线是什么？（答：F1≥0.70且口径正确）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课前测②：'分层train/test'用一句话说说你的理解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机器学习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train/test划分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逻辑回归与决策树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混淆矩阵与F1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课中检查｜上次课（W2）抽查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能造≥10个特征并用重要性证明价值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题目：课前测①：本课工单M2-1a的及格线是什么？（答：F1≥0.70且口径正确）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目标：分类建模五步：划分-训练-预测-评估-选型记录——应用：见工单starter与教师参考实现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目标：能跑通LR与决策树双模型——应用：见工单starter与教师参考实现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泵站分类模型1.0上线。老周盯着混淆矩阵问：'漏报一个轴承磨损，停线损失多少？误报一次，又要白跑几趟？'——工单M2-1a：逻辑回归与决策树同台，用F1和业务代价说话。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任务背景：泵站分类模型1.0上线。老周盯着混淆矩阵问：'漏报一个轴承磨损，停线损失多少？误报一次，又要白跑几趟？'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知识详解：分类建模五步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分类建模五步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划分-训练-预测-评估-选型记录——顺序即纪律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从原始数据到可交差模型的标准动作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X_train,X_test=train_test_split(X,y)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误区：跳过划分直接全量训练——评估自欺欺人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知识应用（1）：分类建模五步：划分-训练-预测-评估-选型记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分类建模五步：划分-训练-预测-评估-选型记录。在两江智造产线上的用法：见工单starter与教师参考实现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知识详解：分层划分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分层划分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stratify=y保持类别比例一致——故障样本少时保命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故障率5%的数据随机切可能切成0%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train_test_split(…, stratify=y, test_size=0.2)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样本几百以内必分层——否则测试集可能无故障样本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知识详解：逻辑回归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逻辑回归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线性打分过sigmoid出概率——透明可解释的基线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需要向质检解释'为什么判故障'的场景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model.predict_proba(X_test)[:,1] 出故障概率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概率≠结论——0.7的故障概率仍可能错，看阈值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知识详解：决策树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决策树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一连串if-else——画出来就是给车间的规则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要落地成巡检SOP的判定逻辑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plot_tree(model, feature_names=feats)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误区：树不剪枝——深度无限制必过拟合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知识详解：混淆矩阵四格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混淆矩阵四格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TP/FP/FN/TN——一切评估指标的原材料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漏报(FN)与误报(FP)代价不同的权衡起点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confusion_matrix(y_test, y_pred) 四格直读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FN=漏掉真故障最危险——工业场景先盯FN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知识详解：F1调和平均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F1调和平均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精确率与召回率的调和平均——两头都不能瘸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报警100条中几条真故障 vs 100台真故障抓到几台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f1_score(y_test, y_pred) 一个数说清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F1高不代表没漏——重大事故看召回单独报告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能跑通LR与决策树双模型——应用：见工单starter与教师参考实现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能计算并解读混淆矩阵与F1——应用：见工单starter与教师参考实现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能从业务代价角度选阈值——应用：见工单starter与教师参考实现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能写选型决策记录——应用：见工单starter与教师参考实现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关键代码：双模型对比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sklearn.linear_model import LogisticRegression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sklearn.tree import DecisionTreeClassifier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m in [LogisticRegression(max_iter=1000), DecisionTreeClassifier(max_depth=5)]: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m.fit(X_tr, y_tr); print(type(m).name, m.score(X_te, y_te))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关键代码：混淆矩阵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sklearn.metrics import confusion_matrix, f1_score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pred = m.predict(X_te)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print(confusion_matrix(y_te, pred), "F1=", f1_score(y_te, pred))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本课术语表（听不懂时查这里）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术语①：分类建模五步——划分-训练-预测-评估-选型记录——应用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术语②：train_test分层划分：类别比例保持一致（stratify=y）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术语③：能跑通LR与决策树双模型——应用：见工单starter与教师参考实现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用法：教师说术语→学生查表——第一周建立'术语-含义'反射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传统分类：逻辑回归+决策树：备选方案决策矩阵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本课决策题：传统分类：逻辑回归+决策树：备选方案决策矩阵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分类建模五步｜划分-训练-预测-评估-选型记录——顺序即纪律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分层划分｜stratify=y保持类别比例一致——故障样本少时保命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逻辑回归｜线性打分过sigmoid出概率——透明可解释的基线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决策树｜一连串if-else——画出来就是给车间的规则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混淆矩阵四格｜TP/FP/FN/TN——一切评估指标的原材料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F1调和平均｜精确率与召回率的调和平均——两头都不能瘸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误区：跳过划分直接全量训练——评估自欺欺人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样本几百以内必分层——否则测试集可能无故障样本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概率≠结论——0.7的故障概率仍可能错，看阈值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F1为0且accuracy高 → 分层划分加class_weight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max_iter警告 → 增大max_iter或标准化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树过深过拟合 → 限制max_depth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及格线我能过吗——F1≥0.70且口径正确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优秀线我够吗——F1≥0.85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技能点我能独立做出来吗——能跑通LR与决策树双模型；能计算并解读混淆矩阵与F1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分类建模五步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误区：跳过划分直接全量训练——评估自欺欺人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划分-训练-预测-评估-选型记录——顺序即纪律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从原始数据到可交差模型的标准动作 X_train,X_test=train_test_split(X,y)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分层划分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样本几百以内必分层——否则测试集可能无故障样本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stratify=y保持类别比例一致——故障样本少时保命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故障率5%的数据随机切可能切成0% train_test_split(…, stratify=y, test_size=0.2)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逻辑回归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概率≠结论——0.7的故障概率仍可能错，看阈值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线性打分过sigmoid出概率——透明可解释的基线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需要向质检解释'为什么判故障'的场景 model.predict_proba(X_test)[:,1] 出故障概率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实施任务：工单M2-1a《传统分类：逻辑回归+决策树（上）：基础实现》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F1≥0.70且口径正确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优秀(B) ｜ 基线acc LR 0.707/DT 0.707｜最优 DT macro F1 实测 0.706（口径 average=macro，OvR pos_label 逐类登记）｜阈值曲线每类最少19 点（共 57 点）｜决策记录完整（result.json 回读校验）｜实测规范率 96.22%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基线accuracy输出；代码规范率≥70%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规范率门槛≥70% [达标] ｜ 功能OK ｜ F1≥0.70口径正确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规范率门槛≥70% [达标] ｜ 功能OK ｜ 给出阈值方案与理由；决策记录完整</a:t>
            </a:r>
          </a:p>
          <a:p>
            <a:r>
              <a:rPr sz="1150" b="1">
                <a:solidFill>
                  <a:srgbClr val="0545E8"/>
                </a:solidFill>
              </a:rPr>
              <a:t>优(A)     规范率门槛≥70% [未达标] ｜ 功能缺 ｜ F1≥0.85或方案论证充分</a:t>
            </a:r>
          </a:p>
          <a:p>
            <a:r>
              <a:rPr sz="1150" b="1">
                <a:solidFill>
                  <a:srgbClr val="0545E8"/>
                </a:solidFill>
              </a:rPr>
              <a:t>优(A) 备选路「方案论证充分」：口头答辩 + 评审评委签认，代码不代判</a:t>
            </a:r>
          </a:p>
          <a:p>
            <a:r>
              <a:rPr sz="115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15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工程化项目/m21a_classic_clf/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src/classic_clf/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m21a_classic_clf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B5533A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B5533A"/>
                </a:solidFill>
                <a:latin typeface="微软雅黑"/>
              </a:rPr>
              <a:t>优秀(B)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基线acc LR 0.707/DT 0.707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最优 DT macro F1 实测 0.706（口径 average=macr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阈值曲线每类最少19 点（共 57 点）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决策记录完整（result.json 回读校验）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实测规范率 96.22%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基线accuracy输出；代码规范率≥70%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F1≥0.70口径正确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给出阈值方案与理由；决策记录完整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F1≥0.85或方案论证充分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[未达标] ｜ 功能缺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5533A"/>
                          </a:solidFill>
                          <a:latin typeface="微软雅黑"/>
                        </a:rPr>
                        <a:t>✗ 未达标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m21a_classic_clf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项目：05-AI应用基础48课时版/工程化项目/m21a_classic_clf/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工具/ppt97/evidence/m21a_classic_clf/（capture97.py 真跑捕获，未改写数字）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M2-1a 传统分类：逻辑回归 vs 决策树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数据: 300 条三态样本（正常/轴承磨损/叶轮堵塞）· 训练 225 / 测试 75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逻辑回归: acc=0.707  macro-F1=0.701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混淆矩阵（行=真实 / 列=预测）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                正常      轴承磨损      叶轮堵塞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正常                13         7         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轴承磨损               5        19         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叶轮堵塞               2         2        21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逻辑回归可解释强、决策树易读；漏报（把故障判为正常）是产线最贵的错误 → 决策矩阵权重给'召回率'。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跑通LR基线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train_test_split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fit+predict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打印accuracy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基线accuracy输出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双模型加F1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加决策树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混淆矩阵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算F1对比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F1≥0.70口径正确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代价敏感选型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误报漏报成本假设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调阈值比F1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选型记录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给出阈值方案与理由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类别不平衡攻防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class_weight均衡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对比采样法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报告权衡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F1≥0.85或方案论证充分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✗ 本次实测未达标 ｜ 规范率门槛≥70% [未达标] ｜ 功能缺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F1为0且accuracy高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类别不平衡加全预测多数类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分层划分加class_weight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max_iter警告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逻辑回归未收敛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增大max_iter或标准化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树过深过拟合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训练1.0测试0.6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限制max_depth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D·学徒（≥60）：跑通LR基线——跟做保底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C·操作员（≥70）：双模型加F1——基础完成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B·组长（≥80）：代价敏感选型——标准达成+帮带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A·师傅（≥90）：类别不平衡攻防——进阶拓展+费曼讲解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提交物与评分（工单M2-1a）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学号_姓名_M2-1a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分类建模五步：划分-训练-预测-评估-选型记录——应用：见工单starter与教——背后是统计/优化原理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M2-1a任务书——步骤/及格线/评分细则都在里面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学生代码框架/w3_xxx_starter.py——TODO注释即步骤提示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M2-1a的技能点即其最小实现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传统分类：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逻辑回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分类建模五步：划分-训练-预测-评估-选型记录——应用：见工单starter与教师参考实现 · train_test分层划分：类别比例保持一致（stratify=y）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能跑通LR与决策树双模型——应用：见工单starter与教师参考实现 · 能计算并解读混淆矩阵与F1——应用：见工单starter与教师参考实现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F1为0且accuracy高 · max_iter警告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工单M2-1a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知识：分类建模五步：划分-训练-预测-评估-选；train_test分层划分：类别比例保；逻辑回归：线性打分过sigmoid，输出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技能：能跑通LR与决策树双模型——应用：见工单starter与教师参考实现；能计算并解读混淆矩阵与F1——应用：见工单starter与教师参考实现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交付：工单M2-1a《传统分类：逻辑回归+决策树（上）：基础实现》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下次课预告（第11周）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能跑通XGBoost基线与网格搜索——应用：见工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课前测①：本课工单M2-1a的及格线是什么？（答：F1≥0.70且口径正确）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W06-第5次课-传统分类：逻辑回归+决策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