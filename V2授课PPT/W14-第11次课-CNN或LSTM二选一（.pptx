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59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4" r:id="rId46"/>
    <p:sldId id="296" r:id="rId48"/>
    <p:sldId id="299" r:id="rId51"/>
    <p:sldId id="302" r:id="rId54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73" r:id="rId76"/>
    <p:sldId id="374" r:id="rId56"/>
    <p:sldId id="318" r:id="rId70"/>
    <p:sldId id="366" r:id="rId65"/>
    <p:sldId id="367" r:id="rId63"/>
    <p:sldId id="368" r:id="rId61"/>
    <p:sldId id="369" r:id="rId72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  <p:sldId id="371" r:id="rId74"/>
    <p:sldId id="372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4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6" Type="http://schemas.openxmlformats.org/officeDocument/2006/relationships/slide" Target="slides/slide70.xml"/><Relationship Id="rId57" Type="http://schemas.openxmlformats.org/officeDocument/2006/relationships/slide" Target="slides/slide29.xml"/><Relationship Id="rId58" Type="http://schemas.openxmlformats.org/officeDocument/2006/relationships/slide" Target="slides/slide68.xml"/><Relationship Id="rId59" Type="http://schemas.openxmlformats.org/officeDocument/2006/relationships/slide" Target="slides/slide2.xml"/><Relationship Id="rId60" Type="http://schemas.openxmlformats.org/officeDocument/2006/relationships/slide" Target="slides/slide30.xml"/><Relationship Id="rId61" Type="http://schemas.openxmlformats.org/officeDocument/2006/relationships/slide" Target="slides/slide39.xml"/><Relationship Id="rId62" Type="http://schemas.openxmlformats.org/officeDocument/2006/relationships/slide" Target="slides/slide31.xml"/><Relationship Id="rId63" Type="http://schemas.openxmlformats.org/officeDocument/2006/relationships/slide" Target="slides/slide38.xml"/><Relationship Id="rId64" Type="http://schemas.openxmlformats.org/officeDocument/2006/relationships/slide" Target="slides/slide32.xml"/><Relationship Id="rId65" Type="http://schemas.openxmlformats.org/officeDocument/2006/relationships/slide" Target="slides/slide37.xml"/><Relationship Id="rId66" Type="http://schemas.openxmlformats.org/officeDocument/2006/relationships/slide" Target="slides/slide41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42.xml"/><Relationship Id="rId72" Type="http://schemas.openxmlformats.org/officeDocument/2006/relationships/slide" Target="slides/slide40.xml"/><Relationship Id="rId73" Type="http://schemas.openxmlformats.org/officeDocument/2006/relationships/slide" Target="slides/slide43.xml"/><Relationship Id="rId74" Type="http://schemas.openxmlformats.org/officeDocument/2006/relationships/slide" Target="slides/slide67.xml"/><Relationship Id="rId75" Type="http://schemas.openxmlformats.org/officeDocument/2006/relationships/slide" Target="slides/slide44.xml"/><Relationship Id="rId76" Type="http://schemas.openxmlformats.org/officeDocument/2006/relationships/slide" Target="slides/slide69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1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105" Type="http://schemas.openxmlformats.org/officeDocument/2006/relationships/slide" Target="slides/slide62.xml"/><Relationship Id="rId110" Type="http://schemas.openxmlformats.org/officeDocument/2006/relationships/slide" Target="slides/slide63.xml"/><Relationship Id="rId111" Type="http://schemas.openxmlformats.org/officeDocument/2006/relationships/slide" Target="slides/slide64.xml"/><Relationship Id="rId115" Type="http://schemas.openxmlformats.org/officeDocument/2006/relationships/slide" Target="slides/slide65.xml"/><Relationship Id="rId116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详解B1·卷积：先读定义→场景为什么用它→看代码实例→扩展给A层。C/D层掌握前三格，A层加扩展格。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详解B2·池化：先读定义→场景为什么用它→看代码实例→扩展给A层。C/D层掌握前三格，A层加扩展格。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详解B3·滑动窗口造样本：先读定义→场景为什么用它→看代码实例→扩展给A层。C/D层掌握前三格，A层加扩展格。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详解B4·门控直觉：先读定义→场景为什么用它→看代码实例→扩展给A层。C/D层掌握前三格，A层加扩展格。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详解B5·竞标答辩结构：先读定义→场景为什么用它→看代码实例→扩展给A层。C/D层掌握前三格，A层加扩展格。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详解B6·选型依据：先读定义→场景为什么用它→看代码实例→扩展给A层。C/D层掌握前三格，A层加扩展格。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CNN或LSTM二选一（竞标）（上）：基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第14周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M2-3b《CNN或LSTM二选一（竞标）（上）：基础实现》——本课工单即考核单元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课前测②：'卷积滑动直觉'用一句话说说你的理解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CNN卷积/池化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LSTM时序依赖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分组竞标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能看懂学习曲线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会用early stopping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题目：课前测①：本课工单M2-3b的及格线是什么？（答：指标达标+竞标书完整）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任务背景：分组竞标周：老周把两份需求拍在桌上——焊缝缺陷CNN、风机寿命LSTM，'各组选一题，答辩定预算。'工单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知识详解：卷积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卷积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小核滑动扫全图——像拿放大镜逐格找特征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缺陷图/振动频谱等有局部结构的输入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Conv2D(32, (3,3), activation='relu')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参数共享让核很轻——全网找同一类特征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知识应用（1）：卷积=小核滑动扫全图，参数共享天然适合图像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卷积=小核滑动扫全图，参数共享天然适合图像。在两江智造产线上的用法：见工单starter与教师参考实现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知识详解：池化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池化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MaxPool取窗口最大值——只留最强信号缩计算量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卷积后逐层压图——网络越深图越小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MaxPooling2D((2,2)) 尺寸减半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误区：池化丢信息可惜——保留的是最强的证据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知识详解：滑动窗口造样本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滑动窗口造样本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一段长序列按窗切片出无数训练对——序列版裁剪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寿命预测数据少——一个窗口配一个标签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X.append(seq[i:i+win]); y.append(rul[i+win])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窗口与步长是超参——重叠窗口样本翻倍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知识详解：门控直觉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门控直觉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遗忘门决定忘什么、输入门决定记什么——记忆开关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时序依赖长（振动趋势/温度累积）时的选择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LSTM(64, return_sequences=True) 堆两层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误区：LSTM万能——短依赖GRU就够还更快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知识详解：竞标答辩结构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竞标答辩结构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问题-方案-指标-风险四段论——工程师讲方案的骨架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小组竞标现场——按此结构过评委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PPT四页各对应一段，每页一个核心主张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误区：技术细节开篇——评委先听你解决什么问题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知识详解：选型依据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选型依据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图像缺陷选CNN、时序寿命选LSTM——数据形状定路线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二选一作业的决策准则——不是抓阄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输入是图→CNN；输入是序列→LSTM 一句话定路线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数据形状写进选型表——答辩评委必问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本课决策题：CNN或LSTM二选一（竞标）：备选方案决策矩阵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代码规范率 95.11%（工单把≥70%钉在 D 档）｜ 复现比对 一致 ｜ CNN(torch) acc 1.0000 ｜ LSTM 误差 0.2593 ｜ 决策矩阵 6 行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指标可复现；代码规范率≥70% ｜ 实测 同种子两次 RF 拟合留出 acc 一致（0.8175 vs 0.8175）；规范率 95.11%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规范率不另设线（工单仅 D 档设线，实测 95.11%） [达标] ｜ 功能OK ｜ CNN≥75% 或 LSTM 误差≤25%（仅认真卷积/真 LSTM 臂的实测数字） ｜ 实测 CNN(torch) acc=1.0000（线≥0.75）｜LSTM(torch) 窗口错误率=0.2593（线≤0.25）——兜底臂数字不认（require_real_engine=True）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规范率不另设线（工单仅 D 档设线，实测 95.11%） [达标] ｜ 功能OK ｜ CNN vs LSTM 两轮实测对比齐备；决策记录完整（竞标胜负/评委加分另人工） ｜ 实测 两轮对比：两臂真引擎同口径实测（acc 差 +0.2593、秒差 -0.248s）；决策记录 445 字（线 120）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规范率不另设线（工单仅 D 档设线，实测 95.11%） [达标] ｜ 功能OK ｜ 选型决策矩阵：候选×权重×实测得分→结论 ｜ 实测 矩阵 6 行（线≥4）；权重 acc/speed/env=0.5/0.3/0.2 和=1.0；结论成文 136 字（线≥20）</a:t>
            </a:r>
          </a:p>
          <a:p>
            <a:r>
              <a:rPr sz="1400" b="1">
                <a:solidFill>
                  <a:srgbClr val="0545E8"/>
                </a:solidFill>
              </a:rPr>
              <a:t>人工答辩项（程序不判、不许自称达标）：赢得竞标或评委加分：现场评委裁决，程序无实测依据（工单 B 档人评半，证据包=选型决策矩阵+两轮对比+泄漏核查）；企业元验收栏师傅签认：功能可用/参数留痕/数据可信（学校元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工程化项目/m23b_bidding/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src/bidding_lines/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m23b_bidding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代码规范率 95.11%（工单把≥70%钉在 D 档）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复现比对 一致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CNN(torch) acc 1.0000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LSTM 误差 0.2593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决策矩阵 6 行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同种子两次 RF 拟合留出 acc 一致（0.8175 vs 0.8175）；规范率 95.11%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 ｜ 指标可复现；代码规范率≥70%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LSTM(torch) 窗口错误率=0.2593（线≤0.25）——兜底臂数字不认（require_real_engine=True）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95.11%） [达标] ｜ 功能OK ｜ CNN≥75% 或 LSTM 误差≤25%（仅认真卷积/真 LSTM 臂的实测数字） ｜ 实测 CN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两轮对比：两臂真引擎同口径实测（acc 差 +0.2593、秒差 -0.248s）；决策记录 445 字（线 120）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95.11%） [达标] ｜ 功能OK ｜ CNN vs LSTM 两轮实测对比齐备；决策记录完整（竞标胜负/评委加分另人工）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矩阵 6 行（线≥4）；权重 acc/speed/env=0.5/0.3/0.2 和=1.0；结论成文 136 字（线≥20）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95.11%） [达标] ｜ 功能OK ｜ 选型决策矩阵：候选×权重×实测得分→结论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m23b_bidding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项目：05-AI应用基础48课时版/工程化项目/m23b_bidding/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工具/ppt97/evidence/m23b_bidding/（capture97.py 真跑捕获，未改写数字）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M2-3b 竞标：CNN焊缝 vs LSTM风机（轻量基线）·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图像线（CNN焊缝·块统计特征3维）: 3折交叉验证 cv =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时序线（LSTM风机·RMS比值1维）  : 3折交叉验证 cv = 0.995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竞标建议: 轻量基线支持选「CNN焊缝」（差 0.005）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答辩要点: 基线≠上限——本表只证明'哪条路线更容易起步'；真模型预期增益需说明数据量、算力与标注成本三项证据。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 ｜ 指标可复现；代码规范率≥70%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95.11%） [达标] ｜ 功能OK ｜ CNN≥75% 或 LSTM 误差≤25%（仅认真卷积/真 LSTM 臂的实测数字） ｜ 实测 CNN(torch) acc=1.0000（线≥0.75）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95.11%） [达标] ｜ 功能OK ｜ CNN vs LSTM 两轮实测对比齐备；决策记录完整（竞标胜负/评委加分另人工）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规范率不另设线（工单仅 D 档设线，实测 95.11%） [达标] ｜ 功能OK ｜ 选型决策矩阵：候选×权重×实测得分→结论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D·学徒（≥60）：跑通给定starter——跟做保底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C·操作员（≥70）：达标加竞标书——基础完成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B·组长（≥80）：答辩制胜——标准达成+帮带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A·师傅（≥90）：双路线通吃——进阶拓展+费曼讲解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学生代码框架/w6_xxx_starter.py——TODO注释即步骤提示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Conv输入报维度 · 窗口错位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知识：卷积=小核滑动扫全图，参数共享天然适合图；池化降维：留最强信号，缩计算量；滑动窗口造样本：一段序列切出无数训练对（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技能：能按题完成CNN或LSTM建模——应用：见工单starter与教师参考实现；能组队产出竞标书——应用：见工单starter与教师参考实现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交付：工单M2-3b《CNN或LSTM二选一（竞标）（上）：基础实现》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卷积｜小核滑动扫全图——像拿放大镜逐格找特征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池化｜MaxPool取窗口最大值——只留最强信号缩计算量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滑动窗口造样本｜一段长序列按窗切片出无数训练对——序列版裁剪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门控直觉｜遗忘门决定忘什么、输入门决定记什么——记忆开关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竞标答辩结构｜问题-方案-指标-风险四段论——工程师讲方案的骨架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选型依据｜图像缺陷选CNN、时序寿命选LSTM——数据形状定路线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参数共享让核很轻——全网找同一类特征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误区：池化丢信息可惜——保留的是最强的证据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窗口与步长是超参——重叠窗口样本翻倍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Conv输入报维度 → reshape成N1HW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窗口错位 → 统一用[:-horizon]截断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答辩超时 → 四段论加计时排练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及格线我能过吗——指标达标+竞标书完整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优秀线我够吗——赢得竞标且指标优秀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技能点我能独立做出来吗——能按题完成CNN或LSTM建模；能组队产出竞标书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卷积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参数共享让核很轻——全网找同一类特征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小核滑动扫全图——像拿放大镜逐格找特征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缺陷图/振动频谱等有局部结构的输入 Conv2D(32, (3,3), activation='relu')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池化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误区：池化丢信息可惜——保留的是最强的证据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MaxPool取窗口最大值——只留最强信号缩计算量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卷积后逐层压图——网络越深图越小 MaxPooling2D((2,2)) 尺寸减半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滑动窗口造样本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窗口与步长是超参——重叠窗口样本翻倍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一段长序列按窗切片出无数训练对——序列版裁剪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寿命预测数据少——一个窗口配一个标签 X.append(seq[i:i+win]); y.append(rul[i+win])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W09-第11次课-CNN或LSTM二选一（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