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2" r:id="rId9"/>
    <p:sldId id="264" r:id="rId10"/>
    <p:sldId id="265" r:id="rId11"/>
    <p:sldId id="267" r:id="rId12"/>
    <p:sldId id="268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5" r:id="rId23"/>
    <p:sldId id="287" r:id="rId24"/>
    <p:sldId id="289" r:id="rId25"/>
    <p:sldId id="291" r:id="rId26"/>
    <p:sldId id="293" r:id="rId27"/>
    <p:sldId id="295" r:id="rId28"/>
    <p:sldId id="296" r:id="rId29"/>
    <p:sldId id="298" r:id="rId30"/>
    <p:sldId id="299" r:id="rId31"/>
    <p:sldId id="302" r:id="rId32"/>
    <p:sldId id="305" r:id="rId33"/>
    <p:sldId id="307" r:id="rId34"/>
    <p:sldId id="309" r:id="rId35"/>
    <p:sldId id="312" r:id="rId36"/>
    <p:sldId id="313" r:id="rId37"/>
    <p:sldId id="314" r:id="rId38"/>
    <p:sldId id="315" r:id="rId39"/>
    <p:sldId id="363" r:id="rId40"/>
    <p:sldId id="364" r:id="rId41"/>
    <p:sldId id="362" r:id="rId42"/>
    <p:sldId id="316" r:id="rId43"/>
    <p:sldId id="318" r:id="rId44"/>
    <p:sldId id="320" r:id="rId45"/>
    <p:sldId id="322" r:id="rId46"/>
    <p:sldId id="324" r:id="rId47"/>
    <p:sldId id="326" r:id="rId48"/>
    <p:sldId id="327" r:id="rId49"/>
    <p:sldId id="329" r:id="rId50"/>
    <p:sldId id="331" r:id="rId51"/>
    <p:sldId id="332" r:id="rId52"/>
    <p:sldId id="333" r:id="rId53"/>
    <p:sldId id="334" r:id="rId54"/>
    <p:sldId id="335" r:id="rId55"/>
    <p:sldId id="336" r:id="rId56"/>
    <p:sldId id="337" r:id="rId57"/>
    <p:sldId id="338" r:id="rId58"/>
    <p:sldId id="340" r:id="rId59"/>
    <p:sldId id="341" r:id="rId60"/>
    <p:sldId id="342" r:id="rId61"/>
    <p:sldId id="343" r:id="rId62"/>
    <p:sldId id="350" r:id="rId63"/>
    <p:sldId id="355" r:id="rId64"/>
    <p:sldId id="356" r:id="rId65"/>
    <p:sldId id="360" r:id="rId66"/>
    <p:sldId id="361" r:id="rId6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开场30秒：《数据清洗与质量评估（上）：基础实现》，80分钟=2课时×40分钟。课前已发工单+微课知识卡。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情境说书30秒：扩展班第一课，老周把三箱'历史遗留'数据砸在你工位：'三个月泵站日志，缺的缺、错的错，还有135℃的神仙记录。模型再好也…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详解B1·数据质量三清单：先读定义→场景为什么用它→看代码实例→扩展给A层。C/D层掌握前三格，A层加扩展格。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详解B2·缺失处理四策略：先读定义→场景为什么用它→看代码实例→扩展给A层。C/D层掌握前三格，A层加扩展格。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详解B3·异常识别两把尺：先读定义→场景为什么用它→看代码实例→扩展给A层。C/D层掌握前三格，A层加扩展格。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详解B4·Pandas链式操作：先读定义→场景为什么用它→看代码实例→扩展给A层。C/D层掌握前三格，A层加扩展格。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详解B5·质量评分口径：先读定义→场景为什么用它→看代码实例→扩展给A层。C/D层掌握前三格，A层加扩展格。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详解B6·清洗留痕：先读定义→场景为什么用它→看代码实例→扩展给A层。C/D层掌握前三格，A层加扩展格。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应用页6：知识点放回产线场景——先看输出再看定义。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演示《清洗骨架》：跑通→逐行→改参数（演的核心素材）。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演示《IQR异常识别》：跑通→逐行→改参数（演的核心素材）。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错误速查：现场制造「KeyError列名错」带学生三步排查。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项目2 人工智能编程语言Python | 预习知识点：Pandas读写与缺失值处理；3σ/IQR异常识别 | 课中检查知识点：能输出结构化质量报告；能说出IQR比3σ稳健的原因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</a:rPr>
              <a:t>AI应用基础（48课时版）</a:t>
            </a:r>
            <a:endParaRPr sz="2200" b="0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3020204020204" charset="-122"/>
              </a:rPr>
              <a:t>◆ 重庆两江智造集团 · 设备智能运维中心</a:t>
            </a:r>
            <a:endParaRPr sz="13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3020204020204" charset="-122"/>
              </a:rPr>
              <a:t>数据清洗与质量评估（上）：基础实现</a:t>
            </a:r>
            <a:endParaRPr sz="34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11823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3020204020204" charset="-122"/>
              </a:rPr>
              <a:t>第7周 · 第1次课（2课时 · 80分钟）</a:t>
            </a:r>
            <a:endParaRPr sz="1800" b="0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双创中心302实训室 · 理实一体 · 配套：分层工单+starter · 本课主用：Jupyter（全程实训）+ PyCharm CE（starter编码）+ Git/GitHub（每周提交）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性质·岗位·证书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80分钟时间盒与ABCD分层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目标+本课剧情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基础知识大卡+代码演示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工单·分层·避坑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三层质检·当堂评分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2360" y="14097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3020204020204" charset="-122"/>
              </a:rPr>
              <a:t>资讯·计划已课前线上完成——课堂从决策直接开始</a:t>
            </a:r>
            <a:endParaRPr sz="1200" b="0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怎么用好这套PPT（使用说明）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课前：只看①②③——定位/流程/目标，带问题来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课中：跟着④⑤走——知识卡打地基，工单练技能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卡住：查⑤避坑+错误速查，再举手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课后：⑦拓展自测+预习清单——闭环从课后开始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这份PPT=教材+工单说明书+复习提纲三合一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本课在课程体系中的位置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课程定位：AI应用基础（48课时版）（课程标准摘录）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专业核心课扩展版：48课时全谱系（数据→ML→DL→视觉→大模型→智能体）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AI应用工程师、工业视觉开发、工业互联网数据分析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1+X AI应用实践（初级=M1-M3/中级=M4/高级=M5）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233535" y="2540000"/>
            <a:ext cx="201168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前：无Python先修（零基础·并行开设） → 本课(第7周起·跳过W08/W09·至第20周·12周×4课时) → 后：项目实战/毕设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数据清洗与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质量评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 · 缺失处理四策略：删除/前向填充/均值/插值，选择要有业务理由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异常识别两把尺：3σ准则与IQR箱线图，各自适用场景 · Pandas链式操作：isna().sum()量化缺失，fillna/dropna落地策略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 · 能输出结构化质量报告（三清单+评分）——应用：见工单starter与教师参考实现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6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知识地图分支详解（二）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技能线：能用Pandas完成缺失/异常/重复三类处理——应用：见工单starter与教师参考实现；能输出结构化质量报告（三清单+评分）——应用：见工单starter与教师参考实现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分层任务线：D跟做→C独立→B帮带→A拓展（每4周动态升降）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课堂评价线：功能40%+技术25%+规范20%+素养15%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三条线闭环：技能靠任务练，任务按评价收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7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设备智能运维中心：AI应用工程师、工业视觉开发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M1-1a《数据清洗与质量评估（上）：基础实现》——本课工单即考核单元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1+X AI应用实践（初级=M1-M3/中级=M4）——本课工单即考点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世界职业院校技能大赛（人工智能赛道）——数据处理/模型赛项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8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80分钟时间盒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9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3020204020204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10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带着目标进课堂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11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学习目标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知识目标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知识：数据质量三清单：缺失、异常、重复——清洗前先量化再动手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能力目标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能力：能用Pandas完成缺失/异常/重复三类处理——应用：见工单starter与教师参考实现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素质目标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素质：数据诚信与工程纪律（课程思政）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12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3020204020204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3020204020204" charset="-122"/>
              </a:rPr>
              <a:t>课前测①：本课工单M1-1a的及格线是什么？（答：缺失处理率≥95%）</a:t>
            </a:r>
            <a:endParaRPr sz="16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课前测②：'Pandas缺失处理四策略'用一句话说说你的理解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13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题目：课前测①：本课工单M1-1a的及格线是什么？（答：缺失处理率≥95%）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常见错误：背概念不看场景；模型题不看数据分布先猜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本课回收：考点会在知识卡与随堂自测中再次出现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14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目标：数据质量三清单：缺失、异常、重复——清洗前先量化再动手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15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目标：能用Pandas完成缺失/异常/重复三类处理——应用：见工单starter与教师参考实现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怎么证：工单'功能40%'全项+指标达标+运行截图贴过程记录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达标线：代码能跑+指标达工单线=过关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16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目标：数据诚信与工程纪律（课程思政融入）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怎么养：指标不造假/随机种子可复现/调参留痕——每个工单都在练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达标线：实验可复现+提交记录连续=过关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17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◆ 重庆两江智造集团 · 设备智能运维中心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3020204020204" charset="-122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-1a：清洗出一份可信的数据质量报告。</a:t>
            </a:r>
            <a:endParaRPr sz="14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18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任务背景：扩展班第一课，老周把三箱'历史遗留'数据砸在你工位：'三个月泵站日志，缺的缺、错的错，还有135℃的神仙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冲突点：数据量/模型选型/算力时限——手工做不完，必须建模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决策点：用什么模型？怎么验证？指标线定多少？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带着这三个问题进知识精讲——每个知识点都是解药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19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基础知识 → 技能 → 代码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20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知识详解：数据质量三清单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B01 · 数据质量三清单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脏数据体检表：缺失/异常/重复三类逐项过一遍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传感器断线丢点、PLC毛刺、重复上报的排查入口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df.isna().sum() + df.duplicated().sum() 两行摸底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误区：只查缺失不查重复——重复样本让验证虚高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21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知识详解：缺失处理四策略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B02 · 缺失处理四策略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删行/前向填充/均值/插值——四种补洞手艺各有代价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温度断点用前向填充、孤立坏点才删行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df['temp'].interpolate() 时序插值最合理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误区：一律fillna(0)——零值混进均值把分布拉歪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22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知识详解：异常识别两把尺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B03 · 异常识别两把尺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3σ看正态尾巴、IQR箱线图对偏态稳健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振动尖峰、电流突变是否算异常的判据选择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IQR上界=Q3+1.5×IQR，逐列扫描标记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误区：两把尺混用不看分布——先画直方图再选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23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知识详解：Pandas链式操作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B04 · Pandas链式操作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方法连点成流水线：isna().sum()→fillna()→dropna()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清洗脚本主干——每一步都可读可复现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df.drop_duplicates().fillna(method='ffill')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链式太长难调试——中间结果落变量断点检查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24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知识详解：质量评分口径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B05 · 质量评分口径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完整率×准确率×一致率加权打分——质量数字化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向管理层汇报'这批数据能用吗'的量化尺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score=0.5*完整率+0.3*准确率+0.2*一致率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权重按业务定：缺陷检测场景准确率权重必须最高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25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知识应用（5）：质量评分口径：完整率×准确率×一致率的加权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质量评分口径：完整率×准确率×一致率的加权。在两江智造产线上的用法：score=0.3*完整率+0.5*准确率+0.2*一致率——权重按业务调，工单要求≥0.85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score=0.3*完整率+0.5*准确率+0.2*一致率——权重按业务调，工单要求≥0.85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26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知识详解：清洗留痕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B06 · 清洗留痕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每步处理前后行数与分布对比——证据链思维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答辩被问'你删了多少数据凭什么'——留痕即答案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before=len(df); …清洗…; print(before, len(df))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不留痕=不可复现——工程师与脚本小子的分界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27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知识应用（6）：清洗留痕：每一步处理前后行数与分布对比即证据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清洗留痕：每一步处理前后行数与分布对比即证据。在两江智造产线上的用法：print(f'清洗前{len(raw)}行→后{len(clean)}行，缺失率{rate:.1%}')——留痕是数据诚信的证据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print(f'清洗前{len(raw)}行→后{len(clean)}行，缺失率{rate:.1%}')——留痕是数据诚信的证据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28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能为每个清洗策略写出业务理由——应用：见工单starter与教师参考实现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能用分布图验证清洗未伤及正常数据——应用：见工单starter与教师参考实现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29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关键代码：清洗骨架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df = pd.read_csv("pump_log.csv", parse_dates=["ts"])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miss = df.isna().sum()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print("缺失率:\n", (miss / len(df)).round(3))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df["temp"] = df["temp"].ffill()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30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关键代码：IQR异常识别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q1, q3 = df["temp"].quantile([.25, .75])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iqr = q3 - q1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mask = ~df["temp"].between(q1 - 1.5 * iqr, q3 + 1.5 * iqr)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print("异常行数:", mask.sum())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31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本次课六步法流程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决策：定方案·选模型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实施一：数据+建模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检查：自检互查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实施二：调优+拓展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评价：当堂评分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课后：微课预习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六步法课堂化——每次课都知道现在在哪一步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32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工单 · 分层 · 避坑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33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数据清洗与质量评估：备选方案决策矩阵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备选方案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904487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可行性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达标概率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工时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结论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000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方案A：按工单主线（starter起步）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04487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4487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适中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推荐主干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000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方案B：自选技术路线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904487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7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多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A层可选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800000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000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方案C：直接改现成项目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904487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4487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低（无过程分）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低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少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不建议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组内打分3分钟，结论与理由写入工单决策记录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34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本课决策题：数据清洗与质量评估：备选方案决策矩阵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问②值吗——精度/耗时/可复现性三角权衡（工程账）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35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实施任务：工单M1-1a《数据清洗与质量评估（上）：基础实现》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1. 回顾预习卡与微课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2. 知识精讲（先例后理）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3. 演示代码骨架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4. 基础实现（D/C层保底）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5. 小结+布置第2次课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缺失处理率≥95%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预测缺失（进阶）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36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工单完成效果图 · 先看终点（本课目标预览）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37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  <a:endParaRPr sz="1400" b="1">
              <a:solidFill>
                <a:srgbClr val="0545E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  <a:endParaRPr sz="1000" b="0">
              <a:solidFill>
                <a:srgbClr val="01032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  <a:endParaRPr sz="1300" b="1">
              <a:solidFill>
                <a:srgbClr val="0545E8"/>
              </a:solidFill>
            </a:endParaRP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  <a:endParaRPr sz="1150" b="0">
              <a:solidFill>
                <a:srgbClr val="01032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  <a:endParaRPr sz="1300" b="1">
              <a:solidFill>
                <a:srgbClr val="F5670F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  <a:endParaRPr sz="1100" b="0">
              <a:solidFill>
                <a:srgbClr val="010328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本工单的工程化项目 · 第三种代码形态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38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工程化项目/m11a_data_quality/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  <a:endParaRPr sz="1400" b="1">
              <a:solidFill>
                <a:srgbClr val="0545E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src/data_quality48/  config · core · io_utils · report · pipeline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  <a:endParaRPr sz="1300" b="1">
              <a:solidFill>
                <a:srgbClr val="0545E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  <a:endParaRPr sz="1300" b="1">
              <a:solidFill>
                <a:srgbClr val="F5670F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工单完成效果图 · 完成后长这样（真实运行 · 参考实现） · 课末对照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39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  <a:endParaRPr sz="1400" b="1">
              <a:solidFill>
                <a:srgbClr val="0545E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  <a:endParaRPr sz="1000" b="0">
              <a:solidFill>
                <a:srgbClr val="01032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  <a:endParaRPr sz="1300" b="1">
              <a:solidFill>
                <a:srgbClr val="0545E8"/>
              </a:solidFill>
            </a:endParaRP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  <a:endParaRPr sz="1150" b="0">
              <a:solidFill>
                <a:srgbClr val="01032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  <a:endParaRPr sz="1300" b="1">
              <a:solidFill>
                <a:srgbClr val="F5670F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  <a:endParaRPr sz="1100" b="0">
              <a:solidFill>
                <a:srgbClr val="010328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跟做完成单列缺失清洗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读CSV看info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对温度列isna统计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ffill前向填充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输出处理前后对比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✔ 达标标准: 温度列缺失率降为0且行数不变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40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三清单全跑通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全表缺失统计与策略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IQR识别异常列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duplicated去重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汇总三清单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✔ 达标标准: 缺失处理率≥95%+三清单齐全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41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策略有据可依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每策略写业务理由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分布图前后对比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质量评分计算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报告排版成文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✔ 达标标准: 评分≥85且理由完整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42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预测缺失进阶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用其余特征建模预测缺失值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与均值填充对比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报告附录给出增益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✔ 达标标准: 预测填充优于均值且论证清楚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43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KeyError列名错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列名大小写或空格不符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df.columns先查看并strip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清洗后行数骤减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dropna默认any整行删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指定subset为关键列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报告数字对不上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处理顺序不同口径漂移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固定缺失-异常-重复顺序并留痕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44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3020204020204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回顾预习卡与微课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知识精讲（先例后理）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演示代码骨架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基础实现（D/C层保底）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小结+布置第2次课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3020204020204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1. 步骤1先看工单样例再动手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2. 步骤2先看工单样例再动手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3. 步骤3先看工单样例再动手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45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D·学徒（≥60）：跟做完成单列缺失清洗——跟做保底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C·操作员（≥70）：三清单全跑通——基础完成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B·组长（≥80）：策略有据可依——标准达成+帮带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A·师傅（≥90）：预测缺失进阶——进阶拓展+费曼讲解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规则：每人按工单勾选自己的层；每4周动态升降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46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指标达标：准确率/F1/耗时对齐工单及格线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随机种子已固定（random_state=42）——结果可复现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文件命名：学号_姓名_工单号.py+模型文件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conda环境正确（提示符显示(ai48)）再运行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47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48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49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提交物与评分（工单M1-1a）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命名: 学号_姓名_M1-1a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3020204020204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3020204020204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50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A层加餐：原理深挖（选读）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为什么有效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数据质量三清单：缺失、异常、重复——清洗前先量化再动手——背后是统计/优化原理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怎么验证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改一个参数跑对比实验——用数据说话，不凭感觉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边界在哪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什么场景会失效？——数据漂移/样本不平衡/泄漏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延伸阅读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微课深化版+多解法手册——A层自己挖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51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可信AI：模型要有据可查，指标不许造假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工程纪律：限时调参与过程留痕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团队与档案：竞标协作，档案袋沉淀三年资产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52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904487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904487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904487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7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904487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7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904487" y="456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04487" y="466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952744" y="456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52744" y="466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53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torch安装失败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用--index-url cpu官方源；确认在ai48环境里装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模型指标波动大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设random_state=42；数据先shuffle再划分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ONNX推理不一致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对齐预处理——同一scaler/归一化参数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54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学生代码框架/w1_xxx_starter.py——TODO注释即步骤提示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Jupyter实训/——本周notebook师生版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做完按Ctrl+K提交推送——每周至少1次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55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56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质检靠老师傅目检，漏检率高且疲劳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分类模型+阈值规则——先自动化易判样本，人只复核疑难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M1-1a的技能点即其最小实现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视觉检测（M3）/大模型辅助诊断（M4）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57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函数封装+管道化——可复用，B层路线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集成/调参/特征工程组合拳——冲指标，A层路线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先让它跑起来→再让它对→最后让它准（KISS原则）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58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可解释性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不迷信黑盒——每个预测能说出'为什么'才敢上线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算力节约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CPU优先调优——绿色计算从课堂开始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模型抄袭=岗位上的'无证驾驶'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59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数据清洗与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质量评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 · 缺失处理四策略：删除/前向填充/均值/插值，选择要有业务理由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 · 能输出结构化质量报告（三清单+评分）——应用：见工单starter与教师参考实现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KeyError列名错 · 清洗后行数骤减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工单M1-1a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60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知识：数据质量三清单：缺失、异常、重复；缺失处理四策略：删除/前向填充/均值/插；异常识别两把尺：3σ准则与IQR箱线图，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技能：能用Pandas完成缺失/异常/重复三类处理——应用：见工单starter与教师参考实现；能输出结构化质量报告（三清单+评分）——应用：见工单starter与教师参考实现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交付：工单M1-1a《数据清洗与质量评估（上）：基础实现》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习惯：调参每进一步就commit——每周至少1次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61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27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睡前自查三问（30秒）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问①今天的核心概念能一句话说清吗？——说不清回看知识卡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问②工单步骤全部勾完了吗？——没勾的明早第一件事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问③Git推送今天做了吗？——每周至少1次，工程素养分依据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三问通过=今天闭环；明天从微课开始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62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3020204020204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3020204020204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3020204020204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63 / 64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下次课预告（第7周）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主题: 能从振动序列构造≥10个特征——应用：见工单st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预习快问: 课前测①：本课工单M1-1a的及格线是什么？（答：缺失处理率≥95%）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10741</Words>
  <Application>WPS 演示</Application>
  <PresentationFormat>On-screen Show (4:3)</PresentationFormat>
  <Paragraphs>1371</Paragraphs>
  <Slides>64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72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W04-第1次课-数据清洗与质量评估（上）</dc:title>
  <dc:creator>工业互联网应用专业教学资源库</dc:creator>
  <cp:keywords>两江智造;AI48;岗课赛证创;课程思政;双创中心302</cp:keywords>
  <dc:description>48课时扩展版·每页备注为教师讲稿</dc:description>
  <dc:subject>AI48授课PPT（v9风格+讲稿）</dc:subject>
  <cp:category>高职高专教学文件</cp:category>
  <cp:lastModifiedBy>天琼恩泽</cp:lastModifiedBy>
  <cp:revision>4</cp:revision>
  <dcterms:created xsi:type="dcterms:W3CDTF">2026-10-13T07:16:00Z</dcterms:created>
  <dcterms:modified xsi:type="dcterms:W3CDTF">2026-10-15T09:19:41Z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B2E6B57FC162787CC3DACD6A326093B1_42</vt:lpwstr>
  </property>
  <property fmtid="{D5CDD505-2E9C-101B-9397-08002B2CF9AE}" pid="3" name="KSOProductBuildVer">
    <vt:lpwstr>2052-12.1.0.29158</vt:lpwstr>
  </property>
</Properties>
</file>