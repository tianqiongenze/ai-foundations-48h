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9" r:id="rId76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1" r:id="rId43"/>
    <p:sldId id="293" r:id="rId45"/>
    <p:sldId id="295" r:id="rId47"/>
    <p:sldId id="297" r:id="rId49"/>
    <p:sldId id="299" r:id="rId51"/>
    <p:sldId id="303" r:id="rId55"/>
    <p:sldId id="306" r:id="rId58"/>
    <p:sldId id="308" r:id="rId60"/>
    <p:sldId id="310" r:id="rId62"/>
    <p:sldId id="312" r:id="rId64"/>
    <p:sldId id="313" r:id="rId65"/>
    <p:sldId id="314" r:id="rId66"/>
    <p:sldId id="315" r:id="rId67"/>
    <p:sldId id="372" r:id="rId56"/>
    <p:sldId id="373" r:id="rId54"/>
    <p:sldId id="316" r:id="rId68"/>
    <p:sldId id="364" r:id="rId63"/>
    <p:sldId id="365" r:id="rId72"/>
    <p:sldId id="366" r:id="rId61"/>
    <p:sldId id="367" r:id="rId74"/>
    <p:sldId id="368" r:id="rId59"/>
    <p:sldId id="363" r:id="rId70"/>
    <p:sldId id="317" r:id="rId69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44" r:id="rId96"/>
    <p:sldId id="351" r:id="rId103"/>
    <p:sldId id="356" r:id="rId108"/>
    <p:sldId id="357" r:id="rId109"/>
    <p:sldId id="361" r:id="rId113"/>
    <p:sldId id="362" r:id="rId114"/>
    <p:sldId id="370" r:id="rId57"/>
    <p:sldId id="371" r:id="rId7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2" Type="http://schemas.openxmlformats.org/officeDocument/2006/relationships/slide" Target="slides/slide24.xml"/><Relationship Id="rId43" Type="http://schemas.openxmlformats.org/officeDocument/2006/relationships/slide" Target="slides/slide25.xml"/><Relationship Id="rId45" Type="http://schemas.openxmlformats.org/officeDocument/2006/relationships/slide" Target="slides/slide26.xml"/><Relationship Id="rId47" Type="http://schemas.openxmlformats.org/officeDocument/2006/relationships/slide" Target="slides/slide27.xml"/><Relationship Id="rId49" Type="http://schemas.openxmlformats.org/officeDocument/2006/relationships/slide" Target="slides/slide28.xml"/><Relationship Id="rId51" Type="http://schemas.openxmlformats.org/officeDocument/2006/relationships/slide" Target="slides/slide29.xml"/><Relationship Id="rId54" Type="http://schemas.openxmlformats.org/officeDocument/2006/relationships/slide" Target="slides/slide39.xml"/><Relationship Id="rId55" Type="http://schemas.openxmlformats.org/officeDocument/2006/relationships/slide" Target="slides/slide30.xml"/><Relationship Id="rId56" Type="http://schemas.openxmlformats.org/officeDocument/2006/relationships/slide" Target="slides/slide38.xml"/><Relationship Id="rId57" Type="http://schemas.openxmlformats.org/officeDocument/2006/relationships/slide" Target="slides/slide72.xml"/><Relationship Id="rId58" Type="http://schemas.openxmlformats.org/officeDocument/2006/relationships/slide" Target="slides/slide31.xml"/><Relationship Id="rId59" Type="http://schemas.openxmlformats.org/officeDocument/2006/relationships/slide" Target="slides/slide45.xml"/><Relationship Id="rId60" Type="http://schemas.openxmlformats.org/officeDocument/2006/relationships/slide" Target="slides/slide32.xml"/><Relationship Id="rId61" Type="http://schemas.openxmlformats.org/officeDocument/2006/relationships/slide" Target="slides/slide43.xml"/><Relationship Id="rId62" Type="http://schemas.openxmlformats.org/officeDocument/2006/relationships/slide" Target="slides/slide33.xml"/><Relationship Id="rId63" Type="http://schemas.openxmlformats.org/officeDocument/2006/relationships/slide" Target="slides/slide41.xml"/><Relationship Id="rId64" Type="http://schemas.openxmlformats.org/officeDocument/2006/relationships/slide" Target="slides/slide34.xml"/><Relationship Id="rId65" Type="http://schemas.openxmlformats.org/officeDocument/2006/relationships/slide" Target="slides/slide35.xml"/><Relationship Id="rId66" Type="http://schemas.openxmlformats.org/officeDocument/2006/relationships/slide" Target="slides/slide36.xml"/><Relationship Id="rId67" Type="http://schemas.openxmlformats.org/officeDocument/2006/relationships/slide" Target="slides/slide37.xml"/><Relationship Id="rId68" Type="http://schemas.openxmlformats.org/officeDocument/2006/relationships/slide" Target="slides/slide40.xml"/><Relationship Id="rId69" Type="http://schemas.openxmlformats.org/officeDocument/2006/relationships/slide" Target="slides/slide47.xml"/><Relationship Id="rId70" Type="http://schemas.openxmlformats.org/officeDocument/2006/relationships/slide" Target="slides/slide46.xml"/><Relationship Id="rId71" Type="http://schemas.openxmlformats.org/officeDocument/2006/relationships/slide" Target="slides/slide48.xml"/><Relationship Id="rId72" Type="http://schemas.openxmlformats.org/officeDocument/2006/relationships/slide" Target="slides/slide42.xml"/><Relationship Id="rId73" Type="http://schemas.openxmlformats.org/officeDocument/2006/relationships/slide" Target="slides/slide49.xml"/><Relationship Id="rId74" Type="http://schemas.openxmlformats.org/officeDocument/2006/relationships/slide" Target="slides/slide44.xml"/><Relationship Id="rId75" Type="http://schemas.openxmlformats.org/officeDocument/2006/relationships/slide" Target="slides/slide50.xml"/><Relationship Id="rId76" Type="http://schemas.openxmlformats.org/officeDocument/2006/relationships/slide" Target="slides/slide2.xml"/><Relationship Id="rId77" Type="http://schemas.openxmlformats.org/officeDocument/2006/relationships/slide" Target="slides/slide51.xml"/><Relationship Id="rId78" Type="http://schemas.openxmlformats.org/officeDocument/2006/relationships/slide" Target="slides/slide73.xml"/><Relationship Id="rId79" Type="http://schemas.openxmlformats.org/officeDocument/2006/relationships/slide" Target="slides/slide52.xml"/><Relationship Id="rId80" Type="http://schemas.openxmlformats.org/officeDocument/2006/relationships/slide" Target="slides/slide53.xml"/><Relationship Id="rId82" Type="http://schemas.openxmlformats.org/officeDocument/2006/relationships/slide" Target="slides/slide54.xml"/><Relationship Id="rId84" Type="http://schemas.openxmlformats.org/officeDocument/2006/relationships/slide" Target="slides/slide55.xml"/><Relationship Id="rId85" Type="http://schemas.openxmlformats.org/officeDocument/2006/relationships/slide" Target="slides/slide56.xml"/><Relationship Id="rId86" Type="http://schemas.openxmlformats.org/officeDocument/2006/relationships/slide" Target="slides/slide57.xml"/><Relationship Id="rId87" Type="http://schemas.openxmlformats.org/officeDocument/2006/relationships/slide" Target="slides/slide58.xml"/><Relationship Id="rId88" Type="http://schemas.openxmlformats.org/officeDocument/2006/relationships/slide" Target="slides/slide59.xml"/><Relationship Id="rId89" Type="http://schemas.openxmlformats.org/officeDocument/2006/relationships/slide" Target="slides/slide60.xml"/><Relationship Id="rId90" Type="http://schemas.openxmlformats.org/officeDocument/2006/relationships/slide" Target="slides/slide61.xml"/><Relationship Id="rId91" Type="http://schemas.openxmlformats.org/officeDocument/2006/relationships/slide" Target="slides/slide62.xml"/><Relationship Id="rId93" Type="http://schemas.openxmlformats.org/officeDocument/2006/relationships/slide" Target="slides/slide63.xml"/><Relationship Id="rId94" Type="http://schemas.openxmlformats.org/officeDocument/2006/relationships/slide" Target="slides/slide64.xml"/><Relationship Id="rId95" Type="http://schemas.openxmlformats.org/officeDocument/2006/relationships/slide" Target="slides/slide65.xml"/><Relationship Id="rId96" Type="http://schemas.openxmlformats.org/officeDocument/2006/relationships/slide" Target="slides/slide66.xml"/><Relationship Id="rId103" Type="http://schemas.openxmlformats.org/officeDocument/2006/relationships/slide" Target="slides/slide67.xml"/><Relationship Id="rId108" Type="http://schemas.openxmlformats.org/officeDocument/2006/relationships/slide" Target="slides/slide68.xml"/><Relationship Id="rId109" Type="http://schemas.openxmlformats.org/officeDocument/2006/relationships/slide" Target="slides/slide69.xml"/><Relationship Id="rId113" Type="http://schemas.openxmlformats.org/officeDocument/2006/relationships/slide" Target="slides/slide70.xml"/><Relationship Id="rId114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开场30秒：《MLP神经网络（上）：基础实现》，80分钟=2课时×40分钟。课前已发工单+微课知识卡。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情境说书30秒：第一个神经网络。王主任路过看你屏幕：'这堆圈圈连线，比我闺女画的还乱。'林工笑：'乱中有序——每个圈都在学。'工单M2-…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详解B1·神经元与MLP：先读定义→场景为什么用它→看代码实例→扩展给A层。C/D层掌握前三格，A层加扩展格。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详解B2·ReLU激活：先读定义→场景为什么用它→看代码实例→扩展给A层。C/D层掌握前三格，A层加扩展格。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详解B3·前向与反向传播：先读定义→场景为什么用它→看代码实例→扩展给A层。C/D层掌握前三格，A层加扩展格。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详解B4·过拟合三信号：先读定义→场景为什么用它→看代码实例→扩展给A层。C/D层掌握前三格，A层加扩展格。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详解B5·两大药方：先读定义→场景为什么用它→看代码实例→扩展给A层。C/D层掌握前三格，A层加扩展格。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详解B6·损失曲线听诊器：先读定义→场景为什么用它→看代码实例→扩展给A层。C/D层掌握前三格，A层加扩展格。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演示《MLP骨架》：跑通→逐行→改参数（演的核心素材）。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演示《损失曲线》：跑通→逐行→改参数（演的核心素材）。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工单发布：'设备智能运维中心工单M2-3a'——及格线准确率≥75%。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错误速查：现场制造「loss为nan」带学生三步排查。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预习知识点：神经网络结构(层/节点/激活)；MLP与反向传播直观 | 课中检查知识点：能看懂学习曲线；会用early stopping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MLP神经网络（上）：基础实现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第13周 · 第9次课（2课时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MLP神经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神经元=加权求和+激活；MLP=多层堆叠学非线性边界 · 激活函数ReLU：负半轴归零，梯度不饱和——应用：见工单starter与教师参考实现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前向传播算输出、反向传播调权重（只讲直觉不推公式） · 过拟合三信号：训练损失降验证损失升、gap持续拉大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能搭建并训练MLP分类器——应用：见工单starter与教师参考实现 · 能读懂训练验证损失曲线——应用：见工单starter与教师参考实现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技能线：能搭建并训练MLP分类器——应用：见工单starter与教师参考实现；能读懂训练验证损失曲线——应用：见工单starter与教师参考实现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M2-3a《MLP神经网络（上）：基础实现》——本课工单即考核单元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知识：神经元=加权求和+激活；MLP=多层堆叠学非线性边界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能力：能搭建并训练MLP分类器——应用：见工单starter与教师参考实现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课前测①：本课工单M2-3a的及格线是什么？（答：准确率≥75%）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课前测②：'网络结构/激活函数'用一句话说说你的理解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深度学习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神经网络结构(层/节点/激活)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MLP与反向传播直观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限时完成调优并记录工时账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题目：课前测①：本课工单M2-3a的及格线是什么？（答：准确率≥75%）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目标：神经元=加权求和+激活；MLP=多层堆叠学非线性边界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目标：能搭建并训练MLP分类器——应用：见工单starter与教师参考实现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第一个神经网络。王主任路过看你屏幕：'这堆圈圈连线，比我闺女画的还乱。'林工笑：'乱中有序——每个圈都在学。'工单M2-3a：MLP读懂振动频谱，看清过拟合长什么样。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任务背景：第一个神经网络。王主任路过看你屏幕：'这堆圈圈连线，比我闺女画的还乱。'林工笑：'乱中有序——每个圈都在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知识详解：神经元与MLP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神经元与MLP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神经元=加权求和+激活；MLP多层堆叠学非线性边界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传统模型画不出的弯弯曲曲分类面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Dense(64,'relu')接Dense(1,'sigmoid')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误区：层数越深越好——数据少时深网白喂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知识详解：ReLU激活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ReLU激活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负半轴归零——梯度不饱和训练快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隐藏层的默认选择——现代网络标配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Dense(64, activation='relu')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误区：输出层也用ReLU——按任务选sigmoid/softmax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知识应用（2）：激活函数ReLU：负半轴归零，梯度不饱和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激活函数ReLU：负半轴归零，梯度不饱和。在两江智造产线上的用法：见工单starter与教师参考实现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知识详解：前向与反向传播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前向与反向传播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前向算输出、反向调权重——网络的'想'与'学'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只讲直觉不推公式——答辩能画图讲清即可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fit()内部自动完成传播循环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参数量决定显存与数据需求——画三层图讲一遍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知识详解：过拟合三信号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过拟合三信号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训练loss降、验证loss升、gap拉大——模型在背题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MLP必看学习曲线——本课最重要的诊断图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plot(h['loss'], h['val_loss']) 两线对比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误区：只看训练准确率——它永远趋近100%没意义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知识详解：两大药方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两大药方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Dropout随机失活与EarlyStopping及时止损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过拟合确诊后的两个处方——先试这两个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Dropout(0.5) + EarlyStopping(patience=10)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误区：dropout乱设0.9——常用区间0.2-0.5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知识详解：损失曲线听诊器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损失曲线听诊器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先看曲线再动手改结构——训练前先诊断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loss不降/NaN/爆炸各有病因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曲线不降查学习率：NaN降lr、平线升lr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曲线是模型体检报告——读它胜过背超参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能搭建并训练MLP分类器——应用：见工单starter与教师参考实现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能读懂训练验证损失曲线——应用：见工单starter与教师参考实现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能用Dropout与早停治过拟合——应用：见工单starter与教师参考实现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能写结构决策记录——应用：见工单starter与教师参考实现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关键代码：MLP骨架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sklearn.neural_network import MLPClassifier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mlp = MLPClassifier(hidden_layer_sizes=(64, 32), early_stopping=True).fit(X_tr, y_tr)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print("test acc:", mlp.score(X_te, y_te))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关键代码：损失曲线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h = model.fit(X_tr, y_tr, validation_split=.2, epochs=100,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callbacks=[EarlyStopping(patience=5)])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plt.plot(h.history["loss"], label="train"); plt.plot(h.history["val_loss"], label="val"); plt.legend()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术语①：神经元=加权求和+激活；MLP=多层堆叠学非线性——神经元=加权求和+激活；MLP=多层堆叠学非线性边界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术语②：激活函数ReLU：负半轴归零，梯度不饱和——应用：见工单starter与教师参考实现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术语③：能搭建并训练MLP分类器——应用：见工单starter与教师参考实现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9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8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MLP神经网络：备选方案决策矩阵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本课决策题：MLP神经网络：备选方案决策矩阵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神经元与MLP｜神经元=加权求和+激活；MLP多层堆叠学非线性边界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ReLU激活｜负半轴归零——梯度不饱和训练快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前向与反向传播｜前向算输出、反向调权重——网络的'想'与'学'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过拟合三信号｜训练loss降、验证loss升、gap拉大——模型在背题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两大药方｜Dropout随机失活与EarlyStopping及时止损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损失曲线听诊器｜先看曲线再动手改结构——训练前先诊断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误区：层数越深越好——数据少时深网白喂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误区：输出层也用ReLU——按任务选sigmoid/softmax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参数量决定显存与数据需求——画三层图讲一遍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loss为nan → StandardScaler加lr调小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训练不动 → 先标准化再进网络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早停太早 → patience取5到10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及格线我能过吗——准确率≥75%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优秀线我够吗——准确率≥85%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技能点我能独立做出来吗——能搭建并训练MLP分类器；能读懂训练验证损失曲线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神经元与MLP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误区：层数越深越好——数据少时深网白喂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神经元=加权求和+激活；MLP多层堆叠学非线性边界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传统模型画不出的弯弯曲曲分类面 Dense(64,'relu')接Dense(1,'sigmoid')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ReLU激活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误区：输出层也用ReLU——按任务选sigmoid/softmax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负半轴归零——梯度不饱和训练快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隐藏层的默认选择——现代网络标配 Dense(64, activation='relu')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前向与反向传播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参数量决定显存与数据需求——画三层图讲一遍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前向算输出、反向调权重——网络的'想'与'学'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只讲直觉不推公式——答辩能画图讲清即可 fit()内部自动完成传播循环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实施任务：工单M2-3a《MLP神经网络（上）：基础实现》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基线实测 acc 0.9400｜最高 acc 0.9467｜PNG 实测 48810B（下限 1000）｜无 Dropout gap 0.6744 → 合规臂 Dropout 0.1：gap 0.6744→0.6296 且 acc 0.9267≥基线 0.9267｜性价比最优结构 [64, 32]（params=4130）｜决策记录完整（result.json 回读校验）｜实测规范率 94.74%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模板可运行出指标；代码规范率≥70%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规范率门槛≥70% [达标] ｜ 功能OK ｜ 准确率≥75%图完整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规范率门槛≥70% [达标] ｜ 功能OK ｜ gap收窄且指标不降；决策记录完整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规范率门槛≥70% [达标] ｜ 功能OK ｜ 找到性价比最优结构</a:t>
            </a:r>
          </a:p>
          <a:p>
            <a:r>
              <a:rPr sz="1150" b="1">
                <a:solidFill>
                  <a:srgbClr val="0545E8"/>
                </a:solidFill>
              </a:rPr>
              <a:t>损失曲线判读口述：什么形状算过拟合、早停为何定在那一轮——答辩必答</a:t>
            </a:r>
          </a:p>
          <a:p>
            <a:r>
              <a:rPr sz="115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15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工程化项目/m23a_mlp/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src/mlp_clf/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基线实测 acc 0.9400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最高 acc 0.9467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PNG 实测 48810B（下限 1000）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无 Dropout gap 0.6744 → 合规臂 Dropout 0.1：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性价比最优结构 [64, 32]（params=4130）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模板可运行出指标；代码规范率≥70%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准确率≥75%图完整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gap收窄且指标不降；决策记录完整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找到性价比最优结构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项目：05-AI应用基础48课时版/工程化项目/m23a_mlp/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工具/ppt97/evidence/m23a_mlp/（capture97.py 真跑捕获，未改写数字）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learning_curve.png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output/learning_curve.png ｜ 47 KB ｜ run.py 本次落盘</a:t>
            </a:r>
          </a:p>
        </p:txBody>
      </p:sp>
      <p:pic>
        <p:nvPicPr>
          <p:cNvPr id="17" name="Picture 16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820" y="1993392"/>
            <a:ext cx="7023608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M2-3a MLP 神经网络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600 样本 × 30 维频谱 · 隐藏层 (64, 32) · 标准化已启用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训练轮数 37（early_stopping 提前停止）  测试准确率 = 0.933（目标≥0.75）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损失曲线诊断: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首轮   epoch  1  loss=0.6484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1/4  epoch 10  loss=0.4235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末轮   epoch 37  loss=0.1044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收敛判断: 末轮loss 0.1044 持续下降→收敛良好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中频段抬升（2-7维）是可学信号；网络结构+早停+正则三件套，准确率与泛化同时守住。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跑通模板MLP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两层全连接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fit看accuracy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打印最终值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模板可运行出指标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曲线诊断报告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History取loss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双曲线画图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标注过拟合点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准确率≥75%图完整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药方有效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加Dropout0.3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EarlyStopping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前后对比曲线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gap收窄且指标不降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小结构搜索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宽度16/32/64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深度1/2/3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表加结论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找到性价比最优结构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loss为nan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学习率过大或未标准化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StandardScaler加lr调小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训练不动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特征量纲悬殊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先标准化再进网络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早停太早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patience过小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patience取5到10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D·学徒（≥60）：跑通模板MLP——跟做保底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C·操作员（≥70）：曲线诊断报告——基础完成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B·组长（≥80）：药方有效——标准达成+帮带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A·师傅（≥90）：小结构搜索——进阶拓展+费曼讲解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提交物与评分（工单M2-3a）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学号_姓名_M2-3a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神经元=加权求和+激活；MLP=多层堆叠学非线性边界——背后是统计/优化原理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M2-3a任务书——步骤/及格线/评分细则都在里面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学生代码框架/w5_xxx_starter.py——TODO注释即步骤提示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M2-3a的技能点即其最小实现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MLP神经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神经元=加权求和+激活；MLP=多层堆叠学非线性边界 · 激活函数ReLU：负半轴归零，梯度不饱和——应用：见工单starter与教师参考实现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能搭建并训练MLP分类器——应用：见工单starter与教师参考实现 · 能读懂训练验证损失曲线——应用：见工单starter与教师参考实现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loss为nan · 训练不动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工单M2-3a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知识：神经元=加权求和+激活；MLP=多层堆叠；激活函数ReLU：负半轴归零，梯度不饱和；前向传播算输出、反向传播调权重（只讲直觉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技能：能搭建并训练MLP分类器——应用：见工单starter与教师参考实现；能读懂训练验证损失曲线——应用：见工单starter与教师参考实现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交付：工单M2-3a《MLP神经网络（上）：基础实现》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73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能按题完成CNN或LSTM建模——应用：见工单s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课前测①：本课工单M2-3a的及格线是什么？（答：准确率≥75%）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W08-第9次课-MLP神经网络（上）：基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