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369" r:id="rId21"/>
    <p:sldId id="274" r:id="rId26"/>
    <p:sldId id="280" r:id="rId32"/>
    <p:sldId id="305" r:id="rId57"/>
    <p:sldId id="372" r:id="rId24"/>
    <p:sldId id="373" r:id="rId25"/>
    <p:sldId id="374" r:id="rId14"/>
    <p:sldId id="316" r:id="rId68"/>
    <p:sldId id="364" r:id="rId16"/>
    <p:sldId id="365" r:id="rId17"/>
    <p:sldId id="366" r:id="rId18"/>
    <p:sldId id="367" r:id="rId19"/>
    <p:sldId id="368" r:id="rId20"/>
    <p:sldId id="363" r:id="rId15"/>
    <p:sldId id="361" r:id="rId113"/>
    <p:sldId id="362" r:id="rId114"/>
    <p:sldId id="370" r:id="rId22"/>
    <p:sldId id="371" r:id="rId2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14" Type="http://schemas.openxmlformats.org/officeDocument/2006/relationships/slide" Target="slides/slide19.xml"/><Relationship Id="rId15" Type="http://schemas.openxmlformats.org/officeDocument/2006/relationships/slide" Target="slides/slide12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1" Type="http://schemas.openxmlformats.org/officeDocument/2006/relationships/slide" Target="slides/slide2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3.xml"/><Relationship Id="rId32" Type="http://schemas.openxmlformats.org/officeDocument/2006/relationships/slide" Target="slides/slide4.xml"/><Relationship Id="rId57" Type="http://schemas.openxmlformats.org/officeDocument/2006/relationships/slide" Target="slides/slide5.xml"/><Relationship Id="rId68" Type="http://schemas.openxmlformats.org/officeDocument/2006/relationships/slide" Target="slides/slide6.xml"/><Relationship Id="rId113" Type="http://schemas.openxmlformats.org/officeDocument/2006/relationships/slide" Target="slides/slide13.xml"/><Relationship Id="rId114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开场30秒：《MLP神经网络（下）：优化与评价》，80分钟=2课时×40分钟。课前已发工单+微课知识卡。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课前测：点2人说答案，只追问为什么。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情境说书30秒：第一个神经网络。王主任路过看你屏幕：'这堆圈圈连线，比我闺女画的还乱。'林工笑：'乱中有序——每个圈都在学。'工单M2-…</a:t>
            </a:r>
          </a:p>
          <a:p>
            <a:r>
              <a:t>抛问：'如果是你，第一步干什么？'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步骤清单与工单一一对应。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工单发布：'设备智能运维中心工单M2-3a'——及格线准确率≥75%。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教材衔接：教材：《人工智能应用基础项目式教程》（程显毅 陈凤妹 王岩 编著，978-7-111-77382-5）— 项目4 深度学习 | 预习知识点：神经网络结构(层/节点/激活)；MLP与反向传播直观 | 课中检查知识点：能看懂学习曲线；会用early stopping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下次课预告：布置微课与导学单。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AI应用基础（48课时版）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MLP神经网络（下）：优化与评价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第13周 · 第10次课（2课时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· 理实一体 · 配套：分层工单+starter · 本课主用：Jupyter（全程实训）+ PyCharm CE（starter编码）+ Git/GitHub（每周提交）</a:t>
            </a:r>
          </a:p>
        </p:txBody>
      </p:sp>
      <p:pic>
        <p:nvPicPr>
          <p:cNvPr id="7" name="Picture 6" descr="W8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安全与合规警示（操作前必读）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1. 上机前确认本工位电源开关与急停位置，确认设备处于安全状态。</a:t>
            </a:r>
          </a:p>
          <a:p>
            <a:pPr>
              <a:spcAft>
                <a:spcPts val="1000"/>
              </a:spcAft>
            </a:pPr>
            <a:r>
              <a:rPr sz="1800"/>
              <a:t>2. 涉及接线的操作一律先断电、后验电、再作业，禁止带电插拔。</a:t>
            </a:r>
          </a:p>
          <a:p>
            <a:pPr>
              <a:spcAft>
                <a:spcPts val="1000"/>
              </a:spcAft>
            </a:pPr>
            <a:r>
              <a:rPr sz="1800"/>
              <a:t>3. 身体任何部位不进入设备运动/散热区域，长发束起，不佩戴悬垂饰物。</a:t>
            </a:r>
          </a:p>
          <a:p>
            <a:pPr>
              <a:spcAft>
                <a:spcPts val="1000"/>
              </a:spcAft>
            </a:pPr>
            <a:r>
              <a:rPr sz="1800"/>
              <a:t>4. 调试程序前先静态检查、再低速小样本试运行，确认无异常后放大规模。</a:t>
            </a:r>
          </a:p>
          <a:p>
            <a:pPr>
              <a:spcAft>
                <a:spcPts val="1000"/>
              </a:spcAft>
            </a:pPr>
            <a:r>
              <a:rPr sz="1800"/>
              <a:t>5. 任何不确定或异常情况，立即停止操作并报告指导教师，不擅自处置。</a:t>
            </a:r>
          </a:p>
          <a:p>
            <a:r>
              <a:rPr sz="1400" b="1"/>
              <a:t>以上任一条违反，本次任务按课程标准「安全规范一票否决」条款记 0 分并中止实训。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课前资讯回顾（六步之“资讯·计划”）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预习快问：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/>
              </a:rPr>
              <a:t>课中查①：'loss为nan'这个报错怎么排查？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课前检查：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课中查②：优秀线准确率≥85%你打算怎么冲？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19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第一个神经网络。王主任路过看你屏幕：'这堆圈圈连线，比我闺女画的还乱。'林工笑：'乱中有序——每个圈都在学。'工单M2-3a：MLP读懂振动频谱，看清过拟合长什么样。</a:t>
            </a:r>
          </a:p>
        </p:txBody>
      </p:sp>
      <p:pic>
        <p:nvPicPr>
          <p:cNvPr id="9" name="Picture 8" descr="W8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19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MLP神经网络（下）：优化与评价（实施要点）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错误速查复盘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优化冲刺（B/A层）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三层质检互查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当堂评分与反馈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下次课预告+微课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19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实施任务：工单M2-3a《MLP神经网络（下）：优化与评价》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错误速查复盘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优化冲刺（B/A层）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三层质检互查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4. 当堂评分与反馈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5. 下次课预告+微课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准确率≥75%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准确率≥85%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19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先看终点（本课目标预览）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19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本次真跑实测输出（逐字取自 output/report.txt）</a:t>
            </a:r>
          </a:p>
          <a:p>
            <a:r>
              <a:rPr sz="1400" b="1">
                <a:solidFill>
                  <a:srgbClr val="0545E8"/>
                </a:solidFill>
              </a:rPr>
              <a:t>实测达成档位: 优(A) ｜ 基线实测 acc 0.9400｜最高 acc 0.9467｜PNG 实测 48810B（下限 1000）｜无 Dropout gap 0.6744 → 合规臂 Dropout 0.1：gap 0.6744→0.6296 且 acc 0.9267≥基线 0.9267｜性价比最优结构 [64, 32]（params=4130）｜决策记录完整（result.json 回读校验）｜实测规范率 94.74%</a:t>
            </a:r>
          </a:p>
          <a:p>
            <a:r>
              <a:rPr sz="1400" b="1">
                <a:solidFill>
                  <a:srgbClr val="0545E8"/>
                </a:solidFill>
              </a:rPr>
              <a:t>及格(D)    规范率门槛≥70% [达标] ｜ 功能OK ｜ 模板可运行出指标；代码规范率≥70%</a:t>
            </a:r>
          </a:p>
          <a:p>
            <a:r>
              <a:rPr sz="1400" b="1">
                <a:solidFill>
                  <a:srgbClr val="0545E8"/>
                </a:solidFill>
              </a:rPr>
              <a:t>良好(C)    规范率门槛≥70% [达标] ｜ 功能OK ｜ 准确率≥75%图完整</a:t>
            </a:r>
          </a:p>
          <a:p>
            <a:r>
              <a:rPr sz="1400" b="1">
                <a:solidFill>
                  <a:srgbClr val="0545E8"/>
                </a:solidFill>
              </a:rPr>
              <a:t>优秀(B)    规范率门槛≥70% [达标] ｜ 功能OK ｜ gap收窄且指标不降；决策记录完整</a:t>
            </a:r>
          </a:p>
          <a:p>
            <a:r>
              <a:rPr sz="1400" b="1">
                <a:solidFill>
                  <a:srgbClr val="0545E8"/>
                </a:solidFill>
              </a:rPr>
              <a:t>优(A)     规范率门槛≥70% [达标] ｜ 功能OK ｜ 找到性价比最优结构</a:t>
            </a:r>
          </a:p>
          <a:p>
            <a:r>
              <a:rPr sz="1400" b="1">
                <a:solidFill>
                  <a:srgbClr val="0545E8"/>
                </a:solidFill>
              </a:rPr>
              <a:t>损失曲线判读口述：什么形状算过拟合、早停为何定在那一轮——答辩必答</a:t>
            </a:r>
          </a:p>
          <a:p>
            <a:r>
              <a:rPr sz="1400" b="1">
                <a:solidFill>
                  <a:srgbClr val="0545E8"/>
                </a:solidFill>
              </a:rPr>
              <a:t>决策矩阵小组打分（可行性/达标概率/工时）：课堂 3 分钟人工环节</a:t>
            </a:r>
          </a:p>
          <a:p>
            <a:r>
              <a:rPr sz="1400" b="1">
                <a:solidFill>
                  <a:srgbClr val="0545E8"/>
                </a:solidFill>
              </a:rPr>
              <a:t>企业元验收栏：值班师傅签认（功能可用/参数留痕/数据可信）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010328"/>
                </a:solidFill>
              </a:rPr>
              <a:t>□ 代码从头跑到尾不报错　□ 指标与工单及格线逐项对齐　□ 随机种子已固定（可复现）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010328"/>
                </a:solidFill>
              </a:rPr>
              <a:t>达标线 D≥60 / C≥70 / B≥80 / A≥90　｜　提交 学号_姓名_工单号 + 运行截图 + 决策记录 + Git≥1次commit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本工单的工程化项目 · 第三种代码形态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19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项目位置与一键运行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工程化项目/m23a_mlp/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python run.py          # 输出 output/report.txt + result.json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python -m pytest -q    # 全量测试应全绿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目录结构（23 个文件）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config/rules.yaml      规则外置：改配置不改代码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src/mlp_clf/  config · core · io_utils · report · pipeline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tests/      正常 / 边界 / 异常三档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国标与 TOGAF 落地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GB/T 9385 需求规格 / 15532 测试 / 8567 文档 / 8566 过程组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TOGAF 四域：业务 · 数据 · 应用 · 技术架构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docs/07 ADR-001 架构决策记录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实测验收 · m23a_mlp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12 / 19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1371600"/>
            <a:ext cx="12188952" cy="713232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1426464"/>
            <a:ext cx="2651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E7D46"/>
                </a:solidFill>
                <a:latin typeface="微软雅黑"/>
              </a:rPr>
              <a:t>实测达成档位</a:t>
            </a:r>
          </a:p>
          <a:p>
            <a:r>
              <a:rPr sz="1400" b="1">
                <a:solidFill>
                  <a:srgbClr val="2E7D46"/>
                </a:solidFill>
                <a:latin typeface="微软雅黑"/>
              </a:rPr>
              <a:t>优(A)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0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46120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基线实测 acc 0.9400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901184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46904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最高 acc 0.9467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01968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47688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PNG 实测 48810B（下限 1000）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302752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48472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无 Dropout gap 0.6744 → 合规臂 Dropout 0.1：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003536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49256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性价比最优结构 [64, 32]（params=4130）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457200" y="2212848"/>
          <a:ext cx="11274552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5120640"/>
                <a:gridCol w="3886200"/>
                <a:gridCol w="1078992"/>
              </a:tblGrid>
              <a:tr h="56692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档位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工单验收标准（原文）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本次实测判定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及格(D)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模板可运行出指标；代码规范率≥70%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[达标] ｜ 功能OK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良好(C)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准确率≥75%图完整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[达标] ｜ 功能OK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优秀(B)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gap收窄且指标不降；决策记录完整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[达标] ｜ 功能OK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优(A)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找到性价比最优结构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[达标] ｜ 功能OK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27" name="Rectangle 26"/>
          <p:cNvSpPr/>
          <p:nvPr/>
        </p:nvSpPr>
        <p:spPr>
          <a:xfrm>
            <a:off x="457200" y="5138928"/>
            <a:ext cx="11274552" cy="1261872"/>
          </a:xfrm>
          <a:prstGeom prst="rect">
            <a:avLst/>
          </a:prstGeom>
          <a:solidFill>
            <a:srgbClr val="FFF7E8"/>
          </a:solidFill>
          <a:ln>
            <a:solidFill>
              <a:srgbClr val="E8C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1792" y="5212080"/>
            <a:ext cx="10927080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6B4E16"/>
                </a:solidFill>
                <a:latin typeface="微软雅黑"/>
              </a:rPr>
              <a:t>人工答辩项 0 条：四档门槛均由代码实测判定</a:t>
            </a:r>
          </a:p>
          <a:p>
            <a:r>
              <a:rPr sz="950" b="0">
                <a:solidFill>
                  <a:srgbClr val="6B4E16"/>
                </a:solidFill>
                <a:latin typeface="微软雅黑"/>
              </a:rPr>
              <a:t>档位是算出来的：判定值由 run.py 本次真跑产生；工单未给数字的门槛在报告里标注为「兜底口径·非工单数字」。</a:t>
            </a:r>
          </a:p>
          <a:p>
            <a:r>
              <a:rPr sz="950" b="0">
                <a:solidFill>
                  <a:srgbClr val="6B4E16"/>
                </a:solidFill>
                <a:latin typeface="微软雅黑"/>
              </a:rPr>
              <a:t>实测值共 7 项，本页只列前 5 项，其余见下页 report.txt 截图。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实跑截图证据 · m23a_mlp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13 / 19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① run.py 实跑终端输出（逐字捕获）</a:t>
            </a:r>
          </a:p>
        </p:txBody>
      </p:sp>
      <p:pic>
        <p:nvPicPr>
          <p:cNvPr id="16" name="Picture 15" descr="shot_ru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038" y="1773936"/>
            <a:ext cx="4472722" cy="1956816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6327648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② pytest 全绿终端输出（逐字捕获）</a:t>
            </a:r>
          </a:p>
        </p:txBody>
      </p:sp>
      <p:pic>
        <p:nvPicPr>
          <p:cNvPr id="19" name="Picture 18" descr="shot_t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4486" y="1773936"/>
            <a:ext cx="4472722" cy="1956816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457200" y="3877056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③ report.txt「验收档位判定（实测）」段</a:t>
            </a:r>
          </a:p>
        </p:txBody>
      </p:sp>
      <p:pic>
        <p:nvPicPr>
          <p:cNvPr id="22" name="Picture 21" descr="shot_repo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038" y="4169664"/>
            <a:ext cx="4472722" cy="1956816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6327648" y="3877056"/>
            <a:ext cx="5486400" cy="2304288"/>
          </a:xfrm>
          <a:prstGeom prst="rect">
            <a:avLst/>
          </a:prstGeom>
          <a:solidFill>
            <a:srgbClr val="F7F9FB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④ 采集口径（可复现）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37376" y="4187952"/>
            <a:ext cx="5266944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项目：05-AI应用基础48课时版/工程化项目/m23a_mlp/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命令：/opt/anaconda3/bin/python run.py ｜ /opt/anaconda3/bin/python -m pytest -q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采集：工具/ppt97/capture97.py（2026-10-28 10:48 真跑逐字捕获输出）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渲染：工具/ppt97/terminal_png.py（终端截图，不改写任何数字）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退出码：run=0 ｜ pytest=0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档位判定取自 output/report.txt「验收档位判定（实测）」段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25449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698"/>
                </a:solidFill>
                <a:latin typeface="微软雅黑"/>
              </a:rPr>
              <a:t>截图内容逐字取自 工具/ppt97/evidence/m23a_mlp/（capture97.py 真跑捕获，未改写数字）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产出图证据 · m23a_mlp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14 / 19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481328"/>
            <a:ext cx="11356848" cy="4663440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" y="1517904"/>
            <a:ext cx="1121054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产出图 · learning_curve.png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1755648"/>
            <a:ext cx="1121054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7A8698"/>
                </a:solidFill>
                <a:latin typeface="微软雅黑"/>
              </a:rPr>
              <a:t>output/learning_curve.png ｜ 47 KB ｜ run.py 本次落盘</a:t>
            </a:r>
          </a:p>
        </p:txBody>
      </p:sp>
      <p:pic>
        <p:nvPicPr>
          <p:cNvPr id="17" name="Picture 16" descr="learning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3820" y="1993392"/>
            <a:ext cx="7023608" cy="407822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57200" y="625449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698"/>
                </a:solidFill>
                <a:latin typeface="微软雅黑"/>
              </a:rPr>
              <a:t>以上图像由 run.py 本次运行落盘到 output/，非外部素材。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完成后长这样（真实运行 · 参考实现） · 课末对照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15 / 19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参考实现真实运行输出（本工单完成态）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=== 工单 M2-3a MLP 神经网络 · 完成态 ===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数据: 600 样本 × 30 维频谱 · 隐藏层 (64, 32) · 标准化已启用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训练轮数 37（early_stopping 提前停止）  测试准确率 = 0.933（目标≥0.75）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损失曲线诊断: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首轮   epoch  1  loss=0.6484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1/4  epoch 10  loss=0.4235  ×2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末轮   epoch 37  loss=0.1044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收敛判断: 末轮loss 0.1044 持续下降→收敛良好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结论: 中频段抬升（2-7维）是可学信号；网络结构+早停+正则三件套，准确率与泛化同时守住。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010328"/>
                </a:solidFill>
              </a:rPr>
              <a:t>□ 代码从头跑到尾不报错　□ 指标与工单及格线逐项对齐　□ 随机种子已固定（可复现）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010328"/>
                </a:solidFill>
              </a:rPr>
              <a:t>达标线 D≥60 / C≥70 / B≥80 / A≥90　｜　提交 学号_姓名_工单号 + 运行截图 + 决策记录 + Git≥1次commit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16 / 19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下次课预告（第14周）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能按题完成CNN或LSTM建模——应用：见工单s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课中查①：'loss为nan'这个报错怎么排查？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本任务六步法导航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六步法：资讯 → 计划 → 决策 → 实施 → 检查 → 评估</a:t>
            </a:r>
          </a:p>
          <a:p>
            <a:pPr>
              <a:spcAft>
                <a:spcPts val="1000"/>
              </a:spcAft>
            </a:pPr>
            <a:r>
              <a:rPr sz="1800"/>
              <a:t>本讲对应工单：《AI应用基础48课时版》分层任务工单</a:t>
            </a:r>
          </a:p>
          <a:p>
            <a:pPr>
              <a:spcAft>
                <a:spcPts val="1000"/>
              </a:spcAft>
            </a:pPr>
            <a:r>
              <a:rPr sz="1800"/>
              <a:t>课堂产出：工单第六节实施记录须当堂填写，含操作前安全打勾与学生本人签字。</a:t>
            </a:r>
          </a:p>
          <a:p>
            <a:pPr>
              <a:spcAft>
                <a:spcPts val="1000"/>
              </a:spcAft>
            </a:pPr>
            <a:r>
              <a:rPr sz="1800"/>
              <a:t>课后交付：班组长／操作员／教师三方联签后交回，缺签视为未交付。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本讲与岗位任务单的衔接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本讲在工作过程系统化课程中承担的任务环节：任务实施</a:t>
            </a:r>
          </a:p>
          <a:p>
            <a:pPr>
              <a:spcAft>
                <a:spcPts val="1000"/>
              </a:spcAft>
            </a:pPr>
            <a:r>
              <a:rPr sz="1800"/>
              <a:t>考核对齐：过程性成绩取自本讲工单第六节各模块得分合计（满分 100）。</a:t>
            </a:r>
          </a:p>
          <a:p>
            <a:pPr>
              <a:spcAft>
                <a:spcPts val="1000"/>
              </a:spcAft>
            </a:pPr>
            <a:r>
              <a:rPr sz="1800"/>
              <a:t>达标线：综合成绩≥60 分，且无安全红线一票否决记录</a:t>
            </a:r>
          </a:p>
          <a:p>
            <a:pPr>
              <a:spcAft>
                <a:spcPts val="1000"/>
              </a:spcAft>
            </a:pPr>
            <a:r>
              <a:rPr sz="1800"/>
              <a:t>无效工单判定：未打安全勾、无本人签字、无三方联签。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本课重难点地图 · 老师划重点（动手前必看）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19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动手前先看这页：重点要会什么、难点会卡在哪、哪里最容易错、学没学会怎么自测。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1783080"/>
            <a:ext cx="5532120" cy="312724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1783080"/>
            <a:ext cx="5532120" cy="365760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1819656"/>
            <a:ext cx="531266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重点 · 必会必考（本课知识点全景）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792" y="2267712"/>
            <a:ext cx="5257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◆ B01 神经元与MLP｜神经元=加权求和+激活；MLP多层堆叠学非线性边界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B02 ReLU激活｜负半轴归零——梯度不饱和训练快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B03 前向与反向传播｜前向算输出、反向调权重——网络的'想'与'学'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B04 过拟合三信号｜训练loss降、验证loss升、gap拉大——模型在背题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B05 两大药方｜Dropout随机失活与EarlyStopping及时止损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B06 损失曲线听诊器｜先看曲线再动手改结构——训练前先诊断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44768" y="1783080"/>
            <a:ext cx="5586984" cy="148132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44768" y="1783080"/>
            <a:ext cx="5586984" cy="365760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54496" y="1819656"/>
            <a:ext cx="53675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难点 · 易卡壳（下一页逐个击破）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0" y="2231136"/>
            <a:ext cx="53035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▲ 误区：层数越深越好——数据少时深网白喂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▲ 误区：输出层也用ReLU——按任务选sigmoid/softmax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▲ 参数量决定显存与数据需求——画三层图讲一遍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44768" y="3401568"/>
            <a:ext cx="5586984" cy="1508760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44768" y="3401568"/>
            <a:ext cx="5586984" cy="365760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54496" y="3438144"/>
            <a:ext cx="53675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高频易错 · 动手前先记住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3849624"/>
            <a:ext cx="53035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✗ loss为nan → StandardScaler加lr调小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✗ 训练不动 → 先标准化再进网络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✗ 早停太早 → patience取5到10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5047488"/>
            <a:ext cx="11274552" cy="120700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57200" y="5047488"/>
            <a:ext cx="11274552" cy="365760"/>
          </a:xfrm>
          <a:prstGeom prst="rect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" y="5084064"/>
            <a:ext cx="110550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达标自问 · 学没学会，问自己这四句（当堂评分同口径）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1792" y="5458968"/>
            <a:ext cx="1097280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① 及格线我能过吗——准确率≥75%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② 优秀线我够吗——准确率≥85%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③ 技能点我能独立做出来吗——能搭建并训练MLP分类器；能读懂训练验证损失曲线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④ 报错了先查「常见错误速查」页再举手——错误信息逐字读一遍，八成自己能修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6281928"/>
            <a:ext cx="9601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50" b="0">
                <a:solidFill>
                  <a:srgbClr val="6B7280"/>
                </a:solidFill>
                <a:latin typeface="微软雅黑"/>
              </a:rPr>
              <a:t>素材来源：同周《第9次课-MLP神经网络（上）：基》知识卡与避坑清单（逐字摘录）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难点逐个击破 · 零基础照做就能会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19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每个难点四步走：先看「为什么容易栽」对号入座 → 记住「一招破解」→ 照「动手验证」做一遍 → 做不出回知识详解页。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17830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17830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1828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难点1：B01 神经元与MLP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误区：层数越深越好——数据少时深网白喂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34255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34255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神经元=加权求和+激活；MLP多层堆叠学非线性边界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10143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10143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传统模型画不出的弯弯曲曲分类面 Dense(64,'relu')接Dense(1,'sigmoid')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33832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200" y="33832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8368" y="34290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难点2：B02 ReLU激活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误区：输出层也用ReLU——按任务选sigmoid/softmax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34255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34255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负半轴归零——梯度不饱和训练快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10143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10143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隐藏层的默认选择——现代网络标配 Dense(64, activation='relu')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7200" y="49834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57200" y="49834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8368" y="50292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难点3：B03 前向与反向传播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8368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参数量决定显存与数据需求——画三层图讲一遍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334255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34255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前向算输出、反向调权重——网络的'想'与'学'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010143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10143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只讲直觉不推公式——答辩能画图讲清即可 fit()内部自动完成传播循环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承上启下 · 动手前避坑清单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19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本讲是动手冲刺课：先把上周完整讲解里的高频翻车点过一遍，再开工——每条都是历届学生真实踩过的坑。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1783080"/>
            <a:ext cx="5532120" cy="2061972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1783080"/>
            <a:ext cx="82296" cy="2061972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1847088"/>
            <a:ext cx="51663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B5533A"/>
                </a:solidFill>
                <a:latin typeface="微软雅黑"/>
              </a:rPr>
              <a:t>✗ loss为nan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2167128"/>
            <a:ext cx="516635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原因：学习率过大或未标准化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✔ 解决：StandardScaler加lr调小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99632" y="1783080"/>
            <a:ext cx="5532120" cy="2061972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99632" y="1783080"/>
            <a:ext cx="82296" cy="2061972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1847088"/>
            <a:ext cx="51663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B5533A"/>
                </a:solidFill>
                <a:latin typeface="微软雅黑"/>
              </a:rPr>
              <a:t>✗ 训练不动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2167128"/>
            <a:ext cx="516635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原因：特征量纲悬殊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✔ 解决：先标准化再进网络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973068"/>
            <a:ext cx="5532120" cy="2061972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57200" y="3973068"/>
            <a:ext cx="82296" cy="2061972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4037076"/>
            <a:ext cx="51663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B5533A"/>
                </a:solidFill>
                <a:latin typeface="微软雅黑"/>
              </a:rPr>
              <a:t>✗ 早停太早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" y="4357116"/>
            <a:ext cx="516635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原因：patience过小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✔ 解决：patience取5到10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6281928"/>
            <a:ext cx="9601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50" b="0">
                <a:solidFill>
                  <a:srgbClr val="6B7280"/>
                </a:solidFill>
                <a:latin typeface="微软雅黑"/>
              </a:rPr>
              <a:t>素材来源：同周《第9次课-MLP神经网络（上）：基》知识卡与避坑清单（逐字摘录）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W08-第10次课-MLP神经网络（下）：优</dc:title>
  <dc:subject>AI48授课PPT（v9风格+讲稿）</dc:subject>
  <dc:creator>工业互联网应用专业教学资源库</dc:creator>
  <cp:keywords>两江智造;AI48;岗课赛证创;课程思政;双创中心302</cp:keywords>
  <dc:description>48课时扩展版·每页备注为教师讲稿</dc:description>
  <cp:lastModifiedBy>Steve Canny</cp:lastModifiedBy>
  <cp:revision>1</cp:revision>
  <dcterms:created xsi:type="dcterms:W3CDTF">2026-09-09T00:00:00Z</dcterms:created>
  <dcterms:modified xsi:type="dcterms:W3CDTF">2026-09-09T00:00:00Z</dcterms:modified>
  <cp:category>高职高专教学文件</cp:category>
</cp:coreProperties>
</file>